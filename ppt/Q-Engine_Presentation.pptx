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1.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f1d8e622-7c52-c92d-e7de-54d9569b9d2e}">
          <p14:sldIdLst>
            <p14:sldId id="256"/>
            <p14:sldId id="257"/>
            <p14:sldId id="258"/>
          </p14:sldIdLst>
        </p14:section>
        <p14:section name="Data" id="{a951d96f-f733-41f8-9764-6d812c459b70}">
          <p14:sldIdLst>
            <p14:sldId id="259"/>
            <p14:sldId id="260"/>
          </p14:sldIdLst>
        </p14:section>
        <p14:section name="Method" id="{a080589c-e884-21c8-76a3-fb0027cbb42c}">
          <p14:sldIdLst>
            <p14:sldId id="261"/>
            <p14:sldId id="262"/>
            <p14:sldId id="263"/>
            <p14:sldId id="264"/>
            <p14:sldId id="265"/>
          </p14:sldIdLst>
        </p14:section>
        <p14:section name="Application" id="{ddeafa66-e136-2f07-50ed-072a19b685ec}">
          <p14:sldIdLst>
            <p14:sldId id="266"/>
            <p14:sldId id="267"/>
          </p14:sldIdLst>
        </p14:section>
        <p14:section name="Evaluation" id="{cdebbf59-4c7b-494b-b7ba-7fb332c220d9}">
          <p14:sldIdLst>
            <p14:sldId id="268"/>
            <p14:sldId id="269"/>
            <p14:sldId id="270"/>
          </p14:sldIdLst>
        </p14:section>
        <p14:section name="Conclusion" id="{a589d75c-031d-9c30-057d-ef7d941e9366}">
          <p14:sldIdLst>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1F3A"/>
                </a:solidFill>
                <a:latin typeface="+mn-lt"/>
              </a:defRPr>
            </a:pPr>
            <a:r>
              <a:rPr sz="1400" b="0" i="0" u="none" strike="noStrike">
                <a:solidFill>
                  <a:srgbClr val="0B1F3A"/>
                </a:solidFill>
                <a:latin typeface="+mn-lt"/>
              </a:rPr>
              <a:t>qPCA eigenvalue error vs phase qubits (%)</a:t>
            </a:r>
          </a:p>
        </c:rich>
      </c:tx>
      <c:layout/>
      <c:overlay val="0"/>
    </c:title>
    <c:autoTitleDeleted val="0"/>
    <c:plotArea>
      <c:layout/>
      <c:barChart>
        <c:barDir val="col"/>
        <c:grouping val="clustered"/>
        <c:varyColors val="0"/>
        <c:ser>
          <c:idx val="0"/>
          <c:order val="0"/>
          <c:tx>
            <c:strRef>
              <c:f>Sheet1!$B$1</c:f>
              <c:strCache>
                <c:ptCount val="1"/>
                <c:pt idx="0">
                  <c:v>Eigenvalue error (%)</c:v>
                </c:pt>
              </c:strCache>
            </c:strRef>
          </c:tx>
          <c:spPr>
            <a:solidFill>
              <a:srgbClr val="0FA3B1"/>
            </a:solidFill>
            <a:effectLst/>
          </c:spPr>
          <c:invertIfNegative val="0"/>
          <c:dLbls>
            <c:numFmt formatCode="0.00" sourceLinked="0"/>
            <c:txPr>
              <a:bodyPr/>
              <a:lstStyle/>
              <a:p>
                <a:pPr>
                  <a:defRPr b="0" i="0" strike="noStrike" sz="1200" u="none">
                    <a:solidFill>
                      <a:srgbClr val="0B1F3A"/>
                    </a:solidFill>
                    <a:latin typeface="+mn-lt"/>
                  </a:defRPr>
                </a:pPr>
              </a:p>
            </c:txPr>
            <c:showLegendKey val="0"/>
            <c:showVal val="1"/>
            <c:showCatName val="0"/>
            <c:showSerName val="0"/>
            <c:showPercent val="0"/>
            <c:showBubbleSize val="0"/>
            <c:showLeaderLines val="0"/>
          </c:dLbls>
          <c:cat>
            <c:multiLvlStrRef>
              <c:f>Sheet1!$A$2:$A$4</c:f>
              <c:multiLvlStrCache>
                <c:ptCount val="3"/>
                <c:lvl>
                  <c:pt idx="0">
                    <c:v>6 qubits</c:v>
                  </c:pt>
                  <c:pt idx="1">
                    <c:v>8 qubits</c:v>
                  </c:pt>
                  <c:pt idx="2">
                    <c:v>10 qubits</c:v>
                  </c:pt>
                </c:lvl>
              </c:multiLvlStrCache>
            </c:multiLvlStrRef>
          </c:cat>
          <c:val>
            <c:numRef>
              <c:f>Sheet1!$B$2:$B$4</c:f>
              <c:numCache>
                <c:formatCode>General</c:formatCode>
                <c:ptCount val="3"/>
                <c:pt idx="0">
                  <c:v>4.5</c:v>
                </c:pt>
                <c:pt idx="1">
                  <c:v>1.05</c:v>
                </c:pt>
                <c:pt idx="2">
                  <c:v>0.33</c:v>
                </c:pt>
              </c:numCache>
            </c:numRef>
          </c:val>
        </c:ser>
        <c:dLbls>
          <c:numFmt formatCode="0.00" sourceLinked="0"/>
          <c:txPr>
            <a:bodyPr/>
            <a:lstStyle/>
            <a:p>
              <a:pPr>
                <a:defRPr b="0" i="0" strike="noStrike" sz="1200" u="none">
                  <a:solidFill>
                    <a:srgbClr val="0B1F3A"/>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A5A70"/>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1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A5A7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in one line: we use quantum PCA, simulated in MATLAB, to turn many engine sensor readings into one health score that tells us when an engine starts to degrade.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turbofan engine is monitored by many sensors: temperatures, pressures, shaft speeds, flow ratios. No single sensor says 'this engine is degrading'. The drift is small, noisy and spread over many channels. Maintenance teams need one early, reliable signal. That is the problem this project addresses.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project in one picture. Sensor data goes in. qPCA finds the few directions that carry most of the variation. Each engine cycle is projected onto those directions. We measure how far the cycle is from the healthy region, turn that into a 0 to 1 score, and report a status. Classical PCA runs alongside as the baseline so the quantum result is measured, not assumed.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C-MAPSS is NASA's simulated turbofan degradation dataset and the standard benchmark for predictive maintenance. Each engine starts healthy and is run until failure. We use subset FD001: one operating condition and one fault mode, which keeps the study clean. Seven of the 21 sensors are constant in FD001 and carry no information, so 14 remain. FD002 and FD004 have six operating regimes and would need per-regime normalisation, so they are out of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one removes sensors with two or fewer distinct values. Step two is optional: it adds Gaussian noise for the what-if experiment. Step three splits by engine, not by row, so the test engines are never seen during fitting. Step four standardises each sensor using only the fitting engines' statistics, which avoids information leaking from the test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PCA finds the directions along which the data varies most. We compute the covariance matrix of the standardised sensors, find its eigenvalues and eigenvectors, and sort them. Each eigenvalue tells how much variance its direction carries. Keeping the top k directions reduces 14 sensors to k numbers per cycle. Everything qPCA produces is compared against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idea from Lloyd, Mohseni and Rebentrost, 2014. Divide the covariance matrix by its trace and it has all the properties of a density matrix, the mathematical description of a quantum state. Its eigenvalues are now fractions of total variance. Build the unitary U from it. Quantum phase estimation reads the phases of U, and those phases are exactly the eigenvalues. When the phase register is measured, the system register is left in the corresponding eigenvector, which is the principal component.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circuit left to right. Phase qubits start in zero and get Hadamard gates, creating a superposition of all counting states. Each phase qubit controls a power of U applied to the system register, which holds rho. This writes the eigenvalue into the phases of the phase register. The inverse quantum Fourier transform converts those phases into a binary number, and measurement reads it out. The app shows only three phase wires for clarity; the default is eight.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matters for credibility. We simulate the phase-estimation circuit exactly: the state after every stage is computed with no approximation. What we do not simulate are the two expensive steps a real device would need: loading the data into a quantum state, and building U from many copies of rho. We build U with a matrix exponential on the classical computer. So we verify that the algorithm gives the right answer, and we make no claim about speed.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projection each cycle is a point in k-dimensional space. Healthy cycles from the fitting engines form a cloud; we describe it by its mean and covariance. The Mahalanobis distance measures how far a new point is from that cloud, taking its shape into account. The exponential map squeezes distance into zero to one, calibrated so the score is exactly 0.60 at the edge that contains 99 percent of healthy points. A five-cycle moving average stops single noisy readings from raising alarms. The thresholds 0.60 and 0.85 are design choices.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 is a single MATLAB window. The header always shows the selected engine, its status lamp and its score. The left panel has the controls: dataset, engine, number of components, noise level, phase qubits and shots. The seven tabs follow the order of the method, so a demo simply moves left to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preprocessed data feeds both PCA methods. Their outputs have the same form, eigenvalues and eigenvectors, so everything downstream is shared: projection, health model, scoring, status. That is what makes the comparison fair. All numerical code sits in separate functions in the core folder and is tested without the user interface.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metrics compare the two methods. The chart shows a check from the development tests on synthetic stand-in data: the qPCA eigenvalue error falls as phase qubits are added, as theory predicts, because resolution is one over two to the t. These numbers are from synthetic data and only confirm the code behaves correctly. The results on NASA FD001 must be produced by running the app on the real files and inserted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experiments are buttons in the app. The noise sweep reruns the whole pipeline at six noise levels and plots detection quality and eigenvalue error for both methods. The component sweep varies k from 2 to 10 and shows the trade-off: more components capture more variance and reconstruct better, but the healthy region becomes harder to estimate and detection does not necessarily improve.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these before anyone asks. The quantum algorithm runs on a classical simulator, so it is slower than ordinary PCA here and that is expected. Labels for healthy and failing use the known failure time, which is valid for evaluating on run-to-failure data but not available on a live engine. Thresholds were chosen, not derived. Only single-regime subsets are supported.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restating the story in one sentence, then the next steps: produce the real FD001 results, extend to FD003, report the two experiments, and as a stretch goal replace the matrix exponential with a gate-level circuit and a noise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371600"/>
            <a:ext cx="7498080" cy="246888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640080" y="4023360"/>
            <a:ext cx="7498080" cy="1463040"/>
          </a:xfrm>
          <a:prstGeom prst="rect">
            <a:avLst/>
          </a:prstGeom>
          <a:noFill/>
          <a:ln/>
        </p:spPr>
        <p:txBody>
          <a:bodyPr wrap="square" rtlCol="0"/>
          <a:lstStyle>
            <a:lvl1pPr algn="l" indent="0" marL="0">
              <a:buNone/>
              <a:defRPr lang="en-US" sz="1800" dirty="0">
                <a:solidFill>
                  <a:schemeClr val="accent6"/>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3" name="Text 0"/>
          <p:cNvSpPr/>
          <p:nvPr/>
        </p:nvSpPr>
        <p:spPr>
          <a:xfrm>
            <a:off x="548640" y="6355080"/>
            <a:ext cx="7315200" cy="274320"/>
          </a:xfrm>
          <a:prstGeom prst="rect">
            <a:avLst/>
          </a:prstGeom>
          <a:noFill/>
          <a:ln/>
        </p:spPr>
        <p:txBody>
          <a:bodyPr wrap="square" lIns="0" tIns="0" rIns="0" bIns="0" rtlCol="0" anchor="ctr"/>
          <a:lstStyle/>
          <a:p>
            <a:pPr indent="0" marL="0">
              <a:buNone/>
            </a:pPr>
            <a:r>
              <a:rPr lang="en-US" sz="1000" dirty="0">
                <a:solidFill>
                  <a:schemeClr val="tx2"/>
                </a:solidFill>
              </a:rPr>
              <a:t>Q-ENGINE  |  Quantum PCA for engine health monitoring</a:t>
            </a:r>
            <a:endParaRPr lang="en-US" sz="10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3.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slideLayout" Target="../slideLayouts/slideLayout3.xml"/><Relationship Id="rId9"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3.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3.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1371600"/>
            <a:ext cx="7498080" cy="2468880"/>
          </a:xfrm>
          <a:prstGeom prst="rect">
            <a:avLst/>
          </a:prstGeom>
          <a:noFill/>
          <a:ln/>
        </p:spPr>
        <p:txBody>
          <a:bodyPr wrap="square" lIns="0" tIns="0" rIns="0" bIns="0" rtlCol="0" anchor="b"/>
          <a:lstStyle/>
          <a:p>
            <a:pPr algn="l" indent="0" marL="0">
              <a:buNone/>
            </a:pPr>
            <a:r>
              <a:rPr lang="en-US" sz="4000" b="1" dirty="0">
                <a:solidFill>
                  <a:schemeClr val="bg1"/>
                </a:solidFill>
              </a:rPr>
              <a:t>Q-ENGINE: Quantum PCA for Intelligent Engine Health Monitoring</a:t>
            </a:r>
            <a:endParaRPr lang="en-US" sz="4000" dirty="0"/>
          </a:p>
        </p:txBody>
      </p:sp>
      <p:sp>
        <p:nvSpPr>
          <p:cNvPr id="3" name="Text 0"/>
          <p:cNvSpPr/>
          <p:nvPr>
            <p:ph idx="101" type="body" hasCustomPrompt="1"/>
          </p:nvPr>
        </p:nvSpPr>
        <p:spPr>
          <a:xfrm>
            <a:off x="640080" y="4023360"/>
            <a:ext cx="7498080" cy="1463040"/>
          </a:xfrm>
          <a:prstGeom prst="rect">
            <a:avLst/>
          </a:prstGeom>
          <a:noFill/>
          <a:ln/>
        </p:spPr>
        <p:txBody>
          <a:bodyPr wrap="square" lIns="0" tIns="0" rIns="0" bIns="0" rtlCol="0" anchor="t"/>
          <a:lstStyle/>
          <a:p>
            <a:pPr algn="l" indent="0" marL="0">
              <a:buNone/>
            </a:pPr>
            <a:r>
              <a:rPr lang="en-US" sz="1800" dirty="0">
                <a:solidFill>
                  <a:schemeClr val="accent6"/>
                </a:solidFill>
              </a:rPr>
              <a:t>A MATLAB-based quantum machine learning framework for dimensionality reduction and degradation detection</a:t>
            </a:r>
            <a:endParaRPr lang="en-US" sz="1800" dirty="0"/>
          </a:p>
        </p:txBody>
      </p:sp>
      <p:sp>
        <p:nvSpPr>
          <p:cNvPr id="4" name="halo"/>
          <p:cNvSpPr/>
          <p:nvPr/>
        </p:nvSpPr>
        <p:spPr>
          <a:xfrm>
            <a:off x="8686800" y="1463040"/>
            <a:ext cx="3931920" cy="3931920"/>
          </a:xfrm>
          <a:prstGeom prst="ellipse">
            <a:avLst/>
          </a:prstGeom>
          <a:solidFill>
            <a:schemeClr val="accent5"/>
          </a:solidFill>
          <a:ln w="12700">
            <a:solidFill>
              <a:schemeClr val="accent5"/>
            </a:solidFill>
            <a:prstDash val="solid"/>
          </a:ln>
        </p:spPr>
      </p:sp>
      <p:sp>
        <p:nvSpPr>
          <p:cNvPr id="5" name="core"/>
          <p:cNvSpPr/>
          <p:nvPr/>
        </p:nvSpPr>
        <p:spPr>
          <a:xfrm>
            <a:off x="9372600" y="2148840"/>
            <a:ext cx="2560320" cy="2560320"/>
          </a:xfrm>
          <a:prstGeom prst="ellipse">
            <a:avLst/>
          </a:prstGeom>
          <a:solidFill>
            <a:schemeClr val="accent1"/>
          </a:solidFill>
          <a:ln w="12700">
            <a:solidFill>
              <a:schemeClr val="accent1"/>
            </a:solidFill>
            <a:prstDash val="solid"/>
          </a:ln>
        </p:spPr>
      </p:sp>
      <p:pic>
        <p:nvPicPr>
          <p:cNvPr id="6" name="atom" descr="preencoded.png">    </p:cNvPr>
          <p:cNvPicPr>
            <a:picLocks noChangeAspect="1"/>
          </p:cNvPicPr>
          <p:nvPr/>
        </p:nvPicPr>
        <p:blipFill>
          <a:blip r:embed="rId1"/>
          <a:stretch>
            <a:fillRect/>
          </a:stretch>
        </p:blipFill>
        <p:spPr>
          <a:xfrm>
            <a:off x="10012680" y="2788920"/>
            <a:ext cx="1280160" cy="12801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200" b="1" dirty="0">
                <a:solidFill>
                  <a:schemeClr val="tx1"/>
                </a:solidFill>
              </a:rPr>
              <a:t>Engines fail gradually, but 21 sensors hide the trend</a:t>
            </a:r>
            <a:endParaRPr lang="en-US" sz="3200" dirty="0"/>
          </a:p>
        </p:txBody>
      </p:sp>
      <p:sp>
        <p:nvSpPr>
          <p:cNvPr id="4" name="text1"/>
          <p:cNvSpPr txBox="1"/>
          <p:nvPr/>
        </p:nvSpPr>
        <p:spPr>
          <a:xfrm>
            <a:off x="548640" y="1417320"/>
            <a:ext cx="5120640" cy="1371600"/>
          </a:xfrm>
          <a:prstGeom prst="rect">
            <a:avLst/>
          </a:prstGeom>
          <a:noFill/>
          <a:ln/>
        </p:spPr>
        <p:txBody>
          <a:bodyPr wrap="square" lIns="0" tIns="0" rIns="0" bIns="0" rtlCol="0" anchor="t"/>
          <a:lstStyle/>
          <a:p>
            <a:pPr indent="0" marL="0">
              <a:buNone/>
            </a:pPr>
            <a:r>
              <a:rPr lang="en-US" sz="1600" dirty="0">
                <a:solidFill>
                  <a:schemeClr val="tx2"/>
                </a:solidFill>
              </a:rPr>
              <a:t>An aircraft engine reports temperature, pressure, speed and flow readings every cycle. Degradation shows up as a small drift spread across many of them, buried in noise.</a:t>
            </a:r>
            <a:endParaRPr lang="en-US" sz="1600" dirty="0"/>
          </a:p>
        </p:txBody>
      </p:sp>
      <p:sp>
        <p:nvSpPr>
          <p:cNvPr id="5" name="text2"/>
          <p:cNvSpPr txBox="1"/>
          <p:nvPr/>
        </p:nvSpPr>
        <p:spPr>
          <a:xfrm>
            <a:off x="548640" y="3017520"/>
            <a:ext cx="5120640" cy="365760"/>
          </a:xfrm>
          <a:prstGeom prst="rect">
            <a:avLst/>
          </a:prstGeom>
          <a:noFill/>
          <a:ln/>
        </p:spPr>
        <p:txBody>
          <a:bodyPr wrap="square" lIns="0" tIns="0" rIns="0" bIns="0" rtlCol="0" anchor="t"/>
          <a:lstStyle/>
          <a:p>
            <a:pPr indent="0" marL="0">
              <a:buNone/>
            </a:pPr>
            <a:r>
              <a:rPr lang="en-US" sz="2000" b="1" dirty="0">
                <a:solidFill>
                  <a:schemeClr val="tx1"/>
                </a:solidFill>
              </a:rPr>
              <a:t>The question</a:t>
            </a:r>
            <a:endParaRPr lang="en-US" sz="2000" dirty="0"/>
          </a:p>
        </p:txBody>
      </p:sp>
      <p:sp>
        <p:nvSpPr>
          <p:cNvPr id="6" name="text3"/>
          <p:cNvSpPr txBox="1"/>
          <p:nvPr/>
        </p:nvSpPr>
        <p:spPr>
          <a:xfrm>
            <a:off x="548640" y="3429000"/>
            <a:ext cx="5120640" cy="1097280"/>
          </a:xfrm>
          <a:prstGeom prst="rect">
            <a:avLst/>
          </a:prstGeom>
          <a:noFill/>
          <a:ln/>
        </p:spPr>
        <p:txBody>
          <a:bodyPr wrap="square" lIns="0" tIns="0" rIns="0" bIns="0" rtlCol="0" anchor="t"/>
          <a:lstStyle/>
          <a:p>
            <a:pPr indent="0" marL="0">
              <a:buNone/>
            </a:pPr>
            <a:r>
              <a:rPr lang="en-US" sz="2000" i="1" dirty="0">
                <a:solidFill>
                  <a:schemeClr val="accent1"/>
                </a:solidFill>
              </a:rPr>
              <a:t>How do we tell that an engine is moving away from normal behaviour before it fails?</a:t>
            </a:r>
            <a:endParaRPr lang="en-US" sz="2000" dirty="0"/>
          </a:p>
        </p:txBody>
      </p:sp>
      <p:sp>
        <p:nvSpPr>
          <p:cNvPr id="7" name="card4"/>
          <p:cNvSpPr/>
          <p:nvPr/>
        </p:nvSpPr>
        <p:spPr>
          <a:xfrm>
            <a:off x="6309360" y="1417320"/>
            <a:ext cx="5303520" cy="1325880"/>
          </a:xfrm>
          <a:prstGeom prst="roundRect">
            <a:avLst>
              <a:gd name="adj" fmla="val 8276"/>
            </a:avLst>
          </a:prstGeom>
          <a:solidFill>
            <a:schemeClr val="bg2"/>
          </a:solidFill>
          <a:ln w="12700">
            <a:solidFill>
              <a:schemeClr val="bg2"/>
            </a:solidFill>
            <a:prstDash val="solid"/>
          </a:ln>
          <a:effectLst>
            <a:outerShdw sx="100000" sy="100000" kx="0" ky="0" algn="bl" rotWithShape="0" blurRad="101600" dist="25400" dir="5400000">
              <a:srgbClr val="0B1F3A">
                <a:alpha val="12000"/>
              </a:srgbClr>
            </a:outerShdw>
          </a:effectLst>
        </p:spPr>
      </p:sp>
      <p:sp>
        <p:nvSpPr>
          <p:cNvPr id="8" name="dot5"/>
          <p:cNvSpPr/>
          <p:nvPr/>
        </p:nvSpPr>
        <p:spPr>
          <a:xfrm>
            <a:off x="6537960" y="1719072"/>
            <a:ext cx="731520" cy="731520"/>
          </a:xfrm>
          <a:prstGeom prst="ellipse">
            <a:avLst/>
          </a:prstGeom>
          <a:solidFill>
            <a:schemeClr val="accent1"/>
          </a:solidFill>
          <a:ln w="12700">
            <a:solidFill>
              <a:schemeClr val="accent1"/>
            </a:solidFill>
            <a:prstDash val="solid"/>
          </a:ln>
        </p:spPr>
      </p:sp>
      <p:pic>
        <p:nvPicPr>
          <p:cNvPr id="9" name="icon6" descr="preencoded.png">    </p:cNvPr>
          <p:cNvPicPr>
            <a:picLocks noChangeAspect="1"/>
          </p:cNvPicPr>
          <p:nvPr/>
        </p:nvPicPr>
        <p:blipFill>
          <a:blip r:embed="rId1"/>
          <a:stretch>
            <a:fillRect/>
          </a:stretch>
        </p:blipFill>
        <p:spPr>
          <a:xfrm>
            <a:off x="6720840" y="1901952"/>
            <a:ext cx="365760" cy="365760"/>
          </a:xfrm>
          <a:prstGeom prst="rect">
            <a:avLst/>
          </a:prstGeom>
        </p:spPr>
      </p:pic>
      <p:sp>
        <p:nvSpPr>
          <p:cNvPr id="10" name="text7"/>
          <p:cNvSpPr txBox="1"/>
          <p:nvPr/>
        </p:nvSpPr>
        <p:spPr>
          <a:xfrm>
            <a:off x="7498080" y="1600200"/>
            <a:ext cx="3931920" cy="365760"/>
          </a:xfrm>
          <a:prstGeom prst="rect">
            <a:avLst/>
          </a:prstGeom>
          <a:noFill/>
          <a:ln/>
        </p:spPr>
        <p:txBody>
          <a:bodyPr wrap="square" lIns="0" tIns="0" rIns="0" bIns="0" rtlCol="0" anchor="t"/>
          <a:lstStyle/>
          <a:p>
            <a:pPr indent="0" marL="0">
              <a:buNone/>
            </a:pPr>
            <a:r>
              <a:rPr lang="en-US" sz="1800" b="1" dirty="0">
                <a:solidFill>
                  <a:schemeClr val="tx1"/>
                </a:solidFill>
              </a:rPr>
              <a:t>Too many signals</a:t>
            </a:r>
            <a:endParaRPr lang="en-US" sz="1800" dirty="0"/>
          </a:p>
        </p:txBody>
      </p:sp>
      <p:sp>
        <p:nvSpPr>
          <p:cNvPr id="11" name="text8"/>
          <p:cNvSpPr txBox="1"/>
          <p:nvPr/>
        </p:nvSpPr>
        <p:spPr>
          <a:xfrm>
            <a:off x="7498080" y="1984248"/>
            <a:ext cx="3931920" cy="640080"/>
          </a:xfrm>
          <a:prstGeom prst="rect">
            <a:avLst/>
          </a:prstGeom>
          <a:noFill/>
          <a:ln/>
        </p:spPr>
        <p:txBody>
          <a:bodyPr wrap="square" lIns="0" tIns="0" rIns="0" bIns="0" rtlCol="0" anchor="t"/>
          <a:lstStyle/>
          <a:p>
            <a:pPr indent="0" marL="0">
              <a:buNone/>
            </a:pPr>
            <a:r>
              <a:rPr lang="en-US" sz="1400" dirty="0">
                <a:solidFill>
                  <a:schemeClr val="tx2"/>
                </a:solidFill>
              </a:rPr>
              <a:t>21 sensors per engine cycle; watching each one separately does not scale.</a:t>
            </a:r>
            <a:endParaRPr lang="en-US" sz="1400" dirty="0"/>
          </a:p>
        </p:txBody>
      </p:sp>
      <p:sp>
        <p:nvSpPr>
          <p:cNvPr id="12" name="card9"/>
          <p:cNvSpPr/>
          <p:nvPr/>
        </p:nvSpPr>
        <p:spPr>
          <a:xfrm>
            <a:off x="6309360" y="2971800"/>
            <a:ext cx="5303520" cy="1325880"/>
          </a:xfrm>
          <a:prstGeom prst="roundRect">
            <a:avLst>
              <a:gd name="adj" fmla="val 8276"/>
            </a:avLst>
          </a:prstGeom>
          <a:solidFill>
            <a:schemeClr val="bg2"/>
          </a:solidFill>
          <a:ln w="12700">
            <a:solidFill>
              <a:schemeClr val="bg2"/>
            </a:solidFill>
            <a:prstDash val="solid"/>
          </a:ln>
          <a:effectLst>
            <a:outerShdw sx="100000" sy="100000" kx="0" ky="0" algn="bl" rotWithShape="0" blurRad="101600" dist="25400" dir="5400000">
              <a:srgbClr val="0B1F3A">
                <a:alpha val="12000"/>
              </a:srgbClr>
            </a:outerShdw>
          </a:effectLst>
        </p:spPr>
      </p:sp>
      <p:sp>
        <p:nvSpPr>
          <p:cNvPr id="13" name="dot10"/>
          <p:cNvSpPr/>
          <p:nvPr/>
        </p:nvSpPr>
        <p:spPr>
          <a:xfrm>
            <a:off x="6537960" y="3273552"/>
            <a:ext cx="731520" cy="731520"/>
          </a:xfrm>
          <a:prstGeom prst="ellipse">
            <a:avLst/>
          </a:prstGeom>
          <a:solidFill>
            <a:schemeClr val="accent1"/>
          </a:solidFill>
          <a:ln w="12700">
            <a:solidFill>
              <a:schemeClr val="accent1"/>
            </a:solidFill>
            <a:prstDash val="solid"/>
          </a:ln>
        </p:spPr>
      </p:sp>
      <p:pic>
        <p:nvPicPr>
          <p:cNvPr id="14" name="icon11" descr="preencoded.png">    </p:cNvPr>
          <p:cNvPicPr>
            <a:picLocks noChangeAspect="1"/>
          </p:cNvPicPr>
          <p:nvPr/>
        </p:nvPicPr>
        <p:blipFill>
          <a:blip r:embed="rId2"/>
          <a:stretch>
            <a:fillRect/>
          </a:stretch>
        </p:blipFill>
        <p:spPr>
          <a:xfrm>
            <a:off x="6720840" y="3456432"/>
            <a:ext cx="365760" cy="365760"/>
          </a:xfrm>
          <a:prstGeom prst="rect">
            <a:avLst/>
          </a:prstGeom>
        </p:spPr>
      </p:pic>
      <p:sp>
        <p:nvSpPr>
          <p:cNvPr id="15" name="text12"/>
          <p:cNvSpPr txBox="1"/>
          <p:nvPr/>
        </p:nvSpPr>
        <p:spPr>
          <a:xfrm>
            <a:off x="7498080" y="3154680"/>
            <a:ext cx="3931920" cy="365760"/>
          </a:xfrm>
          <a:prstGeom prst="rect">
            <a:avLst/>
          </a:prstGeom>
          <a:noFill/>
          <a:ln/>
        </p:spPr>
        <p:txBody>
          <a:bodyPr wrap="square" lIns="0" tIns="0" rIns="0" bIns="0" rtlCol="0" anchor="t"/>
          <a:lstStyle/>
          <a:p>
            <a:pPr indent="0" marL="0">
              <a:buNone/>
            </a:pPr>
            <a:r>
              <a:rPr lang="en-US" sz="1800" b="1" dirty="0">
                <a:solidFill>
                  <a:schemeClr val="tx1"/>
                </a:solidFill>
              </a:rPr>
              <a:t>Noisy readings</a:t>
            </a:r>
            <a:endParaRPr lang="en-US" sz="1800" dirty="0"/>
          </a:p>
        </p:txBody>
      </p:sp>
      <p:sp>
        <p:nvSpPr>
          <p:cNvPr id="16" name="text13"/>
          <p:cNvSpPr txBox="1"/>
          <p:nvPr/>
        </p:nvSpPr>
        <p:spPr>
          <a:xfrm>
            <a:off x="7498080" y="3538728"/>
            <a:ext cx="3931920" cy="640080"/>
          </a:xfrm>
          <a:prstGeom prst="rect">
            <a:avLst/>
          </a:prstGeom>
          <a:noFill/>
          <a:ln/>
        </p:spPr>
        <p:txBody>
          <a:bodyPr wrap="square" lIns="0" tIns="0" rIns="0" bIns="0" rtlCol="0" anchor="t"/>
          <a:lstStyle/>
          <a:p>
            <a:pPr indent="0" marL="0">
              <a:buNone/>
            </a:pPr>
            <a:r>
              <a:rPr lang="en-US" sz="1400" dirty="0">
                <a:solidFill>
                  <a:schemeClr val="tx2"/>
                </a:solidFill>
              </a:rPr>
              <a:t>Cycle-to-cycle noise is as large as the early degradation trend.</a:t>
            </a:r>
            <a:endParaRPr lang="en-US" sz="1400" dirty="0"/>
          </a:p>
        </p:txBody>
      </p:sp>
      <p:sp>
        <p:nvSpPr>
          <p:cNvPr id="17" name="card14"/>
          <p:cNvSpPr/>
          <p:nvPr/>
        </p:nvSpPr>
        <p:spPr>
          <a:xfrm>
            <a:off x="6309360" y="4526280"/>
            <a:ext cx="5303520" cy="1325880"/>
          </a:xfrm>
          <a:prstGeom prst="roundRect">
            <a:avLst>
              <a:gd name="adj" fmla="val 8276"/>
            </a:avLst>
          </a:prstGeom>
          <a:solidFill>
            <a:schemeClr val="bg2"/>
          </a:solidFill>
          <a:ln w="12700">
            <a:solidFill>
              <a:schemeClr val="bg2"/>
            </a:solidFill>
            <a:prstDash val="solid"/>
          </a:ln>
          <a:effectLst>
            <a:outerShdw sx="100000" sy="100000" kx="0" ky="0" algn="bl" rotWithShape="0" blurRad="101600" dist="25400" dir="5400000">
              <a:srgbClr val="0B1F3A">
                <a:alpha val="12000"/>
              </a:srgbClr>
            </a:outerShdw>
          </a:effectLst>
        </p:spPr>
      </p:sp>
      <p:sp>
        <p:nvSpPr>
          <p:cNvPr id="18" name="dot15"/>
          <p:cNvSpPr/>
          <p:nvPr/>
        </p:nvSpPr>
        <p:spPr>
          <a:xfrm>
            <a:off x="6537960" y="4828032"/>
            <a:ext cx="731520" cy="731520"/>
          </a:xfrm>
          <a:prstGeom prst="ellipse">
            <a:avLst/>
          </a:prstGeom>
          <a:solidFill>
            <a:schemeClr val="accent2"/>
          </a:solidFill>
          <a:ln w="12700">
            <a:solidFill>
              <a:schemeClr val="accent2"/>
            </a:solidFill>
            <a:prstDash val="solid"/>
          </a:ln>
        </p:spPr>
      </p:sp>
      <p:pic>
        <p:nvPicPr>
          <p:cNvPr id="19" name="icon16" descr="preencoded.png">    </p:cNvPr>
          <p:cNvPicPr>
            <a:picLocks noChangeAspect="1"/>
          </p:cNvPicPr>
          <p:nvPr/>
        </p:nvPicPr>
        <p:blipFill>
          <a:blip r:embed="rId3"/>
          <a:stretch>
            <a:fillRect/>
          </a:stretch>
        </p:blipFill>
        <p:spPr>
          <a:xfrm>
            <a:off x="6720840" y="5010912"/>
            <a:ext cx="365760" cy="365760"/>
          </a:xfrm>
          <a:prstGeom prst="rect">
            <a:avLst/>
          </a:prstGeom>
        </p:spPr>
      </p:pic>
      <p:sp>
        <p:nvSpPr>
          <p:cNvPr id="20" name="text17"/>
          <p:cNvSpPr txBox="1"/>
          <p:nvPr/>
        </p:nvSpPr>
        <p:spPr>
          <a:xfrm>
            <a:off x="7498080" y="4709160"/>
            <a:ext cx="3931920" cy="365760"/>
          </a:xfrm>
          <a:prstGeom prst="rect">
            <a:avLst/>
          </a:prstGeom>
          <a:noFill/>
          <a:ln/>
        </p:spPr>
        <p:txBody>
          <a:bodyPr wrap="square" lIns="0" tIns="0" rIns="0" bIns="0" rtlCol="0" anchor="t"/>
          <a:lstStyle/>
          <a:p>
            <a:pPr indent="0" marL="0">
              <a:buNone/>
            </a:pPr>
            <a:r>
              <a:rPr lang="en-US" sz="1800" b="1" dirty="0">
                <a:solidFill>
                  <a:schemeClr val="tx1"/>
                </a:solidFill>
              </a:rPr>
              <a:t>Late warnings cost</a:t>
            </a:r>
            <a:endParaRPr lang="en-US" sz="1800" dirty="0"/>
          </a:p>
        </p:txBody>
      </p:sp>
      <p:sp>
        <p:nvSpPr>
          <p:cNvPr id="21" name="text18"/>
          <p:cNvSpPr txBox="1"/>
          <p:nvPr/>
        </p:nvSpPr>
        <p:spPr>
          <a:xfrm>
            <a:off x="7498080" y="5093208"/>
            <a:ext cx="3931920" cy="640080"/>
          </a:xfrm>
          <a:prstGeom prst="rect">
            <a:avLst/>
          </a:prstGeom>
          <a:noFill/>
          <a:ln/>
        </p:spPr>
        <p:txBody>
          <a:bodyPr wrap="square" lIns="0" tIns="0" rIns="0" bIns="0" rtlCol="0" anchor="t"/>
          <a:lstStyle/>
          <a:p>
            <a:pPr indent="0" marL="0">
              <a:buNone/>
            </a:pPr>
            <a:r>
              <a:rPr lang="en-US" sz="1400" dirty="0">
                <a:solidFill>
                  <a:schemeClr val="tx2"/>
                </a:solidFill>
              </a:rPr>
              <a:t>A fault seen only near failure leaves no time to plan maintenance.</a:t>
            </a:r>
            <a:endParaRPr 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200" b="1" dirty="0">
                <a:solidFill>
                  <a:schemeClr val="tx1"/>
                </a:solidFill>
              </a:rPr>
              <a:t>Our approach: compress, then measure drift</a:t>
            </a:r>
            <a:endParaRPr lang="en-US" sz="3200" dirty="0"/>
          </a:p>
        </p:txBody>
      </p:sp>
      <p:sp>
        <p:nvSpPr>
          <p:cNvPr id="4" name="card19"/>
          <p:cNvSpPr/>
          <p:nvPr/>
        </p:nvSpPr>
        <p:spPr>
          <a:xfrm>
            <a:off x="548640" y="1645920"/>
            <a:ext cx="2011680" cy="2468880"/>
          </a:xfrm>
          <a:prstGeom prst="roundRect">
            <a:avLst>
              <a:gd name="adj" fmla="val 5455"/>
            </a:avLst>
          </a:prstGeom>
          <a:solidFill>
            <a:schemeClr val="bg2"/>
          </a:solidFill>
          <a:ln w="12700">
            <a:solidFill>
              <a:schemeClr val="bg2"/>
            </a:solidFill>
            <a:prstDash val="solid"/>
          </a:ln>
          <a:effectLst>
            <a:outerShdw sx="100000" sy="100000" kx="0" ky="0" algn="bl" rotWithShape="0" blurRad="101600" dist="25400" dir="5400000">
              <a:srgbClr val="0B1F3A">
                <a:alpha val="12000"/>
              </a:srgbClr>
            </a:outerShdw>
          </a:effectLst>
        </p:spPr>
      </p:sp>
      <p:sp>
        <p:nvSpPr>
          <p:cNvPr id="5" name="dot20"/>
          <p:cNvSpPr/>
          <p:nvPr/>
        </p:nvSpPr>
        <p:spPr>
          <a:xfrm>
            <a:off x="1143000" y="1874520"/>
            <a:ext cx="822960" cy="822960"/>
          </a:xfrm>
          <a:prstGeom prst="ellipse">
            <a:avLst/>
          </a:prstGeom>
          <a:solidFill>
            <a:schemeClr val="accent1"/>
          </a:solidFill>
          <a:ln w="12700">
            <a:solidFill>
              <a:schemeClr val="accent1"/>
            </a:solidFill>
            <a:prstDash val="solid"/>
          </a:ln>
        </p:spPr>
      </p:sp>
      <p:pic>
        <p:nvPicPr>
          <p:cNvPr id="6" name="icon21" descr="preencoded.png">    </p:cNvPr>
          <p:cNvPicPr>
            <a:picLocks noChangeAspect="1"/>
          </p:cNvPicPr>
          <p:nvPr/>
        </p:nvPicPr>
        <p:blipFill>
          <a:blip r:embed="rId1"/>
          <a:stretch>
            <a:fillRect/>
          </a:stretch>
        </p:blipFill>
        <p:spPr>
          <a:xfrm>
            <a:off x="1348740" y="2080260"/>
            <a:ext cx="411480" cy="411480"/>
          </a:xfrm>
          <a:prstGeom prst="rect">
            <a:avLst/>
          </a:prstGeom>
        </p:spPr>
      </p:pic>
      <p:sp>
        <p:nvSpPr>
          <p:cNvPr id="7" name="text22"/>
          <p:cNvSpPr txBox="1"/>
          <p:nvPr/>
        </p:nvSpPr>
        <p:spPr>
          <a:xfrm>
            <a:off x="640080" y="2834640"/>
            <a:ext cx="1828800" cy="365760"/>
          </a:xfrm>
          <a:prstGeom prst="rect">
            <a:avLst/>
          </a:prstGeom>
          <a:noFill/>
          <a:ln/>
        </p:spPr>
        <p:txBody>
          <a:bodyPr wrap="square" lIns="0" tIns="0" rIns="0" bIns="0" rtlCol="0" anchor="t"/>
          <a:lstStyle/>
          <a:p>
            <a:pPr algn="ctr" indent="0" marL="0">
              <a:buNone/>
            </a:pPr>
            <a:r>
              <a:rPr lang="en-US" sz="1700" b="1" dirty="0">
                <a:solidFill>
                  <a:schemeClr val="tx1"/>
                </a:solidFill>
              </a:rPr>
              <a:t>Sensor data</a:t>
            </a:r>
            <a:endParaRPr lang="en-US" sz="1700" dirty="0"/>
          </a:p>
        </p:txBody>
      </p:sp>
      <p:sp>
        <p:nvSpPr>
          <p:cNvPr id="8" name="text23"/>
          <p:cNvSpPr txBox="1"/>
          <p:nvPr/>
        </p:nvSpPr>
        <p:spPr>
          <a:xfrm>
            <a:off x="685800" y="3218688"/>
            <a:ext cx="1737360" cy="731520"/>
          </a:xfrm>
          <a:prstGeom prst="rect">
            <a:avLst/>
          </a:prstGeom>
          <a:noFill/>
          <a:ln/>
        </p:spPr>
        <p:txBody>
          <a:bodyPr wrap="square" lIns="0" tIns="0" rIns="0" bIns="0" rtlCol="0" anchor="t"/>
          <a:lstStyle/>
          <a:p>
            <a:pPr algn="ctr" indent="0" marL="0">
              <a:buNone/>
            </a:pPr>
            <a:r>
              <a:rPr lang="en-US" sz="1400" dirty="0">
                <a:solidFill>
                  <a:schemeClr val="tx2"/>
                </a:solidFill>
              </a:rPr>
              <a:t>14 informative sensors per cycle</a:t>
            </a:r>
            <a:endParaRPr lang="en-US" sz="1400" dirty="0"/>
          </a:p>
        </p:txBody>
      </p:sp>
      <p:sp>
        <p:nvSpPr>
          <p:cNvPr id="9" name="arrow24"/>
          <p:cNvSpPr/>
          <p:nvPr/>
        </p:nvSpPr>
        <p:spPr>
          <a:xfrm>
            <a:off x="2578608" y="2880360"/>
            <a:ext cx="219456" cy="0"/>
          </a:xfrm>
          <a:prstGeom prst="line">
            <a:avLst/>
          </a:prstGeom>
          <a:noFill/>
          <a:ln w="19050">
            <a:solidFill>
              <a:schemeClr val="tx2"/>
            </a:solidFill>
            <a:prstDash val="solid"/>
            <a:tailEnd type="triangle"/>
          </a:ln>
        </p:spPr>
      </p:sp>
      <p:sp>
        <p:nvSpPr>
          <p:cNvPr id="10" name="card25"/>
          <p:cNvSpPr/>
          <p:nvPr/>
        </p:nvSpPr>
        <p:spPr>
          <a:xfrm>
            <a:off x="2816352" y="1645920"/>
            <a:ext cx="2011680" cy="2468880"/>
          </a:xfrm>
          <a:prstGeom prst="roundRect">
            <a:avLst>
              <a:gd name="adj" fmla="val 5455"/>
            </a:avLst>
          </a:prstGeom>
          <a:solidFill>
            <a:schemeClr val="bg2"/>
          </a:solidFill>
          <a:ln w="12700">
            <a:solidFill>
              <a:schemeClr val="bg2"/>
            </a:solidFill>
            <a:prstDash val="solid"/>
          </a:ln>
          <a:effectLst>
            <a:outerShdw sx="100000" sy="100000" kx="0" ky="0" algn="bl" rotWithShape="0" blurRad="101600" dist="25400" dir="5400000">
              <a:srgbClr val="0B1F3A">
                <a:alpha val="12000"/>
              </a:srgbClr>
            </a:outerShdw>
          </a:effectLst>
        </p:spPr>
      </p:sp>
      <p:sp>
        <p:nvSpPr>
          <p:cNvPr id="11" name="dot26"/>
          <p:cNvSpPr/>
          <p:nvPr/>
        </p:nvSpPr>
        <p:spPr>
          <a:xfrm>
            <a:off x="3410712" y="1874520"/>
            <a:ext cx="822960" cy="822960"/>
          </a:xfrm>
          <a:prstGeom prst="ellipse">
            <a:avLst/>
          </a:prstGeom>
          <a:solidFill>
            <a:schemeClr val="accent5"/>
          </a:solidFill>
          <a:ln w="12700">
            <a:solidFill>
              <a:schemeClr val="accent5"/>
            </a:solidFill>
            <a:prstDash val="solid"/>
          </a:ln>
        </p:spPr>
      </p:sp>
      <p:pic>
        <p:nvPicPr>
          <p:cNvPr id="12" name="icon27" descr="preencoded.png">    </p:cNvPr>
          <p:cNvPicPr>
            <a:picLocks noChangeAspect="1"/>
          </p:cNvPicPr>
          <p:nvPr/>
        </p:nvPicPr>
        <p:blipFill>
          <a:blip r:embed="rId2"/>
          <a:stretch>
            <a:fillRect/>
          </a:stretch>
        </p:blipFill>
        <p:spPr>
          <a:xfrm>
            <a:off x="3616452" y="2080260"/>
            <a:ext cx="411480" cy="411480"/>
          </a:xfrm>
          <a:prstGeom prst="rect">
            <a:avLst/>
          </a:prstGeom>
        </p:spPr>
      </p:pic>
      <p:sp>
        <p:nvSpPr>
          <p:cNvPr id="13" name="text28"/>
          <p:cNvSpPr txBox="1"/>
          <p:nvPr/>
        </p:nvSpPr>
        <p:spPr>
          <a:xfrm>
            <a:off x="2907792" y="2834640"/>
            <a:ext cx="1828800" cy="365760"/>
          </a:xfrm>
          <a:prstGeom prst="rect">
            <a:avLst/>
          </a:prstGeom>
          <a:noFill/>
          <a:ln/>
        </p:spPr>
        <p:txBody>
          <a:bodyPr wrap="square" lIns="0" tIns="0" rIns="0" bIns="0" rtlCol="0" anchor="t"/>
          <a:lstStyle/>
          <a:p>
            <a:pPr algn="ctr" indent="0" marL="0">
              <a:buNone/>
            </a:pPr>
            <a:r>
              <a:rPr lang="en-US" sz="1700" b="1" dirty="0">
                <a:solidFill>
                  <a:schemeClr val="tx1"/>
                </a:solidFill>
              </a:rPr>
              <a:t>qPCA</a:t>
            </a:r>
            <a:endParaRPr lang="en-US" sz="1700" dirty="0"/>
          </a:p>
        </p:txBody>
      </p:sp>
      <p:sp>
        <p:nvSpPr>
          <p:cNvPr id="14" name="text29"/>
          <p:cNvSpPr txBox="1"/>
          <p:nvPr/>
        </p:nvSpPr>
        <p:spPr>
          <a:xfrm>
            <a:off x="2953512" y="3218688"/>
            <a:ext cx="1737360" cy="731520"/>
          </a:xfrm>
          <a:prstGeom prst="rect">
            <a:avLst/>
          </a:prstGeom>
          <a:noFill/>
          <a:ln/>
        </p:spPr>
        <p:txBody>
          <a:bodyPr wrap="square" lIns="0" tIns="0" rIns="0" bIns="0" rtlCol="0" anchor="t"/>
          <a:lstStyle/>
          <a:p>
            <a:pPr algn="ctr" indent="0" marL="0">
              <a:buNone/>
            </a:pPr>
            <a:r>
              <a:rPr lang="en-US" sz="1400" dirty="0">
                <a:solidFill>
                  <a:schemeClr val="tx2"/>
                </a:solidFill>
              </a:rPr>
              <a:t>finds the dominant patterns</a:t>
            </a:r>
            <a:endParaRPr lang="en-US" sz="1400" dirty="0"/>
          </a:p>
        </p:txBody>
      </p:sp>
      <p:sp>
        <p:nvSpPr>
          <p:cNvPr id="15" name="arrow30"/>
          <p:cNvSpPr/>
          <p:nvPr/>
        </p:nvSpPr>
        <p:spPr>
          <a:xfrm>
            <a:off x="4846320" y="2880360"/>
            <a:ext cx="219456" cy="0"/>
          </a:xfrm>
          <a:prstGeom prst="line">
            <a:avLst/>
          </a:prstGeom>
          <a:noFill/>
          <a:ln w="19050">
            <a:solidFill>
              <a:schemeClr val="tx2"/>
            </a:solidFill>
            <a:prstDash val="solid"/>
            <a:tailEnd type="triangle"/>
          </a:ln>
        </p:spPr>
      </p:sp>
      <p:sp>
        <p:nvSpPr>
          <p:cNvPr id="16" name="card31"/>
          <p:cNvSpPr/>
          <p:nvPr/>
        </p:nvSpPr>
        <p:spPr>
          <a:xfrm>
            <a:off x="5084064" y="1645920"/>
            <a:ext cx="2011680" cy="2468880"/>
          </a:xfrm>
          <a:prstGeom prst="roundRect">
            <a:avLst>
              <a:gd name="adj" fmla="val 5455"/>
            </a:avLst>
          </a:prstGeom>
          <a:solidFill>
            <a:schemeClr val="bg2"/>
          </a:solidFill>
          <a:ln w="12700">
            <a:solidFill>
              <a:schemeClr val="bg2"/>
            </a:solidFill>
            <a:prstDash val="solid"/>
          </a:ln>
          <a:effectLst>
            <a:outerShdw sx="100000" sy="100000" kx="0" ky="0" algn="bl" rotWithShape="0" blurRad="101600" dist="25400" dir="5400000">
              <a:srgbClr val="0B1F3A">
                <a:alpha val="12000"/>
              </a:srgbClr>
            </a:outerShdw>
          </a:effectLst>
        </p:spPr>
      </p:sp>
      <p:sp>
        <p:nvSpPr>
          <p:cNvPr id="17" name="dot32"/>
          <p:cNvSpPr/>
          <p:nvPr/>
        </p:nvSpPr>
        <p:spPr>
          <a:xfrm>
            <a:off x="5678424" y="1874520"/>
            <a:ext cx="822960" cy="822960"/>
          </a:xfrm>
          <a:prstGeom prst="ellipse">
            <a:avLst/>
          </a:prstGeom>
          <a:solidFill>
            <a:schemeClr val="accent1"/>
          </a:solidFill>
          <a:ln w="12700">
            <a:solidFill>
              <a:schemeClr val="accent1"/>
            </a:solidFill>
            <a:prstDash val="solid"/>
          </a:ln>
        </p:spPr>
      </p:sp>
      <p:pic>
        <p:nvPicPr>
          <p:cNvPr id="18" name="icon33" descr="preencoded.png">    </p:cNvPr>
          <p:cNvPicPr>
            <a:picLocks noChangeAspect="1"/>
          </p:cNvPicPr>
          <p:nvPr/>
        </p:nvPicPr>
        <p:blipFill>
          <a:blip r:embed="rId3"/>
          <a:stretch>
            <a:fillRect/>
          </a:stretch>
        </p:blipFill>
        <p:spPr>
          <a:xfrm>
            <a:off x="5884164" y="2080260"/>
            <a:ext cx="411480" cy="411480"/>
          </a:xfrm>
          <a:prstGeom prst="rect">
            <a:avLst/>
          </a:prstGeom>
        </p:spPr>
      </p:pic>
      <p:sp>
        <p:nvSpPr>
          <p:cNvPr id="19" name="text34"/>
          <p:cNvSpPr txBox="1"/>
          <p:nvPr/>
        </p:nvSpPr>
        <p:spPr>
          <a:xfrm>
            <a:off x="5175504" y="2834640"/>
            <a:ext cx="1828800" cy="365760"/>
          </a:xfrm>
          <a:prstGeom prst="rect">
            <a:avLst/>
          </a:prstGeom>
          <a:noFill/>
          <a:ln/>
        </p:spPr>
        <p:txBody>
          <a:bodyPr wrap="square" lIns="0" tIns="0" rIns="0" bIns="0" rtlCol="0" anchor="t"/>
          <a:lstStyle/>
          <a:p>
            <a:pPr algn="ctr" indent="0" marL="0">
              <a:buNone/>
            </a:pPr>
            <a:r>
              <a:rPr lang="en-US" sz="1700" b="1" dirty="0">
                <a:solidFill>
                  <a:schemeClr val="tx1"/>
                </a:solidFill>
              </a:rPr>
              <a:t>Reduced space</a:t>
            </a:r>
            <a:endParaRPr lang="en-US" sz="1700" dirty="0"/>
          </a:p>
        </p:txBody>
      </p:sp>
      <p:sp>
        <p:nvSpPr>
          <p:cNvPr id="20" name="text35"/>
          <p:cNvSpPr txBox="1"/>
          <p:nvPr/>
        </p:nvSpPr>
        <p:spPr>
          <a:xfrm>
            <a:off x="5221224" y="3218688"/>
            <a:ext cx="1737360" cy="731520"/>
          </a:xfrm>
          <a:prstGeom prst="rect">
            <a:avLst/>
          </a:prstGeom>
          <a:noFill/>
          <a:ln/>
        </p:spPr>
        <p:txBody>
          <a:bodyPr wrap="square" lIns="0" tIns="0" rIns="0" bIns="0" rtlCol="0" anchor="t"/>
          <a:lstStyle/>
          <a:p>
            <a:pPr algn="ctr" indent="0" marL="0">
              <a:buNone/>
            </a:pPr>
            <a:r>
              <a:rPr lang="en-US" sz="1400" dirty="0">
                <a:solidFill>
                  <a:schemeClr val="tx2"/>
                </a:solidFill>
              </a:rPr>
              <a:t>14 sensors become k = 3 components</a:t>
            </a:r>
            <a:endParaRPr lang="en-US" sz="1400" dirty="0"/>
          </a:p>
        </p:txBody>
      </p:sp>
      <p:sp>
        <p:nvSpPr>
          <p:cNvPr id="21" name="arrow36"/>
          <p:cNvSpPr/>
          <p:nvPr/>
        </p:nvSpPr>
        <p:spPr>
          <a:xfrm>
            <a:off x="7114032" y="2880360"/>
            <a:ext cx="219456" cy="0"/>
          </a:xfrm>
          <a:prstGeom prst="line">
            <a:avLst/>
          </a:prstGeom>
          <a:noFill/>
          <a:ln w="19050">
            <a:solidFill>
              <a:schemeClr val="tx2"/>
            </a:solidFill>
            <a:prstDash val="solid"/>
            <a:tailEnd type="triangle"/>
          </a:ln>
        </p:spPr>
      </p:sp>
      <p:sp>
        <p:nvSpPr>
          <p:cNvPr id="22" name="card37"/>
          <p:cNvSpPr/>
          <p:nvPr/>
        </p:nvSpPr>
        <p:spPr>
          <a:xfrm>
            <a:off x="7351776" y="1645920"/>
            <a:ext cx="2011680" cy="2468880"/>
          </a:xfrm>
          <a:prstGeom prst="roundRect">
            <a:avLst>
              <a:gd name="adj" fmla="val 5455"/>
            </a:avLst>
          </a:prstGeom>
          <a:solidFill>
            <a:schemeClr val="bg2"/>
          </a:solidFill>
          <a:ln w="12700">
            <a:solidFill>
              <a:schemeClr val="bg2"/>
            </a:solidFill>
            <a:prstDash val="solid"/>
          </a:ln>
          <a:effectLst>
            <a:outerShdw sx="100000" sy="100000" kx="0" ky="0" algn="bl" rotWithShape="0" blurRad="101600" dist="25400" dir="5400000">
              <a:srgbClr val="0B1F3A">
                <a:alpha val="12000"/>
              </a:srgbClr>
            </a:outerShdw>
          </a:effectLst>
        </p:spPr>
      </p:sp>
      <p:sp>
        <p:nvSpPr>
          <p:cNvPr id="23" name="dot38"/>
          <p:cNvSpPr/>
          <p:nvPr/>
        </p:nvSpPr>
        <p:spPr>
          <a:xfrm>
            <a:off x="7946136" y="1874520"/>
            <a:ext cx="822960" cy="822960"/>
          </a:xfrm>
          <a:prstGeom prst="ellipse">
            <a:avLst/>
          </a:prstGeom>
          <a:solidFill>
            <a:schemeClr val="accent1"/>
          </a:solidFill>
          <a:ln w="12700">
            <a:solidFill>
              <a:schemeClr val="accent1"/>
            </a:solidFill>
            <a:prstDash val="solid"/>
          </a:ln>
        </p:spPr>
      </p:sp>
      <p:pic>
        <p:nvPicPr>
          <p:cNvPr id="24" name="icon39" descr="preencoded.png">    </p:cNvPr>
          <p:cNvPicPr>
            <a:picLocks noChangeAspect="1"/>
          </p:cNvPicPr>
          <p:nvPr/>
        </p:nvPicPr>
        <p:blipFill>
          <a:blip r:embed="rId4"/>
          <a:stretch>
            <a:fillRect/>
          </a:stretch>
        </p:blipFill>
        <p:spPr>
          <a:xfrm>
            <a:off x="8151876" y="2080260"/>
            <a:ext cx="411480" cy="411480"/>
          </a:xfrm>
          <a:prstGeom prst="rect">
            <a:avLst/>
          </a:prstGeom>
        </p:spPr>
      </p:pic>
      <p:sp>
        <p:nvSpPr>
          <p:cNvPr id="25" name="text40"/>
          <p:cNvSpPr txBox="1"/>
          <p:nvPr/>
        </p:nvSpPr>
        <p:spPr>
          <a:xfrm>
            <a:off x="7443216" y="2834640"/>
            <a:ext cx="1828800" cy="365760"/>
          </a:xfrm>
          <a:prstGeom prst="rect">
            <a:avLst/>
          </a:prstGeom>
          <a:noFill/>
          <a:ln/>
        </p:spPr>
        <p:txBody>
          <a:bodyPr wrap="square" lIns="0" tIns="0" rIns="0" bIns="0" rtlCol="0" anchor="t"/>
          <a:lstStyle/>
          <a:p>
            <a:pPr algn="ctr" indent="0" marL="0">
              <a:buNone/>
            </a:pPr>
            <a:r>
              <a:rPr lang="en-US" sz="1700" b="1" dirty="0">
                <a:solidFill>
                  <a:schemeClr val="tx1"/>
                </a:solidFill>
              </a:rPr>
              <a:t>Anomaly score</a:t>
            </a:r>
            <a:endParaRPr lang="en-US" sz="1700" dirty="0"/>
          </a:p>
        </p:txBody>
      </p:sp>
      <p:sp>
        <p:nvSpPr>
          <p:cNvPr id="26" name="text41"/>
          <p:cNvSpPr txBox="1"/>
          <p:nvPr/>
        </p:nvSpPr>
        <p:spPr>
          <a:xfrm>
            <a:off x="7488936" y="3218688"/>
            <a:ext cx="1737360" cy="731520"/>
          </a:xfrm>
          <a:prstGeom prst="rect">
            <a:avLst/>
          </a:prstGeom>
          <a:noFill/>
          <a:ln/>
        </p:spPr>
        <p:txBody>
          <a:bodyPr wrap="square" lIns="0" tIns="0" rIns="0" bIns="0" rtlCol="0" anchor="t"/>
          <a:lstStyle/>
          <a:p>
            <a:pPr algn="ctr" indent="0" marL="0">
              <a:buNone/>
            </a:pPr>
            <a:r>
              <a:rPr lang="en-US" sz="1400" dirty="0">
                <a:solidFill>
                  <a:schemeClr val="tx2"/>
                </a:solidFill>
              </a:rPr>
              <a:t>distance from healthy behaviour</a:t>
            </a:r>
            <a:endParaRPr lang="en-US" sz="1400" dirty="0"/>
          </a:p>
        </p:txBody>
      </p:sp>
      <p:sp>
        <p:nvSpPr>
          <p:cNvPr id="27" name="arrow42"/>
          <p:cNvSpPr/>
          <p:nvPr/>
        </p:nvSpPr>
        <p:spPr>
          <a:xfrm>
            <a:off x="9381744" y="2880360"/>
            <a:ext cx="219456" cy="0"/>
          </a:xfrm>
          <a:prstGeom prst="line">
            <a:avLst/>
          </a:prstGeom>
          <a:noFill/>
          <a:ln w="19050">
            <a:solidFill>
              <a:schemeClr val="tx2"/>
            </a:solidFill>
            <a:prstDash val="solid"/>
            <a:tailEnd type="triangle"/>
          </a:ln>
        </p:spPr>
      </p:sp>
      <p:sp>
        <p:nvSpPr>
          <p:cNvPr id="28" name="card43"/>
          <p:cNvSpPr/>
          <p:nvPr/>
        </p:nvSpPr>
        <p:spPr>
          <a:xfrm>
            <a:off x="9619488" y="1645920"/>
            <a:ext cx="2011680" cy="2468880"/>
          </a:xfrm>
          <a:prstGeom prst="roundRect">
            <a:avLst>
              <a:gd name="adj" fmla="val 5455"/>
            </a:avLst>
          </a:prstGeom>
          <a:solidFill>
            <a:schemeClr val="bg2"/>
          </a:solidFill>
          <a:ln w="12700">
            <a:solidFill>
              <a:schemeClr val="bg2"/>
            </a:solidFill>
            <a:prstDash val="solid"/>
          </a:ln>
          <a:effectLst>
            <a:outerShdw sx="100000" sy="100000" kx="0" ky="0" algn="bl" rotWithShape="0" blurRad="101600" dist="25400" dir="5400000">
              <a:srgbClr val="0B1F3A">
                <a:alpha val="12000"/>
              </a:srgbClr>
            </a:outerShdw>
          </a:effectLst>
        </p:spPr>
      </p:sp>
      <p:sp>
        <p:nvSpPr>
          <p:cNvPr id="29" name="dot44"/>
          <p:cNvSpPr/>
          <p:nvPr/>
        </p:nvSpPr>
        <p:spPr>
          <a:xfrm>
            <a:off x="10213848" y="1874520"/>
            <a:ext cx="822960" cy="822960"/>
          </a:xfrm>
          <a:prstGeom prst="ellipse">
            <a:avLst/>
          </a:prstGeom>
          <a:solidFill>
            <a:schemeClr val="accent1"/>
          </a:solidFill>
          <a:ln w="12700">
            <a:solidFill>
              <a:schemeClr val="accent1"/>
            </a:solidFill>
            <a:prstDash val="solid"/>
          </a:ln>
        </p:spPr>
      </p:sp>
      <p:pic>
        <p:nvPicPr>
          <p:cNvPr id="30" name="icon45" descr="preencoded.png">    </p:cNvPr>
          <p:cNvPicPr>
            <a:picLocks noChangeAspect="1"/>
          </p:cNvPicPr>
          <p:nvPr/>
        </p:nvPicPr>
        <p:blipFill>
          <a:blip r:embed="rId5"/>
          <a:stretch>
            <a:fillRect/>
          </a:stretch>
        </p:blipFill>
        <p:spPr>
          <a:xfrm>
            <a:off x="10419588" y="2080260"/>
            <a:ext cx="411480" cy="411480"/>
          </a:xfrm>
          <a:prstGeom prst="rect">
            <a:avLst/>
          </a:prstGeom>
        </p:spPr>
      </p:pic>
      <p:sp>
        <p:nvSpPr>
          <p:cNvPr id="31" name="text46"/>
          <p:cNvSpPr txBox="1"/>
          <p:nvPr/>
        </p:nvSpPr>
        <p:spPr>
          <a:xfrm>
            <a:off x="9710928" y="2834640"/>
            <a:ext cx="1828800" cy="365760"/>
          </a:xfrm>
          <a:prstGeom prst="rect">
            <a:avLst/>
          </a:prstGeom>
          <a:noFill/>
          <a:ln/>
        </p:spPr>
        <p:txBody>
          <a:bodyPr wrap="square" lIns="0" tIns="0" rIns="0" bIns="0" rtlCol="0" anchor="t"/>
          <a:lstStyle/>
          <a:p>
            <a:pPr algn="ctr" indent="0" marL="0">
              <a:buNone/>
            </a:pPr>
            <a:r>
              <a:rPr lang="en-US" sz="1700" b="1" dirty="0">
                <a:solidFill>
                  <a:schemeClr val="tx1"/>
                </a:solidFill>
              </a:rPr>
              <a:t>Engine health</a:t>
            </a:r>
            <a:endParaRPr lang="en-US" sz="1700" dirty="0"/>
          </a:p>
        </p:txBody>
      </p:sp>
      <p:sp>
        <p:nvSpPr>
          <p:cNvPr id="32" name="text47"/>
          <p:cNvSpPr txBox="1"/>
          <p:nvPr/>
        </p:nvSpPr>
        <p:spPr>
          <a:xfrm>
            <a:off x="9756648" y="3218688"/>
            <a:ext cx="1737360" cy="731520"/>
          </a:xfrm>
          <a:prstGeom prst="rect">
            <a:avLst/>
          </a:prstGeom>
          <a:noFill/>
          <a:ln/>
        </p:spPr>
        <p:txBody>
          <a:bodyPr wrap="square" lIns="0" tIns="0" rIns="0" bIns="0" rtlCol="0" anchor="t"/>
          <a:lstStyle/>
          <a:p>
            <a:pPr algn="ctr" indent="0" marL="0">
              <a:buNone/>
            </a:pPr>
            <a:r>
              <a:rPr lang="en-US" sz="1400" dirty="0">
                <a:solidFill>
                  <a:schemeClr val="tx2"/>
                </a:solidFill>
              </a:rPr>
              <a:t>normal, degrading or alert</a:t>
            </a:r>
            <a:endParaRPr lang="en-US" sz="1400" dirty="0"/>
          </a:p>
        </p:txBody>
      </p:sp>
      <p:sp>
        <p:nvSpPr>
          <p:cNvPr id="33" name="card48"/>
          <p:cNvSpPr/>
          <p:nvPr/>
        </p:nvSpPr>
        <p:spPr>
          <a:xfrm>
            <a:off x="548640" y="4526280"/>
            <a:ext cx="11064240" cy="1417320"/>
          </a:xfrm>
          <a:prstGeom prst="roundRect">
            <a:avLst>
              <a:gd name="adj" fmla="val 7742"/>
            </a:avLst>
          </a:prstGeom>
          <a:solidFill>
            <a:schemeClr val="tx1"/>
          </a:solidFill>
          <a:ln w="12700">
            <a:solidFill>
              <a:schemeClr val="tx1"/>
            </a:solidFill>
            <a:prstDash val="solid"/>
          </a:ln>
          <a:effectLst>
            <a:outerShdw sx="100000" sy="100000" kx="0" ky="0" algn="bl" rotWithShape="0" blurRad="101600" dist="25400" dir="5400000">
              <a:srgbClr val="0B1F3A">
                <a:alpha val="12000"/>
              </a:srgbClr>
            </a:outerShdw>
          </a:effectLst>
        </p:spPr>
      </p:sp>
      <p:sp>
        <p:nvSpPr>
          <p:cNvPr id="34" name="text49"/>
          <p:cNvSpPr txBox="1"/>
          <p:nvPr/>
        </p:nvSpPr>
        <p:spPr>
          <a:xfrm>
            <a:off x="822960" y="4663440"/>
            <a:ext cx="10515600" cy="365760"/>
          </a:xfrm>
          <a:prstGeom prst="rect">
            <a:avLst/>
          </a:prstGeom>
          <a:noFill/>
          <a:ln/>
        </p:spPr>
        <p:txBody>
          <a:bodyPr wrap="square" lIns="0" tIns="0" rIns="0" bIns="0" rtlCol="0" anchor="t"/>
          <a:lstStyle/>
          <a:p>
            <a:pPr indent="0" marL="0">
              <a:buNone/>
            </a:pPr>
            <a:r>
              <a:rPr lang="en-US" sz="1800" b="1" dirty="0">
                <a:solidFill>
                  <a:schemeClr val="bg1"/>
                </a:solidFill>
              </a:rPr>
              <a:t>What makes it more than "we implemented qPCA"</a:t>
            </a:r>
            <a:endParaRPr lang="en-US" sz="1800" dirty="0"/>
          </a:p>
        </p:txBody>
      </p:sp>
      <p:sp>
        <p:nvSpPr>
          <p:cNvPr id="35" name="text50"/>
          <p:cNvSpPr txBox="1"/>
          <p:nvPr/>
        </p:nvSpPr>
        <p:spPr>
          <a:xfrm>
            <a:off x="822960" y="5047488"/>
            <a:ext cx="10515600" cy="777240"/>
          </a:xfrm>
          <a:prstGeom prst="rect">
            <a:avLst/>
          </a:prstGeom>
          <a:noFill/>
          <a:ln/>
        </p:spPr>
        <p:txBody>
          <a:bodyPr wrap="square" lIns="0" tIns="0" rIns="0" bIns="0" rtlCol="0" anchor="t"/>
          <a:lstStyle/>
          <a:p>
            <a:pPr indent="0" marL="0">
              <a:buNone/>
            </a:pPr>
            <a:r>
              <a:rPr lang="en-US" sz="1500" dirty="0">
                <a:solidFill>
                  <a:schemeClr val="accent6"/>
                </a:solidFill>
              </a:rPr>
              <a:t>It combines a quantum algorithm, a machine-learning task, a real engineering problem and a usable application, and it measures quantum against classical instead of claiming an advantage.</a:t>
            </a:r>
            <a:endParaRPr lang="en-US" sz="15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200" b="1" dirty="0">
                <a:solidFill>
                  <a:schemeClr val="tx1"/>
                </a:solidFill>
              </a:rPr>
              <a:t>Dataset: NASA C-MAPSS run-to-failure engine records</a:t>
            </a:r>
            <a:endParaRPr lang="en-US" sz="3200" dirty="0"/>
          </a:p>
        </p:txBody>
      </p:sp>
      <p:sp>
        <p:nvSpPr>
          <p:cNvPr id="4" name="card51"/>
          <p:cNvSpPr/>
          <p:nvPr/>
        </p:nvSpPr>
        <p:spPr>
          <a:xfrm>
            <a:off x="548640" y="1463040"/>
            <a:ext cx="2560320" cy="1920240"/>
          </a:xfrm>
          <a:prstGeom prst="roundRect">
            <a:avLst>
              <a:gd name="adj" fmla="val 5714"/>
            </a:avLst>
          </a:prstGeom>
          <a:solidFill>
            <a:schemeClr val="bg2"/>
          </a:solidFill>
          <a:ln w="12700">
            <a:solidFill>
              <a:schemeClr val="bg2"/>
            </a:solidFill>
            <a:prstDash val="solid"/>
          </a:ln>
          <a:effectLst>
            <a:outerShdw sx="100000" sy="100000" kx="0" ky="0" algn="bl" rotWithShape="0" blurRad="101600" dist="25400" dir="5400000">
              <a:srgbClr val="0B1F3A">
                <a:alpha val="12000"/>
              </a:srgbClr>
            </a:outerShdw>
          </a:effectLst>
        </p:spPr>
      </p:sp>
      <p:sp>
        <p:nvSpPr>
          <p:cNvPr id="5" name="text52"/>
          <p:cNvSpPr txBox="1"/>
          <p:nvPr/>
        </p:nvSpPr>
        <p:spPr>
          <a:xfrm>
            <a:off x="640080" y="1600200"/>
            <a:ext cx="2377440" cy="868680"/>
          </a:xfrm>
          <a:prstGeom prst="rect">
            <a:avLst/>
          </a:prstGeom>
          <a:noFill/>
          <a:ln/>
        </p:spPr>
        <p:txBody>
          <a:bodyPr wrap="square" lIns="0" tIns="0" rIns="0" bIns="0" rtlCol="0" anchor="t"/>
          <a:lstStyle/>
          <a:p>
            <a:pPr algn="ctr" indent="0" marL="0">
              <a:buNone/>
            </a:pPr>
            <a:r>
              <a:rPr lang="en-US" sz="4800" b="1" dirty="0">
                <a:solidFill>
                  <a:schemeClr val="accent1"/>
                </a:solidFill>
                <a:latin typeface="Cambria" pitchFamily="34" charset="0"/>
                <a:ea typeface="Cambria" pitchFamily="34" charset="-122"/>
                <a:cs typeface="Cambria" pitchFamily="34" charset="-120"/>
              </a:rPr>
              <a:t>100</a:t>
            </a:r>
            <a:endParaRPr lang="en-US" sz="4800" dirty="0"/>
          </a:p>
        </p:txBody>
      </p:sp>
      <p:sp>
        <p:nvSpPr>
          <p:cNvPr id="6" name="text53"/>
          <p:cNvSpPr txBox="1"/>
          <p:nvPr/>
        </p:nvSpPr>
        <p:spPr>
          <a:xfrm>
            <a:off x="731520" y="2514600"/>
            <a:ext cx="2194560" cy="731520"/>
          </a:xfrm>
          <a:prstGeom prst="rect">
            <a:avLst/>
          </a:prstGeom>
          <a:noFill/>
          <a:ln/>
        </p:spPr>
        <p:txBody>
          <a:bodyPr wrap="square" lIns="0" tIns="0" rIns="0" bIns="0" rtlCol="0" anchor="t"/>
          <a:lstStyle/>
          <a:p>
            <a:pPr algn="ctr" indent="0" marL="0">
              <a:buNone/>
            </a:pPr>
            <a:r>
              <a:rPr lang="en-US" sz="1400" dirty="0">
                <a:solidFill>
                  <a:schemeClr val="tx2"/>
                </a:solidFill>
              </a:rPr>
              <a:t>engines in FD001, each run to failure</a:t>
            </a:r>
            <a:endParaRPr lang="en-US" sz="1400" dirty="0"/>
          </a:p>
        </p:txBody>
      </p:sp>
      <p:sp>
        <p:nvSpPr>
          <p:cNvPr id="7" name="card54"/>
          <p:cNvSpPr/>
          <p:nvPr/>
        </p:nvSpPr>
        <p:spPr>
          <a:xfrm>
            <a:off x="3383280" y="1463040"/>
            <a:ext cx="2560320" cy="1920240"/>
          </a:xfrm>
          <a:prstGeom prst="roundRect">
            <a:avLst>
              <a:gd name="adj" fmla="val 5714"/>
            </a:avLst>
          </a:prstGeom>
          <a:solidFill>
            <a:schemeClr val="bg2"/>
          </a:solidFill>
          <a:ln w="12700">
            <a:solidFill>
              <a:schemeClr val="bg2"/>
            </a:solidFill>
            <a:prstDash val="solid"/>
          </a:ln>
          <a:effectLst>
            <a:outerShdw sx="100000" sy="100000" kx="0" ky="0" algn="bl" rotWithShape="0" blurRad="101600" dist="25400" dir="5400000">
              <a:srgbClr val="0B1F3A">
                <a:alpha val="12000"/>
              </a:srgbClr>
            </a:outerShdw>
          </a:effectLst>
        </p:spPr>
      </p:sp>
      <p:sp>
        <p:nvSpPr>
          <p:cNvPr id="8" name="text55"/>
          <p:cNvSpPr txBox="1"/>
          <p:nvPr/>
        </p:nvSpPr>
        <p:spPr>
          <a:xfrm>
            <a:off x="3474720" y="1600200"/>
            <a:ext cx="2377440" cy="868680"/>
          </a:xfrm>
          <a:prstGeom prst="rect">
            <a:avLst/>
          </a:prstGeom>
          <a:noFill/>
          <a:ln/>
        </p:spPr>
        <p:txBody>
          <a:bodyPr wrap="square" lIns="0" tIns="0" rIns="0" bIns="0" rtlCol="0" anchor="t"/>
          <a:lstStyle/>
          <a:p>
            <a:pPr algn="ctr" indent="0" marL="0">
              <a:buNone/>
            </a:pPr>
            <a:r>
              <a:rPr lang="en-US" sz="4800" b="1" dirty="0">
                <a:solidFill>
                  <a:schemeClr val="accent1"/>
                </a:solidFill>
                <a:latin typeface="Cambria" pitchFamily="34" charset="0"/>
                <a:ea typeface="Cambria" pitchFamily="34" charset="-122"/>
                <a:cs typeface="Cambria" pitchFamily="34" charset="-120"/>
              </a:rPr>
              <a:t>21</a:t>
            </a:r>
            <a:endParaRPr lang="en-US" sz="4800" dirty="0"/>
          </a:p>
        </p:txBody>
      </p:sp>
      <p:sp>
        <p:nvSpPr>
          <p:cNvPr id="9" name="text56"/>
          <p:cNvSpPr txBox="1"/>
          <p:nvPr/>
        </p:nvSpPr>
        <p:spPr>
          <a:xfrm>
            <a:off x="3566160" y="2514600"/>
            <a:ext cx="2194560" cy="731520"/>
          </a:xfrm>
          <a:prstGeom prst="rect">
            <a:avLst/>
          </a:prstGeom>
          <a:noFill/>
          <a:ln/>
        </p:spPr>
        <p:txBody>
          <a:bodyPr wrap="square" lIns="0" tIns="0" rIns="0" bIns="0" rtlCol="0" anchor="t"/>
          <a:lstStyle/>
          <a:p>
            <a:pPr algn="ctr" indent="0" marL="0">
              <a:buNone/>
            </a:pPr>
            <a:r>
              <a:rPr lang="en-US" sz="1400" dirty="0">
                <a:solidFill>
                  <a:schemeClr val="tx2"/>
                </a:solidFill>
              </a:rPr>
              <a:t>sensors recorded every cycle</a:t>
            </a:r>
            <a:endParaRPr lang="en-US" sz="1400" dirty="0"/>
          </a:p>
        </p:txBody>
      </p:sp>
      <p:sp>
        <p:nvSpPr>
          <p:cNvPr id="10" name="card57"/>
          <p:cNvSpPr/>
          <p:nvPr/>
        </p:nvSpPr>
        <p:spPr>
          <a:xfrm>
            <a:off x="6217920" y="1463040"/>
            <a:ext cx="2560320" cy="1920240"/>
          </a:xfrm>
          <a:prstGeom prst="roundRect">
            <a:avLst>
              <a:gd name="adj" fmla="val 5714"/>
            </a:avLst>
          </a:prstGeom>
          <a:solidFill>
            <a:schemeClr val="bg2"/>
          </a:solidFill>
          <a:ln w="12700">
            <a:solidFill>
              <a:schemeClr val="bg2"/>
            </a:solidFill>
            <a:prstDash val="solid"/>
          </a:ln>
          <a:effectLst>
            <a:outerShdw sx="100000" sy="100000" kx="0" ky="0" algn="bl" rotWithShape="0" blurRad="101600" dist="25400" dir="5400000">
              <a:srgbClr val="0B1F3A">
                <a:alpha val="12000"/>
              </a:srgbClr>
            </a:outerShdw>
          </a:effectLst>
        </p:spPr>
      </p:sp>
      <p:sp>
        <p:nvSpPr>
          <p:cNvPr id="11" name="text58"/>
          <p:cNvSpPr txBox="1"/>
          <p:nvPr/>
        </p:nvSpPr>
        <p:spPr>
          <a:xfrm>
            <a:off x="6309360" y="1600200"/>
            <a:ext cx="2377440" cy="868680"/>
          </a:xfrm>
          <a:prstGeom prst="rect">
            <a:avLst/>
          </a:prstGeom>
          <a:noFill/>
          <a:ln/>
        </p:spPr>
        <p:txBody>
          <a:bodyPr wrap="square" lIns="0" tIns="0" rIns="0" bIns="0" rtlCol="0" anchor="t"/>
          <a:lstStyle/>
          <a:p>
            <a:pPr algn="ctr" indent="0" marL="0">
              <a:buNone/>
            </a:pPr>
            <a:r>
              <a:rPr lang="en-US" sz="4800" b="1" dirty="0">
                <a:solidFill>
                  <a:schemeClr val="accent1"/>
                </a:solidFill>
                <a:latin typeface="Cambria" pitchFamily="34" charset="0"/>
                <a:ea typeface="Cambria" pitchFamily="34" charset="-122"/>
                <a:cs typeface="Cambria" pitchFamily="34" charset="-120"/>
              </a:rPr>
              <a:t>14</a:t>
            </a:r>
            <a:endParaRPr lang="en-US" sz="4800" dirty="0"/>
          </a:p>
        </p:txBody>
      </p:sp>
      <p:sp>
        <p:nvSpPr>
          <p:cNvPr id="12" name="text59"/>
          <p:cNvSpPr txBox="1"/>
          <p:nvPr/>
        </p:nvSpPr>
        <p:spPr>
          <a:xfrm>
            <a:off x="6400800" y="2514600"/>
            <a:ext cx="2194560" cy="731520"/>
          </a:xfrm>
          <a:prstGeom prst="rect">
            <a:avLst/>
          </a:prstGeom>
          <a:noFill/>
          <a:ln/>
        </p:spPr>
        <p:txBody>
          <a:bodyPr wrap="square" lIns="0" tIns="0" rIns="0" bIns="0" rtlCol="0" anchor="t"/>
          <a:lstStyle/>
          <a:p>
            <a:pPr algn="ctr" indent="0" marL="0">
              <a:buNone/>
            </a:pPr>
            <a:r>
              <a:rPr lang="en-US" sz="1400" dirty="0">
                <a:solidFill>
                  <a:schemeClr val="tx2"/>
                </a:solidFill>
              </a:rPr>
              <a:t>sensors kept after removing constant channels</a:t>
            </a:r>
            <a:endParaRPr lang="en-US" sz="1400" dirty="0"/>
          </a:p>
        </p:txBody>
      </p:sp>
      <p:sp>
        <p:nvSpPr>
          <p:cNvPr id="13" name="card60"/>
          <p:cNvSpPr/>
          <p:nvPr/>
        </p:nvSpPr>
        <p:spPr>
          <a:xfrm>
            <a:off x="9052560" y="1463040"/>
            <a:ext cx="2560320" cy="1920240"/>
          </a:xfrm>
          <a:prstGeom prst="roundRect">
            <a:avLst>
              <a:gd name="adj" fmla="val 5714"/>
            </a:avLst>
          </a:prstGeom>
          <a:solidFill>
            <a:schemeClr val="bg2"/>
          </a:solidFill>
          <a:ln w="12700">
            <a:solidFill>
              <a:schemeClr val="bg2"/>
            </a:solidFill>
            <a:prstDash val="solid"/>
          </a:ln>
          <a:effectLst>
            <a:outerShdw sx="100000" sy="100000" kx="0" ky="0" algn="bl" rotWithShape="0" blurRad="101600" dist="25400" dir="5400000">
              <a:srgbClr val="0B1F3A">
                <a:alpha val="12000"/>
              </a:srgbClr>
            </a:outerShdw>
          </a:effectLst>
        </p:spPr>
      </p:sp>
      <p:sp>
        <p:nvSpPr>
          <p:cNvPr id="14" name="text61"/>
          <p:cNvSpPr txBox="1"/>
          <p:nvPr/>
        </p:nvSpPr>
        <p:spPr>
          <a:xfrm>
            <a:off x="9144000" y="1600200"/>
            <a:ext cx="2377440" cy="868680"/>
          </a:xfrm>
          <a:prstGeom prst="rect">
            <a:avLst/>
          </a:prstGeom>
          <a:noFill/>
          <a:ln/>
        </p:spPr>
        <p:txBody>
          <a:bodyPr wrap="square" lIns="0" tIns="0" rIns="0" bIns="0" rtlCol="0" anchor="t"/>
          <a:lstStyle/>
          <a:p>
            <a:pPr algn="ctr" indent="0" marL="0">
              <a:buNone/>
            </a:pPr>
            <a:r>
              <a:rPr lang="en-US" sz="4800" b="1" dirty="0">
                <a:solidFill>
                  <a:schemeClr val="accent1"/>
                </a:solidFill>
                <a:latin typeface="Cambria" pitchFamily="34" charset="0"/>
                <a:ea typeface="Cambria" pitchFamily="34" charset="-122"/>
                <a:cs typeface="Cambria" pitchFamily="34" charset="-120"/>
              </a:rPr>
              <a:t>80 / 20</a:t>
            </a:r>
            <a:endParaRPr lang="en-US" sz="4800" dirty="0"/>
          </a:p>
        </p:txBody>
      </p:sp>
      <p:sp>
        <p:nvSpPr>
          <p:cNvPr id="15" name="text62"/>
          <p:cNvSpPr txBox="1"/>
          <p:nvPr/>
        </p:nvSpPr>
        <p:spPr>
          <a:xfrm>
            <a:off x="9235440" y="2514600"/>
            <a:ext cx="2194560" cy="731520"/>
          </a:xfrm>
          <a:prstGeom prst="rect">
            <a:avLst/>
          </a:prstGeom>
          <a:noFill/>
          <a:ln/>
        </p:spPr>
        <p:txBody>
          <a:bodyPr wrap="square" lIns="0" tIns="0" rIns="0" bIns="0" rtlCol="0" anchor="t"/>
          <a:lstStyle/>
          <a:p>
            <a:pPr algn="ctr" indent="0" marL="0">
              <a:buNone/>
            </a:pPr>
            <a:r>
              <a:rPr lang="en-US" sz="1400" dirty="0">
                <a:solidFill>
                  <a:schemeClr val="tx2"/>
                </a:solidFill>
              </a:rPr>
              <a:t>engines for fitting / held out for testing</a:t>
            </a:r>
            <a:endParaRPr lang="en-US" sz="1400" dirty="0"/>
          </a:p>
        </p:txBody>
      </p:sp>
      <p:sp>
        <p:nvSpPr>
          <p:cNvPr id="16" name="text63"/>
          <p:cNvSpPr txBox="1"/>
          <p:nvPr/>
        </p:nvSpPr>
        <p:spPr>
          <a:xfrm>
            <a:off x="548640" y="3749040"/>
            <a:ext cx="5486400" cy="365760"/>
          </a:xfrm>
          <a:prstGeom prst="rect">
            <a:avLst/>
          </a:prstGeom>
          <a:noFill/>
          <a:ln/>
        </p:spPr>
        <p:txBody>
          <a:bodyPr wrap="square" lIns="0" tIns="0" rIns="0" bIns="0" rtlCol="0" anchor="t"/>
          <a:lstStyle/>
          <a:p>
            <a:pPr indent="0" marL="0">
              <a:buNone/>
            </a:pPr>
            <a:r>
              <a:rPr lang="en-US" sz="1800" b="1" dirty="0">
                <a:solidFill>
                  <a:schemeClr val="tx1"/>
                </a:solidFill>
              </a:rPr>
              <a:t>Life of one engine</a:t>
            </a:r>
            <a:endParaRPr lang="en-US" sz="1800" dirty="0"/>
          </a:p>
        </p:txBody>
      </p:sp>
      <p:sp>
        <p:nvSpPr>
          <p:cNvPr id="17" name="life64"/>
          <p:cNvSpPr/>
          <p:nvPr/>
        </p:nvSpPr>
        <p:spPr>
          <a:xfrm>
            <a:off x="548640" y="4206240"/>
            <a:ext cx="2743200" cy="640080"/>
          </a:xfrm>
          <a:prstGeom prst="rect">
            <a:avLst/>
          </a:prstGeom>
          <a:solidFill>
            <a:schemeClr val="accent3"/>
          </a:solidFill>
          <a:ln w="12700">
            <a:solidFill>
              <a:schemeClr val="accent3"/>
            </a:solidFill>
            <a:prstDash val="solid"/>
          </a:ln>
        </p:spPr>
      </p:sp>
      <p:sp>
        <p:nvSpPr>
          <p:cNvPr id="18" name="text65"/>
          <p:cNvSpPr txBox="1"/>
          <p:nvPr/>
        </p:nvSpPr>
        <p:spPr>
          <a:xfrm>
            <a:off x="548640" y="4206240"/>
            <a:ext cx="2743200" cy="640080"/>
          </a:xfrm>
          <a:prstGeom prst="rect">
            <a:avLst/>
          </a:prstGeom>
          <a:noFill/>
          <a:ln/>
        </p:spPr>
        <p:txBody>
          <a:bodyPr wrap="square" lIns="0" tIns="0" rIns="0" bIns="0" rtlCol="0" anchor="ctr"/>
          <a:lstStyle/>
          <a:p>
            <a:pPr algn="ctr" indent="0" marL="0">
              <a:buNone/>
            </a:pPr>
            <a:r>
              <a:rPr lang="en-US" sz="1500" b="1" dirty="0">
                <a:solidFill>
                  <a:schemeClr val="bg1"/>
                </a:solidFill>
              </a:rPr>
              <a:t>Healthy</a:t>
            </a:r>
            <a:endParaRPr lang="en-US" sz="1500" dirty="0"/>
          </a:p>
        </p:txBody>
      </p:sp>
      <p:sp>
        <p:nvSpPr>
          <p:cNvPr id="19" name="life66"/>
          <p:cNvSpPr/>
          <p:nvPr/>
        </p:nvSpPr>
        <p:spPr>
          <a:xfrm>
            <a:off x="3291840" y="4206240"/>
            <a:ext cx="5120640" cy="640080"/>
          </a:xfrm>
          <a:prstGeom prst="rect">
            <a:avLst/>
          </a:prstGeom>
          <a:solidFill>
            <a:schemeClr val="accent2"/>
          </a:solidFill>
          <a:ln w="12700">
            <a:solidFill>
              <a:schemeClr val="accent2"/>
            </a:solidFill>
            <a:prstDash val="solid"/>
          </a:ln>
        </p:spPr>
      </p:sp>
      <p:sp>
        <p:nvSpPr>
          <p:cNvPr id="20" name="text67"/>
          <p:cNvSpPr txBox="1"/>
          <p:nvPr/>
        </p:nvSpPr>
        <p:spPr>
          <a:xfrm>
            <a:off x="3291840" y="4206240"/>
            <a:ext cx="5120640" cy="640080"/>
          </a:xfrm>
          <a:prstGeom prst="rect">
            <a:avLst/>
          </a:prstGeom>
          <a:noFill/>
          <a:ln/>
        </p:spPr>
        <p:txBody>
          <a:bodyPr wrap="square" lIns="0" tIns="0" rIns="0" bIns="0" rtlCol="0" anchor="ctr"/>
          <a:lstStyle/>
          <a:p>
            <a:pPr algn="ctr" indent="0" marL="0">
              <a:buNone/>
            </a:pPr>
            <a:r>
              <a:rPr lang="en-US" sz="1500" b="1" dirty="0">
                <a:solidFill>
                  <a:schemeClr val="bg1"/>
                </a:solidFill>
              </a:rPr>
              <a:t>Gradual degradation</a:t>
            </a:r>
            <a:endParaRPr lang="en-US" sz="1500" dirty="0"/>
          </a:p>
        </p:txBody>
      </p:sp>
      <p:sp>
        <p:nvSpPr>
          <p:cNvPr id="21" name="life68"/>
          <p:cNvSpPr/>
          <p:nvPr/>
        </p:nvSpPr>
        <p:spPr>
          <a:xfrm>
            <a:off x="8412480" y="4206240"/>
            <a:ext cx="3200400" cy="640080"/>
          </a:xfrm>
          <a:prstGeom prst="rect">
            <a:avLst/>
          </a:prstGeom>
          <a:solidFill>
            <a:schemeClr val="accent4"/>
          </a:solidFill>
          <a:ln w="12700">
            <a:solidFill>
              <a:schemeClr val="accent4"/>
            </a:solidFill>
            <a:prstDash val="solid"/>
          </a:ln>
        </p:spPr>
      </p:sp>
      <p:sp>
        <p:nvSpPr>
          <p:cNvPr id="22" name="text69"/>
          <p:cNvSpPr txBox="1"/>
          <p:nvPr/>
        </p:nvSpPr>
        <p:spPr>
          <a:xfrm>
            <a:off x="8412480" y="4206240"/>
            <a:ext cx="3200400" cy="640080"/>
          </a:xfrm>
          <a:prstGeom prst="rect">
            <a:avLst/>
          </a:prstGeom>
          <a:noFill/>
          <a:ln/>
        </p:spPr>
        <p:txBody>
          <a:bodyPr wrap="square" lIns="0" tIns="0" rIns="0" bIns="0" rtlCol="0" anchor="ctr"/>
          <a:lstStyle/>
          <a:p>
            <a:pPr algn="ctr" indent="0" marL="0">
              <a:buNone/>
            </a:pPr>
            <a:r>
              <a:rPr lang="en-US" sz="1500" b="1" dirty="0">
                <a:solidFill>
                  <a:schemeClr val="bg1"/>
                </a:solidFill>
              </a:rPr>
              <a:t>Abnormal, then failure</a:t>
            </a:r>
            <a:endParaRPr lang="en-US" sz="1500" dirty="0"/>
          </a:p>
        </p:txBody>
      </p:sp>
      <p:sp>
        <p:nvSpPr>
          <p:cNvPr id="23" name="text70"/>
          <p:cNvSpPr txBox="1"/>
          <p:nvPr/>
        </p:nvSpPr>
        <p:spPr>
          <a:xfrm>
            <a:off x="548640" y="4892040"/>
            <a:ext cx="1828800" cy="274320"/>
          </a:xfrm>
          <a:prstGeom prst="rect">
            <a:avLst/>
          </a:prstGeom>
          <a:noFill/>
          <a:ln/>
        </p:spPr>
        <p:txBody>
          <a:bodyPr wrap="square" lIns="0" tIns="0" rIns="0" bIns="0" rtlCol="0" anchor="t"/>
          <a:lstStyle/>
          <a:p>
            <a:pPr indent="0" marL="0">
              <a:buNone/>
            </a:pPr>
            <a:r>
              <a:rPr lang="en-US" sz="1100" dirty="0">
                <a:solidFill>
                  <a:schemeClr val="tx2"/>
                </a:solidFill>
              </a:rPr>
              <a:t>cycle 1</a:t>
            </a:r>
            <a:endParaRPr lang="en-US" sz="1100" dirty="0"/>
          </a:p>
        </p:txBody>
      </p:sp>
      <p:sp>
        <p:nvSpPr>
          <p:cNvPr id="24" name="text71"/>
          <p:cNvSpPr txBox="1"/>
          <p:nvPr/>
        </p:nvSpPr>
        <p:spPr>
          <a:xfrm>
            <a:off x="9784080" y="4892040"/>
            <a:ext cx="1828800" cy="274320"/>
          </a:xfrm>
          <a:prstGeom prst="rect">
            <a:avLst/>
          </a:prstGeom>
          <a:noFill/>
          <a:ln/>
        </p:spPr>
        <p:txBody>
          <a:bodyPr wrap="square" lIns="0" tIns="0" rIns="0" bIns="0" rtlCol="0" anchor="t"/>
          <a:lstStyle/>
          <a:p>
            <a:pPr algn="r" indent="0" marL="0">
              <a:buNone/>
            </a:pPr>
            <a:r>
              <a:rPr lang="en-US" sz="1100" dirty="0">
                <a:solidFill>
                  <a:schemeClr val="tx2"/>
                </a:solidFill>
              </a:rPr>
              <a:t>failure</a:t>
            </a:r>
            <a:endParaRPr lang="en-US" sz="1100" dirty="0"/>
          </a:p>
        </p:txBody>
      </p:sp>
      <p:sp>
        <p:nvSpPr>
          <p:cNvPr id="25" name="text72"/>
          <p:cNvSpPr txBox="1"/>
          <p:nvPr/>
        </p:nvSpPr>
        <p:spPr>
          <a:xfrm>
            <a:off x="548640" y="5303520"/>
            <a:ext cx="11064240" cy="731520"/>
          </a:xfrm>
          <a:prstGeom prst="rect">
            <a:avLst/>
          </a:prstGeom>
          <a:noFill/>
          <a:ln/>
        </p:spPr>
        <p:txBody>
          <a:bodyPr wrap="square" lIns="0" tIns="0" rIns="0" bIns="0" rtlCol="0" anchor="t"/>
          <a:lstStyle/>
          <a:p>
            <a:pPr indent="0" marL="0">
              <a:buNone/>
            </a:pPr>
            <a:r>
              <a:rPr lang="en-US" sz="1500" dirty="0">
                <a:solidFill>
                  <a:schemeClr val="tx2"/>
                </a:solidFill>
              </a:rPr>
              <a:t>The first 20% of each engine's life defines "healthy". The last 30 cycles before failure are the "failing" class used to score detection.</a:t>
            </a:r>
            <a:endParaRPr lang="en-US" sz="15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200" b="1" dirty="0">
                <a:solidFill>
                  <a:schemeClr val="tx1"/>
                </a:solidFill>
              </a:rPr>
              <a:t>Preparing the data in four steps</a:t>
            </a:r>
            <a:endParaRPr lang="en-US" sz="3200" dirty="0"/>
          </a:p>
        </p:txBody>
      </p:sp>
      <p:sp>
        <p:nvSpPr>
          <p:cNvPr id="4" name="card73"/>
          <p:cNvSpPr/>
          <p:nvPr/>
        </p:nvSpPr>
        <p:spPr>
          <a:xfrm>
            <a:off x="548640" y="1463040"/>
            <a:ext cx="5394960" cy="2057400"/>
          </a:xfrm>
          <a:prstGeom prst="roundRect">
            <a:avLst>
              <a:gd name="adj" fmla="val 5333"/>
            </a:avLst>
          </a:prstGeom>
          <a:solidFill>
            <a:schemeClr val="bg2"/>
          </a:solidFill>
          <a:ln w="12700">
            <a:solidFill>
              <a:schemeClr val="bg2"/>
            </a:solidFill>
            <a:prstDash val="solid"/>
          </a:ln>
          <a:effectLst>
            <a:outerShdw sx="100000" sy="100000" kx="0" ky="0" algn="bl" rotWithShape="0" blurRad="101600" dist="25400" dir="5400000">
              <a:srgbClr val="0B1F3A">
                <a:alpha val="12000"/>
              </a:srgbClr>
            </a:outerShdw>
          </a:effectLst>
        </p:spPr>
      </p:sp>
      <p:sp>
        <p:nvSpPr>
          <p:cNvPr id="5" name="num74"/>
          <p:cNvSpPr/>
          <p:nvPr/>
        </p:nvSpPr>
        <p:spPr>
          <a:xfrm>
            <a:off x="822960" y="1737360"/>
            <a:ext cx="731520" cy="731520"/>
          </a:xfrm>
          <a:prstGeom prst="ellipse">
            <a:avLst/>
          </a:prstGeom>
          <a:solidFill>
            <a:schemeClr val="accent1"/>
          </a:solidFill>
          <a:ln w="12700">
            <a:solidFill>
              <a:schemeClr val="accent1"/>
            </a:solidFill>
            <a:prstDash val="solid"/>
          </a:ln>
        </p:spPr>
      </p:sp>
      <p:sp>
        <p:nvSpPr>
          <p:cNvPr id="6" name="text75"/>
          <p:cNvSpPr txBox="1"/>
          <p:nvPr/>
        </p:nvSpPr>
        <p:spPr>
          <a:xfrm>
            <a:off x="822960" y="1737360"/>
            <a:ext cx="731520" cy="731520"/>
          </a:xfrm>
          <a:prstGeom prst="rect">
            <a:avLst/>
          </a:prstGeom>
          <a:noFill/>
          <a:ln/>
        </p:spPr>
        <p:txBody>
          <a:bodyPr wrap="square" lIns="0" tIns="0" rIns="0" bIns="0" rtlCol="0" anchor="ctr"/>
          <a:lstStyle/>
          <a:p>
            <a:pPr algn="ctr" indent="0" marL="0">
              <a:buNone/>
            </a:pPr>
            <a:r>
              <a:rPr lang="en-US" sz="2400" b="1" dirty="0">
                <a:solidFill>
                  <a:schemeClr val="bg1"/>
                </a:solidFill>
              </a:rPr>
              <a:t>1</a:t>
            </a:r>
            <a:endParaRPr lang="en-US" sz="2400" dirty="0"/>
          </a:p>
        </p:txBody>
      </p:sp>
      <p:sp>
        <p:nvSpPr>
          <p:cNvPr id="7" name="text76"/>
          <p:cNvSpPr txBox="1"/>
          <p:nvPr/>
        </p:nvSpPr>
        <p:spPr>
          <a:xfrm>
            <a:off x="1783080" y="1737360"/>
            <a:ext cx="3931920" cy="411480"/>
          </a:xfrm>
          <a:prstGeom prst="rect">
            <a:avLst/>
          </a:prstGeom>
          <a:noFill/>
          <a:ln/>
        </p:spPr>
        <p:txBody>
          <a:bodyPr wrap="square" lIns="0" tIns="0" rIns="0" bIns="0" rtlCol="0" anchor="t"/>
          <a:lstStyle/>
          <a:p>
            <a:pPr indent="0" marL="0">
              <a:buNone/>
            </a:pPr>
            <a:r>
              <a:rPr lang="en-US" sz="2000" b="1" dirty="0">
                <a:solidFill>
                  <a:schemeClr val="tx1"/>
                </a:solidFill>
              </a:rPr>
              <a:t>Select sensors</a:t>
            </a:r>
            <a:endParaRPr lang="en-US" sz="2000" dirty="0"/>
          </a:p>
        </p:txBody>
      </p:sp>
      <p:sp>
        <p:nvSpPr>
          <p:cNvPr id="8" name="text77"/>
          <p:cNvSpPr txBox="1"/>
          <p:nvPr/>
        </p:nvSpPr>
        <p:spPr>
          <a:xfrm>
            <a:off x="1783080" y="2212848"/>
            <a:ext cx="3931920" cy="1188720"/>
          </a:xfrm>
          <a:prstGeom prst="rect">
            <a:avLst/>
          </a:prstGeom>
          <a:noFill/>
          <a:ln/>
        </p:spPr>
        <p:txBody>
          <a:bodyPr wrap="square" lIns="0" tIns="0" rIns="0" bIns="0" rtlCol="0" anchor="t"/>
          <a:lstStyle/>
          <a:p>
            <a:pPr indent="0" marL="0">
              <a:buNone/>
            </a:pPr>
            <a:r>
              <a:rPr lang="en-US" sz="1700" dirty="0">
                <a:solidFill>
                  <a:schemeClr val="tx2"/>
                </a:solidFill>
              </a:rPr>
              <a:t>Drop channels with two or fewer distinct values. FD001 keeps sensors 2, 3, 4, 7, 8, 9, 11, 12, 13, 14, 15, 17, 20, 21.</a:t>
            </a:r>
            <a:endParaRPr lang="en-US" sz="1700" dirty="0"/>
          </a:p>
        </p:txBody>
      </p:sp>
      <p:sp>
        <p:nvSpPr>
          <p:cNvPr id="9" name="card78"/>
          <p:cNvSpPr/>
          <p:nvPr/>
        </p:nvSpPr>
        <p:spPr>
          <a:xfrm>
            <a:off x="6217920" y="1463040"/>
            <a:ext cx="5394960" cy="2057400"/>
          </a:xfrm>
          <a:prstGeom prst="roundRect">
            <a:avLst>
              <a:gd name="adj" fmla="val 5333"/>
            </a:avLst>
          </a:prstGeom>
          <a:solidFill>
            <a:schemeClr val="bg2"/>
          </a:solidFill>
          <a:ln w="12700">
            <a:solidFill>
              <a:schemeClr val="bg2"/>
            </a:solidFill>
            <a:prstDash val="solid"/>
          </a:ln>
          <a:effectLst>
            <a:outerShdw sx="100000" sy="100000" kx="0" ky="0" algn="bl" rotWithShape="0" blurRad="101600" dist="25400" dir="5400000">
              <a:srgbClr val="0B1F3A">
                <a:alpha val="12000"/>
              </a:srgbClr>
            </a:outerShdw>
          </a:effectLst>
        </p:spPr>
      </p:sp>
      <p:sp>
        <p:nvSpPr>
          <p:cNvPr id="10" name="num79"/>
          <p:cNvSpPr/>
          <p:nvPr/>
        </p:nvSpPr>
        <p:spPr>
          <a:xfrm>
            <a:off x="6492240" y="1737360"/>
            <a:ext cx="731520" cy="731520"/>
          </a:xfrm>
          <a:prstGeom prst="ellipse">
            <a:avLst/>
          </a:prstGeom>
          <a:solidFill>
            <a:schemeClr val="accent1"/>
          </a:solidFill>
          <a:ln w="12700">
            <a:solidFill>
              <a:schemeClr val="accent1"/>
            </a:solidFill>
            <a:prstDash val="solid"/>
          </a:ln>
        </p:spPr>
      </p:sp>
      <p:sp>
        <p:nvSpPr>
          <p:cNvPr id="11" name="text80"/>
          <p:cNvSpPr txBox="1"/>
          <p:nvPr/>
        </p:nvSpPr>
        <p:spPr>
          <a:xfrm>
            <a:off x="6492240" y="1737360"/>
            <a:ext cx="731520" cy="731520"/>
          </a:xfrm>
          <a:prstGeom prst="rect">
            <a:avLst/>
          </a:prstGeom>
          <a:noFill/>
          <a:ln/>
        </p:spPr>
        <p:txBody>
          <a:bodyPr wrap="square" lIns="0" tIns="0" rIns="0" bIns="0" rtlCol="0" anchor="ctr"/>
          <a:lstStyle/>
          <a:p>
            <a:pPr algn="ctr" indent="0" marL="0">
              <a:buNone/>
            </a:pPr>
            <a:r>
              <a:rPr lang="en-US" sz="2400" b="1" dirty="0">
                <a:solidFill>
                  <a:schemeClr val="bg1"/>
                </a:solidFill>
              </a:rPr>
              <a:t>2</a:t>
            </a:r>
            <a:endParaRPr lang="en-US" sz="2400" dirty="0"/>
          </a:p>
        </p:txBody>
      </p:sp>
      <p:sp>
        <p:nvSpPr>
          <p:cNvPr id="12" name="text81"/>
          <p:cNvSpPr txBox="1"/>
          <p:nvPr/>
        </p:nvSpPr>
        <p:spPr>
          <a:xfrm>
            <a:off x="7452360" y="1737360"/>
            <a:ext cx="3931920" cy="411480"/>
          </a:xfrm>
          <a:prstGeom prst="rect">
            <a:avLst/>
          </a:prstGeom>
          <a:noFill/>
          <a:ln/>
        </p:spPr>
        <p:txBody>
          <a:bodyPr wrap="square" lIns="0" tIns="0" rIns="0" bIns="0" rtlCol="0" anchor="t"/>
          <a:lstStyle/>
          <a:p>
            <a:pPr indent="0" marL="0">
              <a:buNone/>
            </a:pPr>
            <a:r>
              <a:rPr lang="en-US" sz="2000" b="1" dirty="0">
                <a:solidFill>
                  <a:schemeClr val="tx1"/>
                </a:solidFill>
              </a:rPr>
              <a:t>Optional noise</a:t>
            </a:r>
            <a:endParaRPr lang="en-US" sz="2000" dirty="0"/>
          </a:p>
        </p:txBody>
      </p:sp>
      <p:sp>
        <p:nvSpPr>
          <p:cNvPr id="13" name="text82"/>
          <p:cNvSpPr txBox="1"/>
          <p:nvPr/>
        </p:nvSpPr>
        <p:spPr>
          <a:xfrm>
            <a:off x="7452360" y="2212848"/>
            <a:ext cx="3931920" cy="1188720"/>
          </a:xfrm>
          <a:prstGeom prst="rect">
            <a:avLst/>
          </a:prstGeom>
          <a:noFill/>
          <a:ln/>
        </p:spPr>
        <p:txBody>
          <a:bodyPr wrap="square" lIns="0" tIns="0" rIns="0" bIns="0" rtlCol="0" anchor="t"/>
          <a:lstStyle/>
          <a:p>
            <a:pPr indent="0" marL="0">
              <a:buNone/>
            </a:pPr>
            <a:r>
              <a:rPr lang="en-US" sz="1700" dirty="0">
                <a:solidFill>
                  <a:schemeClr val="tx2"/>
                </a:solidFill>
              </a:rPr>
              <a:t>Add Gaussian noise as a percentage of each sensor's spread. Used only in the robustness experiment.</a:t>
            </a:r>
            <a:endParaRPr lang="en-US" sz="1700" dirty="0"/>
          </a:p>
        </p:txBody>
      </p:sp>
      <p:sp>
        <p:nvSpPr>
          <p:cNvPr id="14" name="card83"/>
          <p:cNvSpPr/>
          <p:nvPr/>
        </p:nvSpPr>
        <p:spPr>
          <a:xfrm>
            <a:off x="548640" y="3794760"/>
            <a:ext cx="5394960" cy="2057400"/>
          </a:xfrm>
          <a:prstGeom prst="roundRect">
            <a:avLst>
              <a:gd name="adj" fmla="val 5333"/>
            </a:avLst>
          </a:prstGeom>
          <a:solidFill>
            <a:schemeClr val="bg2"/>
          </a:solidFill>
          <a:ln w="12700">
            <a:solidFill>
              <a:schemeClr val="bg2"/>
            </a:solidFill>
            <a:prstDash val="solid"/>
          </a:ln>
          <a:effectLst>
            <a:outerShdw sx="100000" sy="100000" kx="0" ky="0" algn="bl" rotWithShape="0" blurRad="101600" dist="25400" dir="5400000">
              <a:srgbClr val="0B1F3A">
                <a:alpha val="12000"/>
              </a:srgbClr>
            </a:outerShdw>
          </a:effectLst>
        </p:spPr>
      </p:sp>
      <p:sp>
        <p:nvSpPr>
          <p:cNvPr id="15" name="num84"/>
          <p:cNvSpPr/>
          <p:nvPr/>
        </p:nvSpPr>
        <p:spPr>
          <a:xfrm>
            <a:off x="822960" y="4069080"/>
            <a:ext cx="731520" cy="731520"/>
          </a:xfrm>
          <a:prstGeom prst="ellipse">
            <a:avLst/>
          </a:prstGeom>
          <a:solidFill>
            <a:schemeClr val="accent1"/>
          </a:solidFill>
          <a:ln w="12700">
            <a:solidFill>
              <a:schemeClr val="accent1"/>
            </a:solidFill>
            <a:prstDash val="solid"/>
          </a:ln>
        </p:spPr>
      </p:sp>
      <p:sp>
        <p:nvSpPr>
          <p:cNvPr id="16" name="text85"/>
          <p:cNvSpPr txBox="1"/>
          <p:nvPr/>
        </p:nvSpPr>
        <p:spPr>
          <a:xfrm>
            <a:off x="822960" y="4069080"/>
            <a:ext cx="731520" cy="731520"/>
          </a:xfrm>
          <a:prstGeom prst="rect">
            <a:avLst/>
          </a:prstGeom>
          <a:noFill/>
          <a:ln/>
        </p:spPr>
        <p:txBody>
          <a:bodyPr wrap="square" lIns="0" tIns="0" rIns="0" bIns="0" rtlCol="0" anchor="ctr"/>
          <a:lstStyle/>
          <a:p>
            <a:pPr algn="ctr" indent="0" marL="0">
              <a:buNone/>
            </a:pPr>
            <a:r>
              <a:rPr lang="en-US" sz="2400" b="1" dirty="0">
                <a:solidFill>
                  <a:schemeClr val="bg1"/>
                </a:solidFill>
              </a:rPr>
              <a:t>3</a:t>
            </a:r>
            <a:endParaRPr lang="en-US" sz="2400" dirty="0"/>
          </a:p>
        </p:txBody>
      </p:sp>
      <p:sp>
        <p:nvSpPr>
          <p:cNvPr id="17" name="text86"/>
          <p:cNvSpPr txBox="1"/>
          <p:nvPr/>
        </p:nvSpPr>
        <p:spPr>
          <a:xfrm>
            <a:off x="1783080" y="4069080"/>
            <a:ext cx="3931920" cy="411480"/>
          </a:xfrm>
          <a:prstGeom prst="rect">
            <a:avLst/>
          </a:prstGeom>
          <a:noFill/>
          <a:ln/>
        </p:spPr>
        <p:txBody>
          <a:bodyPr wrap="square" lIns="0" tIns="0" rIns="0" bIns="0" rtlCol="0" anchor="t"/>
          <a:lstStyle/>
          <a:p>
            <a:pPr indent="0" marL="0">
              <a:buNone/>
            </a:pPr>
            <a:r>
              <a:rPr lang="en-US" sz="2000" b="1" dirty="0">
                <a:solidFill>
                  <a:schemeClr val="tx1"/>
                </a:solidFill>
              </a:rPr>
              <a:t>Split by engine</a:t>
            </a:r>
            <a:endParaRPr lang="en-US" sz="2000" dirty="0"/>
          </a:p>
        </p:txBody>
      </p:sp>
      <p:sp>
        <p:nvSpPr>
          <p:cNvPr id="18" name="text87"/>
          <p:cNvSpPr txBox="1"/>
          <p:nvPr/>
        </p:nvSpPr>
        <p:spPr>
          <a:xfrm>
            <a:off x="1783080" y="4544568"/>
            <a:ext cx="3931920" cy="1188720"/>
          </a:xfrm>
          <a:prstGeom prst="rect">
            <a:avLst/>
          </a:prstGeom>
          <a:noFill/>
          <a:ln/>
        </p:spPr>
        <p:txBody>
          <a:bodyPr wrap="square" lIns="0" tIns="0" rIns="0" bIns="0" rtlCol="0" anchor="t"/>
          <a:lstStyle/>
          <a:p>
            <a:pPr indent="0" marL="0">
              <a:buNone/>
            </a:pPr>
            <a:r>
              <a:rPr lang="en-US" sz="1700" dirty="0">
                <a:solidFill>
                  <a:schemeClr val="tx2"/>
                </a:solidFill>
              </a:rPr>
              <a:t>First 80% of engines fit the model. The remaining engines are held out for every reported metric.</a:t>
            </a:r>
            <a:endParaRPr lang="en-US" sz="1700" dirty="0"/>
          </a:p>
        </p:txBody>
      </p:sp>
      <p:sp>
        <p:nvSpPr>
          <p:cNvPr id="19" name="card88"/>
          <p:cNvSpPr/>
          <p:nvPr/>
        </p:nvSpPr>
        <p:spPr>
          <a:xfrm>
            <a:off x="6217920" y="3794760"/>
            <a:ext cx="5394960" cy="2057400"/>
          </a:xfrm>
          <a:prstGeom prst="roundRect">
            <a:avLst>
              <a:gd name="adj" fmla="val 5333"/>
            </a:avLst>
          </a:prstGeom>
          <a:solidFill>
            <a:schemeClr val="bg2"/>
          </a:solidFill>
          <a:ln w="12700">
            <a:solidFill>
              <a:schemeClr val="bg2"/>
            </a:solidFill>
            <a:prstDash val="solid"/>
          </a:ln>
          <a:effectLst>
            <a:outerShdw sx="100000" sy="100000" kx="0" ky="0" algn="bl" rotWithShape="0" blurRad="101600" dist="25400" dir="5400000">
              <a:srgbClr val="0B1F3A">
                <a:alpha val="12000"/>
              </a:srgbClr>
            </a:outerShdw>
          </a:effectLst>
        </p:spPr>
      </p:sp>
      <p:sp>
        <p:nvSpPr>
          <p:cNvPr id="20" name="num89"/>
          <p:cNvSpPr/>
          <p:nvPr/>
        </p:nvSpPr>
        <p:spPr>
          <a:xfrm>
            <a:off x="6492240" y="4069080"/>
            <a:ext cx="731520" cy="731520"/>
          </a:xfrm>
          <a:prstGeom prst="ellipse">
            <a:avLst/>
          </a:prstGeom>
          <a:solidFill>
            <a:schemeClr val="accent1"/>
          </a:solidFill>
          <a:ln w="12700">
            <a:solidFill>
              <a:schemeClr val="accent1"/>
            </a:solidFill>
            <a:prstDash val="solid"/>
          </a:ln>
        </p:spPr>
      </p:sp>
      <p:sp>
        <p:nvSpPr>
          <p:cNvPr id="21" name="text90"/>
          <p:cNvSpPr txBox="1"/>
          <p:nvPr/>
        </p:nvSpPr>
        <p:spPr>
          <a:xfrm>
            <a:off x="6492240" y="4069080"/>
            <a:ext cx="731520" cy="731520"/>
          </a:xfrm>
          <a:prstGeom prst="rect">
            <a:avLst/>
          </a:prstGeom>
          <a:noFill/>
          <a:ln/>
        </p:spPr>
        <p:txBody>
          <a:bodyPr wrap="square" lIns="0" tIns="0" rIns="0" bIns="0" rtlCol="0" anchor="ctr"/>
          <a:lstStyle/>
          <a:p>
            <a:pPr algn="ctr" indent="0" marL="0">
              <a:buNone/>
            </a:pPr>
            <a:r>
              <a:rPr lang="en-US" sz="2400" b="1" dirty="0">
                <a:solidFill>
                  <a:schemeClr val="bg1"/>
                </a:solidFill>
              </a:rPr>
              <a:t>4</a:t>
            </a:r>
            <a:endParaRPr lang="en-US" sz="2400" dirty="0"/>
          </a:p>
        </p:txBody>
      </p:sp>
      <p:sp>
        <p:nvSpPr>
          <p:cNvPr id="22" name="text91"/>
          <p:cNvSpPr txBox="1"/>
          <p:nvPr/>
        </p:nvSpPr>
        <p:spPr>
          <a:xfrm>
            <a:off x="7452360" y="4069080"/>
            <a:ext cx="3931920" cy="411480"/>
          </a:xfrm>
          <a:prstGeom prst="rect">
            <a:avLst/>
          </a:prstGeom>
          <a:noFill/>
          <a:ln/>
        </p:spPr>
        <p:txBody>
          <a:bodyPr wrap="square" lIns="0" tIns="0" rIns="0" bIns="0" rtlCol="0" anchor="t"/>
          <a:lstStyle/>
          <a:p>
            <a:pPr indent="0" marL="0">
              <a:buNone/>
            </a:pPr>
            <a:r>
              <a:rPr lang="en-US" sz="2000" b="1" dirty="0">
                <a:solidFill>
                  <a:schemeClr val="tx1"/>
                </a:solidFill>
              </a:rPr>
              <a:t>Standardise</a:t>
            </a:r>
            <a:endParaRPr lang="en-US" sz="2000" dirty="0"/>
          </a:p>
        </p:txBody>
      </p:sp>
      <p:sp>
        <p:nvSpPr>
          <p:cNvPr id="23" name="text92"/>
          <p:cNvSpPr txBox="1"/>
          <p:nvPr/>
        </p:nvSpPr>
        <p:spPr>
          <a:xfrm>
            <a:off x="7452360" y="4544568"/>
            <a:ext cx="3931920" cy="1188720"/>
          </a:xfrm>
          <a:prstGeom prst="rect">
            <a:avLst/>
          </a:prstGeom>
          <a:noFill/>
          <a:ln/>
        </p:spPr>
        <p:txBody>
          <a:bodyPr wrap="square" lIns="0" tIns="0" rIns="0" bIns="0" rtlCol="0" anchor="t"/>
          <a:lstStyle/>
          <a:p>
            <a:pPr indent="0" marL="0">
              <a:buNone/>
            </a:pPr>
            <a:r>
              <a:rPr lang="en-US" sz="1700" dirty="0">
                <a:solidFill>
                  <a:schemeClr val="tx2"/>
                </a:solidFill>
              </a:rPr>
              <a:t>Subtract the mean and divide by the standard deviation of the fitting engines, so no sensor dominates.</a:t>
            </a:r>
            <a:endParaRPr lang="en-US" sz="17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200" b="1" dirty="0">
                <a:solidFill>
                  <a:schemeClr val="tx1"/>
                </a:solidFill>
              </a:rPr>
              <a:t>Classical PCA: the baseline for every result</a:t>
            </a:r>
            <a:endParaRPr lang="en-US" sz="3200" dirty="0"/>
          </a:p>
        </p:txBody>
      </p:sp>
      <p:sp>
        <p:nvSpPr>
          <p:cNvPr id="4" name="card93"/>
          <p:cNvSpPr/>
          <p:nvPr/>
        </p:nvSpPr>
        <p:spPr>
          <a:xfrm>
            <a:off x="548640" y="1463040"/>
            <a:ext cx="5120640" cy="2011680"/>
          </a:xfrm>
          <a:prstGeom prst="roundRect">
            <a:avLst>
              <a:gd name="adj" fmla="val 5455"/>
            </a:avLst>
          </a:prstGeom>
          <a:solidFill>
            <a:schemeClr val="tx1"/>
          </a:solidFill>
          <a:ln w="12700">
            <a:solidFill>
              <a:schemeClr val="tx1"/>
            </a:solidFill>
            <a:prstDash val="solid"/>
          </a:ln>
          <a:effectLst>
            <a:outerShdw sx="100000" sy="100000" kx="0" ky="0" algn="bl" rotWithShape="0" blurRad="101600" dist="25400" dir="5400000">
              <a:srgbClr val="0B1F3A">
                <a:alpha val="12000"/>
              </a:srgbClr>
            </a:outerShdw>
          </a:effectLst>
        </p:spPr>
      </p:sp>
      <p:sp>
        <p:nvSpPr>
          <p:cNvPr id="5" name="text94"/>
          <p:cNvSpPr txBox="1"/>
          <p:nvPr/>
        </p:nvSpPr>
        <p:spPr>
          <a:xfrm>
            <a:off x="822960" y="1627632"/>
            <a:ext cx="4572000" cy="365760"/>
          </a:xfrm>
          <a:prstGeom prst="rect">
            <a:avLst/>
          </a:prstGeom>
          <a:noFill/>
          <a:ln/>
        </p:spPr>
        <p:txBody>
          <a:bodyPr wrap="square" lIns="0" tIns="0" rIns="0" bIns="0" rtlCol="0" anchor="t"/>
          <a:lstStyle/>
          <a:p>
            <a:pPr indent="0" marL="0">
              <a:buNone/>
            </a:pPr>
            <a:r>
              <a:rPr lang="en-US" sz="1600" dirty="0">
                <a:solidFill>
                  <a:schemeClr val="accent6"/>
                </a:solidFill>
              </a:rPr>
              <a:t>Covariance matrix</a:t>
            </a:r>
            <a:endParaRPr lang="en-US" sz="1600" dirty="0"/>
          </a:p>
        </p:txBody>
      </p:sp>
      <p:sp>
        <p:nvSpPr>
          <p:cNvPr id="6" name="text95"/>
          <p:cNvSpPr txBox="1"/>
          <p:nvPr/>
        </p:nvSpPr>
        <p:spPr>
          <a:xfrm>
            <a:off x="822960" y="2011680"/>
            <a:ext cx="4572000" cy="731520"/>
          </a:xfrm>
          <a:prstGeom prst="rect">
            <a:avLst/>
          </a:prstGeom>
          <a:noFill/>
          <a:ln/>
        </p:spPr>
        <p:txBody>
          <a:bodyPr wrap="square" lIns="0" tIns="0" rIns="0" bIns="0" rtlCol="0" anchor="t"/>
          <a:lstStyle/>
          <a:p>
            <a:pPr indent="0" marL="0">
              <a:buNone/>
            </a:pPr>
            <a:r>
              <a:rPr lang="en-US" sz="3600" b="1" dirty="0">
                <a:solidFill>
                  <a:schemeClr val="bg1"/>
                </a:solidFill>
                <a:latin typeface="Cambria" pitchFamily="34" charset="0"/>
                <a:ea typeface="Cambria" pitchFamily="34" charset="-122"/>
                <a:cs typeface="Cambria" pitchFamily="34" charset="-120"/>
              </a:rPr>
              <a:t>C = X</a:t>
            </a:r>
            <a:pPr indent="0" marL="0">
              <a:buNone/>
            </a:pPr>
            <a:r>
              <a:rPr lang="en-US" sz="3600" b="1" baseline="30000" dirty="0">
                <a:solidFill>
                  <a:schemeClr val="bg1"/>
                </a:solidFill>
                <a:latin typeface="Cambria" pitchFamily="34" charset="0"/>
                <a:ea typeface="Cambria" pitchFamily="34" charset="-122"/>
                <a:cs typeface="Cambria" pitchFamily="34" charset="-120"/>
              </a:rPr>
              <a:t>T</a:t>
            </a:r>
            <a:pPr indent="0" marL="0">
              <a:buNone/>
            </a:pPr>
            <a:r>
              <a:rPr lang="en-US" sz="3600" b="1" dirty="0">
                <a:solidFill>
                  <a:schemeClr val="bg1"/>
                </a:solidFill>
                <a:latin typeface="Cambria" pitchFamily="34" charset="0"/>
                <a:ea typeface="Cambria" pitchFamily="34" charset="-122"/>
                <a:cs typeface="Cambria" pitchFamily="34" charset="-120"/>
              </a:rPr>
              <a:t>X / N</a:t>
            </a:r>
            <a:endParaRPr lang="en-US" sz="3600" dirty="0"/>
          </a:p>
        </p:txBody>
      </p:sp>
      <p:sp>
        <p:nvSpPr>
          <p:cNvPr id="7" name="text96"/>
          <p:cNvSpPr txBox="1"/>
          <p:nvPr/>
        </p:nvSpPr>
        <p:spPr>
          <a:xfrm>
            <a:off x="822960" y="2834640"/>
            <a:ext cx="4572000" cy="457200"/>
          </a:xfrm>
          <a:prstGeom prst="rect">
            <a:avLst/>
          </a:prstGeom>
          <a:noFill/>
          <a:ln/>
        </p:spPr>
        <p:txBody>
          <a:bodyPr wrap="square" lIns="0" tIns="0" rIns="0" bIns="0" rtlCol="0" anchor="t"/>
          <a:lstStyle/>
          <a:p>
            <a:pPr indent="0" marL="0">
              <a:buNone/>
            </a:pPr>
            <a:r>
              <a:rPr lang="en-US" sz="1400" dirty="0">
                <a:solidFill>
                  <a:schemeClr val="accent6"/>
                </a:solidFill>
              </a:rPr>
              <a:t>X: standardised sensor matrix, N cycles by 14 sensors</a:t>
            </a:r>
            <a:endParaRPr lang="en-US" sz="1400" dirty="0"/>
          </a:p>
        </p:txBody>
      </p:sp>
      <p:sp>
        <p:nvSpPr>
          <p:cNvPr id="8" name="card97"/>
          <p:cNvSpPr/>
          <p:nvPr/>
        </p:nvSpPr>
        <p:spPr>
          <a:xfrm>
            <a:off x="548640" y="3749040"/>
            <a:ext cx="5120640" cy="2194560"/>
          </a:xfrm>
          <a:prstGeom prst="roundRect">
            <a:avLst>
              <a:gd name="adj" fmla="val 5000"/>
            </a:avLst>
          </a:prstGeom>
          <a:solidFill>
            <a:schemeClr val="bg2"/>
          </a:solidFill>
          <a:ln w="12700">
            <a:solidFill>
              <a:schemeClr val="bg2"/>
            </a:solidFill>
            <a:prstDash val="solid"/>
          </a:ln>
          <a:effectLst>
            <a:outerShdw sx="100000" sy="100000" kx="0" ky="0" algn="bl" rotWithShape="0" blurRad="101600" dist="25400" dir="5400000">
              <a:srgbClr val="0B1F3A">
                <a:alpha val="12000"/>
              </a:srgbClr>
            </a:outerShdw>
          </a:effectLst>
        </p:spPr>
      </p:sp>
      <p:sp>
        <p:nvSpPr>
          <p:cNvPr id="9" name="text98"/>
          <p:cNvSpPr txBox="1"/>
          <p:nvPr/>
        </p:nvSpPr>
        <p:spPr>
          <a:xfrm>
            <a:off x="822960" y="3913632"/>
            <a:ext cx="4572000" cy="365760"/>
          </a:xfrm>
          <a:prstGeom prst="rect">
            <a:avLst/>
          </a:prstGeom>
          <a:noFill/>
          <a:ln/>
        </p:spPr>
        <p:txBody>
          <a:bodyPr wrap="square" lIns="0" tIns="0" rIns="0" bIns="0" rtlCol="0" anchor="t"/>
          <a:lstStyle/>
          <a:p>
            <a:pPr indent="0" marL="0">
              <a:buNone/>
            </a:pPr>
            <a:r>
              <a:rPr lang="en-US" sz="1600" dirty="0">
                <a:solidFill>
                  <a:schemeClr val="tx2"/>
                </a:solidFill>
              </a:rPr>
              <a:t>Eigen-decomposition</a:t>
            </a:r>
            <a:endParaRPr lang="en-US" sz="1600" dirty="0"/>
          </a:p>
        </p:txBody>
      </p:sp>
      <p:sp>
        <p:nvSpPr>
          <p:cNvPr id="10" name="text99"/>
          <p:cNvSpPr txBox="1"/>
          <p:nvPr/>
        </p:nvSpPr>
        <p:spPr>
          <a:xfrm>
            <a:off x="822960" y="4297680"/>
            <a:ext cx="4572000" cy="731520"/>
          </a:xfrm>
          <a:prstGeom prst="rect">
            <a:avLst/>
          </a:prstGeom>
          <a:noFill/>
          <a:ln/>
        </p:spPr>
        <p:txBody>
          <a:bodyPr wrap="square" lIns="0" tIns="0" rIns="0" bIns="0" rtlCol="0" anchor="t"/>
          <a:lstStyle/>
          <a:p>
            <a:pPr indent="0" marL="0">
              <a:buNone/>
            </a:pPr>
            <a:r>
              <a:rPr lang="en-US" sz="3600" b="1" dirty="0">
                <a:solidFill>
                  <a:schemeClr val="tx1"/>
                </a:solidFill>
                <a:latin typeface="Cambria" pitchFamily="34" charset="0"/>
                <a:ea typeface="Cambria" pitchFamily="34" charset="-122"/>
                <a:cs typeface="Cambria" pitchFamily="34" charset="-120"/>
              </a:rPr>
              <a:t>C v = λ v</a:t>
            </a:r>
            <a:endParaRPr lang="en-US" sz="3600" dirty="0"/>
          </a:p>
        </p:txBody>
      </p:sp>
      <p:sp>
        <p:nvSpPr>
          <p:cNvPr id="11" name="text100"/>
          <p:cNvSpPr txBox="1"/>
          <p:nvPr/>
        </p:nvSpPr>
        <p:spPr>
          <a:xfrm>
            <a:off x="822960" y="5074920"/>
            <a:ext cx="4572000" cy="731520"/>
          </a:xfrm>
          <a:prstGeom prst="rect">
            <a:avLst/>
          </a:prstGeom>
          <a:noFill/>
          <a:ln/>
        </p:spPr>
        <p:txBody>
          <a:bodyPr wrap="square" lIns="0" tIns="0" rIns="0" bIns="0" rtlCol="0" anchor="t"/>
          <a:lstStyle/>
          <a:p>
            <a:pPr indent="0" marL="0">
              <a:buNone/>
            </a:pPr>
            <a:r>
              <a:rPr lang="en-US" sz="1400" dirty="0">
                <a:solidFill>
                  <a:schemeClr val="tx2"/>
                </a:solidFill>
              </a:rPr>
              <a:t>v: principal component (a weighted mix of sensors)</a:t>
            </a:r>
            <a:endParaRPr lang="en-US" sz="1400" dirty="0"/>
          </a:p>
          <a:p>
            <a:pPr indent="0" marL="0">
              <a:buNone/>
            </a:pPr>
            <a:r>
              <a:rPr lang="en-US" sz="1400" dirty="0">
                <a:solidFill>
                  <a:schemeClr val="tx2"/>
                </a:solidFill>
              </a:rPr>
              <a:t>λ: variance carried by that component</a:t>
            </a:r>
            <a:endParaRPr lang="en-US" sz="1400" dirty="0"/>
          </a:p>
        </p:txBody>
      </p:sp>
      <p:sp>
        <p:nvSpPr>
          <p:cNvPr id="12" name="text101"/>
          <p:cNvSpPr txBox="1"/>
          <p:nvPr/>
        </p:nvSpPr>
        <p:spPr>
          <a:xfrm>
            <a:off x="6309360" y="1463040"/>
            <a:ext cx="5303520" cy="365760"/>
          </a:xfrm>
          <a:prstGeom prst="rect">
            <a:avLst/>
          </a:prstGeom>
          <a:noFill/>
          <a:ln/>
        </p:spPr>
        <p:txBody>
          <a:bodyPr wrap="square" lIns="0" tIns="0" rIns="0" bIns="0" rtlCol="0" anchor="t"/>
          <a:lstStyle/>
          <a:p>
            <a:pPr indent="0" marL="0">
              <a:buNone/>
            </a:pPr>
            <a:r>
              <a:rPr lang="en-US" sz="2000" b="1" dirty="0">
                <a:solidFill>
                  <a:schemeClr val="tx1"/>
                </a:solidFill>
              </a:rPr>
              <a:t>What the app shows</a:t>
            </a:r>
            <a:endParaRPr lang="en-US" sz="2000" dirty="0"/>
          </a:p>
        </p:txBody>
      </p:sp>
      <p:sp>
        <p:nvSpPr>
          <p:cNvPr id="13" name="dot102"/>
          <p:cNvSpPr/>
          <p:nvPr/>
        </p:nvSpPr>
        <p:spPr>
          <a:xfrm>
            <a:off x="6309360" y="2057400"/>
            <a:ext cx="777240" cy="777240"/>
          </a:xfrm>
          <a:prstGeom prst="ellipse">
            <a:avLst/>
          </a:prstGeom>
          <a:solidFill>
            <a:schemeClr val="accent1"/>
          </a:solidFill>
          <a:ln w="12700">
            <a:solidFill>
              <a:schemeClr val="accent1"/>
            </a:solidFill>
            <a:prstDash val="solid"/>
          </a:ln>
        </p:spPr>
      </p:sp>
      <p:pic>
        <p:nvPicPr>
          <p:cNvPr id="14" name="icon103" descr="preencoded.png">    </p:cNvPr>
          <p:cNvPicPr>
            <a:picLocks noChangeAspect="1"/>
          </p:cNvPicPr>
          <p:nvPr/>
        </p:nvPicPr>
        <p:blipFill>
          <a:blip r:embed="rId1"/>
          <a:stretch>
            <a:fillRect/>
          </a:stretch>
        </p:blipFill>
        <p:spPr>
          <a:xfrm>
            <a:off x="6503670" y="2251710"/>
            <a:ext cx="388620" cy="388620"/>
          </a:xfrm>
          <a:prstGeom prst="rect">
            <a:avLst/>
          </a:prstGeom>
        </p:spPr>
      </p:pic>
      <p:sp>
        <p:nvSpPr>
          <p:cNvPr id="15" name="text104"/>
          <p:cNvSpPr txBox="1"/>
          <p:nvPr/>
        </p:nvSpPr>
        <p:spPr>
          <a:xfrm>
            <a:off x="7315200" y="2057400"/>
            <a:ext cx="4297680" cy="365760"/>
          </a:xfrm>
          <a:prstGeom prst="rect">
            <a:avLst/>
          </a:prstGeom>
          <a:noFill/>
          <a:ln/>
        </p:spPr>
        <p:txBody>
          <a:bodyPr wrap="square" lIns="0" tIns="0" rIns="0" bIns="0" rtlCol="0" anchor="t"/>
          <a:lstStyle/>
          <a:p>
            <a:pPr indent="0" marL="0">
              <a:buNone/>
            </a:pPr>
            <a:r>
              <a:rPr lang="en-US" sz="1800" b="1" dirty="0">
                <a:solidFill>
                  <a:schemeClr val="tx1"/>
                </a:solidFill>
              </a:rPr>
              <a:t>Scree plot</a:t>
            </a:r>
            <a:endParaRPr lang="en-US" sz="1800" dirty="0"/>
          </a:p>
        </p:txBody>
      </p:sp>
      <p:sp>
        <p:nvSpPr>
          <p:cNvPr id="16" name="text105"/>
          <p:cNvSpPr txBox="1"/>
          <p:nvPr/>
        </p:nvSpPr>
        <p:spPr>
          <a:xfrm>
            <a:off x="7315200" y="2441448"/>
            <a:ext cx="4297680" cy="640080"/>
          </a:xfrm>
          <a:prstGeom prst="rect">
            <a:avLst/>
          </a:prstGeom>
          <a:noFill/>
          <a:ln/>
        </p:spPr>
        <p:txBody>
          <a:bodyPr wrap="square" lIns="0" tIns="0" rIns="0" bIns="0" rtlCol="0" anchor="t"/>
          <a:lstStyle/>
          <a:p>
            <a:pPr indent="0" marL="0">
              <a:buNone/>
            </a:pPr>
            <a:r>
              <a:rPr lang="en-US" sz="1400" dirty="0">
                <a:solidFill>
                  <a:schemeClr val="tx2"/>
                </a:solidFill>
              </a:rPr>
              <a:t>Share of variance per component, and the cumulative total.</a:t>
            </a:r>
            <a:endParaRPr lang="en-US" sz="1400" dirty="0"/>
          </a:p>
        </p:txBody>
      </p:sp>
      <p:sp>
        <p:nvSpPr>
          <p:cNvPr id="17" name="dot106"/>
          <p:cNvSpPr/>
          <p:nvPr/>
        </p:nvSpPr>
        <p:spPr>
          <a:xfrm>
            <a:off x="6309360" y="3383280"/>
            <a:ext cx="777240" cy="777240"/>
          </a:xfrm>
          <a:prstGeom prst="ellipse">
            <a:avLst/>
          </a:prstGeom>
          <a:solidFill>
            <a:schemeClr val="accent1"/>
          </a:solidFill>
          <a:ln w="12700">
            <a:solidFill>
              <a:schemeClr val="accent1"/>
            </a:solidFill>
            <a:prstDash val="solid"/>
          </a:ln>
        </p:spPr>
      </p:sp>
      <p:pic>
        <p:nvPicPr>
          <p:cNvPr id="18" name="icon107" descr="preencoded.png">    </p:cNvPr>
          <p:cNvPicPr>
            <a:picLocks noChangeAspect="1"/>
          </p:cNvPicPr>
          <p:nvPr/>
        </p:nvPicPr>
        <p:blipFill>
          <a:blip r:embed="rId2"/>
          <a:stretch>
            <a:fillRect/>
          </a:stretch>
        </p:blipFill>
        <p:spPr>
          <a:xfrm>
            <a:off x="6503670" y="3577590"/>
            <a:ext cx="388620" cy="388620"/>
          </a:xfrm>
          <a:prstGeom prst="rect">
            <a:avLst/>
          </a:prstGeom>
        </p:spPr>
      </p:pic>
      <p:sp>
        <p:nvSpPr>
          <p:cNvPr id="19" name="text108"/>
          <p:cNvSpPr txBox="1"/>
          <p:nvPr/>
        </p:nvSpPr>
        <p:spPr>
          <a:xfrm>
            <a:off x="7315200" y="3383280"/>
            <a:ext cx="4297680" cy="365760"/>
          </a:xfrm>
          <a:prstGeom prst="rect">
            <a:avLst/>
          </a:prstGeom>
          <a:noFill/>
          <a:ln/>
        </p:spPr>
        <p:txBody>
          <a:bodyPr wrap="square" lIns="0" tIns="0" rIns="0" bIns="0" rtlCol="0" anchor="t"/>
          <a:lstStyle/>
          <a:p>
            <a:pPr indent="0" marL="0">
              <a:buNone/>
            </a:pPr>
            <a:r>
              <a:rPr lang="en-US" sz="1800" b="1" dirty="0">
                <a:solidFill>
                  <a:schemeClr val="tx1"/>
                </a:solidFill>
              </a:rPr>
              <a:t>Loadings</a:t>
            </a:r>
            <a:endParaRPr lang="en-US" sz="1800" dirty="0"/>
          </a:p>
        </p:txBody>
      </p:sp>
      <p:sp>
        <p:nvSpPr>
          <p:cNvPr id="20" name="text109"/>
          <p:cNvSpPr txBox="1"/>
          <p:nvPr/>
        </p:nvSpPr>
        <p:spPr>
          <a:xfrm>
            <a:off x="7315200" y="3767328"/>
            <a:ext cx="4297680" cy="640080"/>
          </a:xfrm>
          <a:prstGeom prst="rect">
            <a:avLst/>
          </a:prstGeom>
          <a:noFill/>
          <a:ln/>
        </p:spPr>
        <p:txBody>
          <a:bodyPr wrap="square" lIns="0" tIns="0" rIns="0" bIns="0" rtlCol="0" anchor="t"/>
          <a:lstStyle/>
          <a:p>
            <a:pPr indent="0" marL="0">
              <a:buNone/>
            </a:pPr>
            <a:r>
              <a:rPr lang="en-US" sz="1400" dirty="0">
                <a:solidFill>
                  <a:schemeClr val="tx2"/>
                </a:solidFill>
              </a:rPr>
              <a:t>Which sensors drive each component.</a:t>
            </a:r>
            <a:endParaRPr lang="en-US" sz="1400" dirty="0"/>
          </a:p>
        </p:txBody>
      </p:sp>
      <p:sp>
        <p:nvSpPr>
          <p:cNvPr id="21" name="dot110"/>
          <p:cNvSpPr/>
          <p:nvPr/>
        </p:nvSpPr>
        <p:spPr>
          <a:xfrm>
            <a:off x="6309360" y="4709160"/>
            <a:ext cx="777240" cy="777240"/>
          </a:xfrm>
          <a:prstGeom prst="ellipse">
            <a:avLst/>
          </a:prstGeom>
          <a:solidFill>
            <a:schemeClr val="accent1"/>
          </a:solidFill>
          <a:ln w="12700">
            <a:solidFill>
              <a:schemeClr val="accent1"/>
            </a:solidFill>
            <a:prstDash val="solid"/>
          </a:ln>
        </p:spPr>
      </p:sp>
      <p:pic>
        <p:nvPicPr>
          <p:cNvPr id="22" name="icon111" descr="preencoded.png">    </p:cNvPr>
          <p:cNvPicPr>
            <a:picLocks noChangeAspect="1"/>
          </p:cNvPicPr>
          <p:nvPr/>
        </p:nvPicPr>
        <p:blipFill>
          <a:blip r:embed="rId3"/>
          <a:stretch>
            <a:fillRect/>
          </a:stretch>
        </p:blipFill>
        <p:spPr>
          <a:xfrm>
            <a:off x="6503670" y="4903470"/>
            <a:ext cx="388620" cy="388620"/>
          </a:xfrm>
          <a:prstGeom prst="rect">
            <a:avLst/>
          </a:prstGeom>
        </p:spPr>
      </p:pic>
      <p:sp>
        <p:nvSpPr>
          <p:cNvPr id="23" name="text112"/>
          <p:cNvSpPr txBox="1"/>
          <p:nvPr/>
        </p:nvSpPr>
        <p:spPr>
          <a:xfrm>
            <a:off x="7315200" y="4709160"/>
            <a:ext cx="4297680" cy="365760"/>
          </a:xfrm>
          <a:prstGeom prst="rect">
            <a:avLst/>
          </a:prstGeom>
          <a:noFill/>
          <a:ln/>
        </p:spPr>
        <p:txBody>
          <a:bodyPr wrap="square" lIns="0" tIns="0" rIns="0" bIns="0" rtlCol="0" anchor="t"/>
          <a:lstStyle/>
          <a:p>
            <a:pPr indent="0" marL="0">
              <a:buNone/>
            </a:pPr>
            <a:r>
              <a:rPr lang="en-US" sz="1800" b="1" dirty="0">
                <a:solidFill>
                  <a:schemeClr val="tx1"/>
                </a:solidFill>
              </a:rPr>
              <a:t>Projection</a:t>
            </a:r>
            <a:endParaRPr lang="en-US" sz="1800" dirty="0"/>
          </a:p>
        </p:txBody>
      </p:sp>
      <p:sp>
        <p:nvSpPr>
          <p:cNvPr id="24" name="text113"/>
          <p:cNvSpPr txBox="1"/>
          <p:nvPr/>
        </p:nvSpPr>
        <p:spPr>
          <a:xfrm>
            <a:off x="7315200" y="5093208"/>
            <a:ext cx="4297680" cy="640080"/>
          </a:xfrm>
          <a:prstGeom prst="rect">
            <a:avLst/>
          </a:prstGeom>
          <a:noFill/>
          <a:ln/>
        </p:spPr>
        <p:txBody>
          <a:bodyPr wrap="square" lIns="0" tIns="0" rIns="0" bIns="0" rtlCol="0" anchor="t"/>
          <a:lstStyle/>
          <a:p>
            <a:pPr indent="0" marL="0">
              <a:buNone/>
            </a:pPr>
            <a:r>
              <a:rPr lang="en-US" sz="1400" dirty="0">
                <a:solidFill>
                  <a:schemeClr val="tx2"/>
                </a:solidFill>
              </a:rPr>
              <a:t>z = V</a:t>
            </a:r>
            <a:pPr indent="0" marL="0">
              <a:buNone/>
            </a:pPr>
            <a:r>
              <a:rPr lang="en-US" sz="1400" baseline="-40000" dirty="0">
                <a:solidFill>
                  <a:schemeClr val="tx2"/>
                </a:solidFill>
              </a:rPr>
              <a:t>k</a:t>
            </a:r>
            <a:pPr indent="0" marL="0">
              <a:buNone/>
            </a:pPr>
            <a:r>
              <a:rPr lang="en-US" sz="1400" baseline="30000" dirty="0">
                <a:solidFill>
                  <a:schemeClr val="tx2"/>
                </a:solidFill>
              </a:rPr>
              <a:t>T</a:t>
            </a:r>
            <a:pPr indent="0" marL="0">
              <a:buNone/>
            </a:pPr>
            <a:r>
              <a:rPr lang="en-US" sz="1400" dirty="0">
                <a:solidFill>
                  <a:schemeClr val="tx2"/>
                </a:solidFill>
              </a:rPr>
              <a:t>x turns 14 readings into k coordinates.</a:t>
            </a:r>
            <a:endParaRPr 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200" b="1" dirty="0">
                <a:solidFill>
                  <a:schemeClr val="tx1"/>
                </a:solidFill>
              </a:rPr>
              <a:t>Quantum PCA: covariance becomes a quantum state</a:t>
            </a:r>
            <a:endParaRPr lang="en-US" sz="3200" dirty="0"/>
          </a:p>
        </p:txBody>
      </p:sp>
      <p:sp>
        <p:nvSpPr>
          <p:cNvPr id="4" name="card114"/>
          <p:cNvSpPr/>
          <p:nvPr/>
        </p:nvSpPr>
        <p:spPr>
          <a:xfrm>
            <a:off x="548640" y="1463040"/>
            <a:ext cx="2560320" cy="3200400"/>
          </a:xfrm>
          <a:prstGeom prst="roundRect">
            <a:avLst>
              <a:gd name="adj" fmla="val 4286"/>
            </a:avLst>
          </a:prstGeom>
          <a:solidFill>
            <a:schemeClr val="tx1"/>
          </a:solidFill>
          <a:ln w="12700">
            <a:solidFill>
              <a:schemeClr val="tx1"/>
            </a:solidFill>
            <a:prstDash val="solid"/>
          </a:ln>
          <a:effectLst>
            <a:outerShdw sx="100000" sy="100000" kx="0" ky="0" algn="bl" rotWithShape="0" blurRad="101600" dist="25400" dir="5400000">
              <a:srgbClr val="0B1F3A">
                <a:alpha val="12000"/>
              </a:srgbClr>
            </a:outerShdw>
          </a:effectLst>
        </p:spPr>
      </p:sp>
      <p:sp>
        <p:nvSpPr>
          <p:cNvPr id="5" name="text115"/>
          <p:cNvSpPr txBox="1"/>
          <p:nvPr/>
        </p:nvSpPr>
        <p:spPr>
          <a:xfrm>
            <a:off x="777240" y="1645920"/>
            <a:ext cx="2103120" cy="274320"/>
          </a:xfrm>
          <a:prstGeom prst="rect">
            <a:avLst/>
          </a:prstGeom>
          <a:noFill/>
          <a:ln/>
        </p:spPr>
        <p:txBody>
          <a:bodyPr wrap="square" lIns="0" tIns="0" rIns="0" bIns="0" rtlCol="0" anchor="t"/>
          <a:lstStyle/>
          <a:p>
            <a:pPr indent="0" marL="0">
              <a:buNone/>
            </a:pPr>
            <a:r>
              <a:rPr lang="en-US" sz="1100" b="1" spc="300" kern="0" dirty="0">
                <a:solidFill>
                  <a:schemeClr val="accent6"/>
                </a:solidFill>
              </a:rPr>
              <a:t>STEP 1</a:t>
            </a:r>
            <a:endParaRPr lang="en-US" sz="1100" dirty="0"/>
          </a:p>
        </p:txBody>
      </p:sp>
      <p:sp>
        <p:nvSpPr>
          <p:cNvPr id="6" name="text116"/>
          <p:cNvSpPr txBox="1"/>
          <p:nvPr/>
        </p:nvSpPr>
        <p:spPr>
          <a:xfrm>
            <a:off x="777240" y="1965960"/>
            <a:ext cx="2103120" cy="640080"/>
          </a:xfrm>
          <a:prstGeom prst="rect">
            <a:avLst/>
          </a:prstGeom>
          <a:noFill/>
          <a:ln/>
        </p:spPr>
        <p:txBody>
          <a:bodyPr wrap="square" lIns="0" tIns="0" rIns="0" bIns="0" rtlCol="0" anchor="ctr"/>
          <a:lstStyle/>
          <a:p>
            <a:pPr indent="0" marL="0">
              <a:buNone/>
            </a:pPr>
            <a:r>
              <a:rPr lang="en-US" sz="2400" b="1" dirty="0">
                <a:solidFill>
                  <a:schemeClr val="bg1"/>
                </a:solidFill>
                <a:latin typeface="Cambria" pitchFamily="34" charset="0"/>
                <a:ea typeface="Cambria" pitchFamily="34" charset="-122"/>
                <a:cs typeface="Cambria" pitchFamily="34" charset="-120"/>
              </a:rPr>
              <a:t>ρ = C / tr(C)</a:t>
            </a:r>
            <a:endParaRPr lang="en-US" sz="2400" dirty="0"/>
          </a:p>
        </p:txBody>
      </p:sp>
      <p:sp>
        <p:nvSpPr>
          <p:cNvPr id="7" name="text117"/>
          <p:cNvSpPr txBox="1"/>
          <p:nvPr/>
        </p:nvSpPr>
        <p:spPr>
          <a:xfrm>
            <a:off x="777240" y="2697480"/>
            <a:ext cx="2103120" cy="365760"/>
          </a:xfrm>
          <a:prstGeom prst="rect">
            <a:avLst/>
          </a:prstGeom>
          <a:noFill/>
          <a:ln/>
        </p:spPr>
        <p:txBody>
          <a:bodyPr wrap="square" lIns="0" tIns="0" rIns="0" bIns="0" rtlCol="0" anchor="t"/>
          <a:lstStyle/>
          <a:p>
            <a:pPr indent="0" marL="0">
              <a:buNone/>
            </a:pPr>
            <a:r>
              <a:rPr lang="en-US" sz="1600" b="1" dirty="0">
                <a:solidFill>
                  <a:schemeClr val="accent6"/>
                </a:solidFill>
              </a:rPr>
              <a:t>Density matrix</a:t>
            </a:r>
            <a:endParaRPr lang="en-US" sz="1600" dirty="0"/>
          </a:p>
        </p:txBody>
      </p:sp>
      <p:sp>
        <p:nvSpPr>
          <p:cNvPr id="8" name="text118"/>
          <p:cNvSpPr txBox="1"/>
          <p:nvPr/>
        </p:nvSpPr>
        <p:spPr>
          <a:xfrm>
            <a:off x="777240" y="3108960"/>
            <a:ext cx="2103120" cy="1417320"/>
          </a:xfrm>
          <a:prstGeom prst="rect">
            <a:avLst/>
          </a:prstGeom>
          <a:noFill/>
          <a:ln/>
        </p:spPr>
        <p:txBody>
          <a:bodyPr wrap="square" lIns="0" tIns="0" rIns="0" bIns="0" rtlCol="0" anchor="t"/>
          <a:lstStyle/>
          <a:p>
            <a:pPr indent="0" marL="0">
              <a:buNone/>
            </a:pPr>
            <a:r>
              <a:rPr lang="en-US" sz="1400" dirty="0">
                <a:solidFill>
                  <a:schemeClr val="bg1"/>
                </a:solidFill>
              </a:rPr>
              <a:t>Scaling by the trace gives a valid quantum state. Its eigenvalues are the fractions of variance.</a:t>
            </a:r>
            <a:endParaRPr lang="en-US" sz="1400" dirty="0"/>
          </a:p>
        </p:txBody>
      </p:sp>
      <p:sp>
        <p:nvSpPr>
          <p:cNvPr id="9" name="arrow119"/>
          <p:cNvSpPr/>
          <p:nvPr/>
        </p:nvSpPr>
        <p:spPr>
          <a:xfrm>
            <a:off x="3127248" y="3063240"/>
            <a:ext cx="237744" cy="0"/>
          </a:xfrm>
          <a:prstGeom prst="line">
            <a:avLst/>
          </a:prstGeom>
          <a:noFill/>
          <a:ln w="19050">
            <a:solidFill>
              <a:schemeClr val="tx2"/>
            </a:solidFill>
            <a:prstDash val="solid"/>
            <a:tailEnd type="triangle"/>
          </a:ln>
        </p:spPr>
      </p:sp>
      <p:sp>
        <p:nvSpPr>
          <p:cNvPr id="10" name="card120"/>
          <p:cNvSpPr/>
          <p:nvPr/>
        </p:nvSpPr>
        <p:spPr>
          <a:xfrm>
            <a:off x="3383280" y="1463040"/>
            <a:ext cx="2560320" cy="3200400"/>
          </a:xfrm>
          <a:prstGeom prst="roundRect">
            <a:avLst>
              <a:gd name="adj" fmla="val 4286"/>
            </a:avLst>
          </a:prstGeom>
          <a:solidFill>
            <a:schemeClr val="bg2"/>
          </a:solidFill>
          <a:ln w="12700">
            <a:solidFill>
              <a:schemeClr val="bg2"/>
            </a:solidFill>
            <a:prstDash val="solid"/>
          </a:ln>
          <a:effectLst>
            <a:outerShdw sx="100000" sy="100000" kx="0" ky="0" algn="bl" rotWithShape="0" blurRad="101600" dist="25400" dir="5400000">
              <a:srgbClr val="0B1F3A">
                <a:alpha val="12000"/>
              </a:srgbClr>
            </a:outerShdw>
          </a:effectLst>
        </p:spPr>
      </p:sp>
      <p:sp>
        <p:nvSpPr>
          <p:cNvPr id="11" name="text121"/>
          <p:cNvSpPr txBox="1"/>
          <p:nvPr/>
        </p:nvSpPr>
        <p:spPr>
          <a:xfrm>
            <a:off x="3611880" y="1645920"/>
            <a:ext cx="2103120" cy="274320"/>
          </a:xfrm>
          <a:prstGeom prst="rect">
            <a:avLst/>
          </a:prstGeom>
          <a:noFill/>
          <a:ln/>
        </p:spPr>
        <p:txBody>
          <a:bodyPr wrap="square" lIns="0" tIns="0" rIns="0" bIns="0" rtlCol="0" anchor="t"/>
          <a:lstStyle/>
          <a:p>
            <a:pPr indent="0" marL="0">
              <a:buNone/>
            </a:pPr>
            <a:r>
              <a:rPr lang="en-US" sz="1100" b="1" spc="300" kern="0" dirty="0">
                <a:solidFill>
                  <a:schemeClr val="accent1"/>
                </a:solidFill>
              </a:rPr>
              <a:t>STEP 2</a:t>
            </a:r>
            <a:endParaRPr lang="en-US" sz="1100" dirty="0"/>
          </a:p>
        </p:txBody>
      </p:sp>
      <p:sp>
        <p:nvSpPr>
          <p:cNvPr id="12" name="text122"/>
          <p:cNvSpPr txBox="1"/>
          <p:nvPr/>
        </p:nvSpPr>
        <p:spPr>
          <a:xfrm>
            <a:off x="3611880" y="1965960"/>
            <a:ext cx="2103120" cy="640080"/>
          </a:xfrm>
          <a:prstGeom prst="rect">
            <a:avLst/>
          </a:prstGeom>
          <a:noFill/>
          <a:ln/>
        </p:spPr>
        <p:txBody>
          <a:bodyPr wrap="square" lIns="0" tIns="0" rIns="0" bIns="0" rtlCol="0" anchor="ctr"/>
          <a:lstStyle/>
          <a:p>
            <a:pPr indent="0" marL="0">
              <a:buNone/>
            </a:pPr>
            <a:r>
              <a:rPr lang="en-US" sz="2400" b="1" dirty="0">
                <a:solidFill>
                  <a:schemeClr val="tx1"/>
                </a:solidFill>
                <a:latin typeface="Cambria" pitchFamily="34" charset="0"/>
                <a:ea typeface="Cambria" pitchFamily="34" charset="-122"/>
                <a:cs typeface="Cambria" pitchFamily="34" charset="-120"/>
              </a:rPr>
              <a:t>U = e^(2πiρ)</a:t>
            </a:r>
            <a:endParaRPr lang="en-US" sz="2400" dirty="0"/>
          </a:p>
        </p:txBody>
      </p:sp>
      <p:sp>
        <p:nvSpPr>
          <p:cNvPr id="13" name="text123"/>
          <p:cNvSpPr txBox="1"/>
          <p:nvPr/>
        </p:nvSpPr>
        <p:spPr>
          <a:xfrm>
            <a:off x="3611880" y="2697480"/>
            <a:ext cx="2103120" cy="365760"/>
          </a:xfrm>
          <a:prstGeom prst="rect">
            <a:avLst/>
          </a:prstGeom>
          <a:noFill/>
          <a:ln/>
        </p:spPr>
        <p:txBody>
          <a:bodyPr wrap="square" lIns="0" tIns="0" rIns="0" bIns="0" rtlCol="0" anchor="t"/>
          <a:lstStyle/>
          <a:p>
            <a:pPr indent="0" marL="0">
              <a:buNone/>
            </a:pPr>
            <a:r>
              <a:rPr lang="en-US" sz="1600" b="1" dirty="0">
                <a:solidFill>
                  <a:schemeClr val="accent1"/>
                </a:solidFill>
              </a:rPr>
              <a:t>Unitary</a:t>
            </a:r>
            <a:endParaRPr lang="en-US" sz="1600" dirty="0"/>
          </a:p>
        </p:txBody>
      </p:sp>
      <p:sp>
        <p:nvSpPr>
          <p:cNvPr id="14" name="text124"/>
          <p:cNvSpPr txBox="1"/>
          <p:nvPr/>
        </p:nvSpPr>
        <p:spPr>
          <a:xfrm>
            <a:off x="3611880" y="3108960"/>
            <a:ext cx="2103120" cy="1417320"/>
          </a:xfrm>
          <a:prstGeom prst="rect">
            <a:avLst/>
          </a:prstGeom>
          <a:noFill/>
          <a:ln/>
        </p:spPr>
        <p:txBody>
          <a:bodyPr wrap="square" lIns="0" tIns="0" rIns="0" bIns="0" rtlCol="0" anchor="t"/>
          <a:lstStyle/>
          <a:p>
            <a:pPr indent="0" marL="0">
              <a:buNone/>
            </a:pPr>
            <a:r>
              <a:rPr lang="en-US" sz="1400" dirty="0">
                <a:solidFill>
                  <a:schemeClr val="tx2"/>
                </a:solidFill>
              </a:rPr>
              <a:t>A quantum operation whose phases equal the eigenvalues of ρ.</a:t>
            </a:r>
            <a:endParaRPr lang="en-US" sz="1400" dirty="0"/>
          </a:p>
        </p:txBody>
      </p:sp>
      <p:sp>
        <p:nvSpPr>
          <p:cNvPr id="15" name="arrow125"/>
          <p:cNvSpPr/>
          <p:nvPr/>
        </p:nvSpPr>
        <p:spPr>
          <a:xfrm>
            <a:off x="5961888" y="3063240"/>
            <a:ext cx="237744" cy="0"/>
          </a:xfrm>
          <a:prstGeom prst="line">
            <a:avLst/>
          </a:prstGeom>
          <a:noFill/>
          <a:ln w="19050">
            <a:solidFill>
              <a:schemeClr val="tx2"/>
            </a:solidFill>
            <a:prstDash val="solid"/>
            <a:tailEnd type="triangle"/>
          </a:ln>
        </p:spPr>
      </p:sp>
      <p:sp>
        <p:nvSpPr>
          <p:cNvPr id="16" name="card126"/>
          <p:cNvSpPr/>
          <p:nvPr/>
        </p:nvSpPr>
        <p:spPr>
          <a:xfrm>
            <a:off x="6217920" y="1463040"/>
            <a:ext cx="2560320" cy="3200400"/>
          </a:xfrm>
          <a:prstGeom prst="roundRect">
            <a:avLst>
              <a:gd name="adj" fmla="val 4286"/>
            </a:avLst>
          </a:prstGeom>
          <a:solidFill>
            <a:schemeClr val="tx1"/>
          </a:solidFill>
          <a:ln w="12700">
            <a:solidFill>
              <a:schemeClr val="tx1"/>
            </a:solidFill>
            <a:prstDash val="solid"/>
          </a:ln>
          <a:effectLst>
            <a:outerShdw sx="100000" sy="100000" kx="0" ky="0" algn="bl" rotWithShape="0" blurRad="101600" dist="25400" dir="5400000">
              <a:srgbClr val="0B1F3A">
                <a:alpha val="12000"/>
              </a:srgbClr>
            </a:outerShdw>
          </a:effectLst>
        </p:spPr>
      </p:sp>
      <p:sp>
        <p:nvSpPr>
          <p:cNvPr id="17" name="text127"/>
          <p:cNvSpPr txBox="1"/>
          <p:nvPr/>
        </p:nvSpPr>
        <p:spPr>
          <a:xfrm>
            <a:off x="6446520" y="1645920"/>
            <a:ext cx="2103120" cy="274320"/>
          </a:xfrm>
          <a:prstGeom prst="rect">
            <a:avLst/>
          </a:prstGeom>
          <a:noFill/>
          <a:ln/>
        </p:spPr>
        <p:txBody>
          <a:bodyPr wrap="square" lIns="0" tIns="0" rIns="0" bIns="0" rtlCol="0" anchor="t"/>
          <a:lstStyle/>
          <a:p>
            <a:pPr indent="0" marL="0">
              <a:buNone/>
            </a:pPr>
            <a:r>
              <a:rPr lang="en-US" sz="1100" b="1" spc="300" kern="0" dirty="0">
                <a:solidFill>
                  <a:schemeClr val="accent6"/>
                </a:solidFill>
              </a:rPr>
              <a:t>STEP 3</a:t>
            </a:r>
            <a:endParaRPr lang="en-US" sz="1100" dirty="0"/>
          </a:p>
        </p:txBody>
      </p:sp>
      <p:sp>
        <p:nvSpPr>
          <p:cNvPr id="18" name="text128"/>
          <p:cNvSpPr txBox="1"/>
          <p:nvPr/>
        </p:nvSpPr>
        <p:spPr>
          <a:xfrm>
            <a:off x="6446520" y="1965960"/>
            <a:ext cx="2103120" cy="640080"/>
          </a:xfrm>
          <a:prstGeom prst="rect">
            <a:avLst/>
          </a:prstGeom>
          <a:noFill/>
          <a:ln/>
        </p:spPr>
        <p:txBody>
          <a:bodyPr wrap="square" lIns="0" tIns="0" rIns="0" bIns="0" rtlCol="0" anchor="ctr"/>
          <a:lstStyle/>
          <a:p>
            <a:pPr indent="0" marL="0">
              <a:buNone/>
            </a:pPr>
            <a:r>
              <a:rPr lang="en-US" sz="2400" b="1" dirty="0">
                <a:solidFill>
                  <a:schemeClr val="bg1"/>
                </a:solidFill>
                <a:latin typeface="Cambria" pitchFamily="34" charset="0"/>
                <a:ea typeface="Cambria" pitchFamily="34" charset="-122"/>
                <a:cs typeface="Cambria" pitchFamily="34" charset="-120"/>
              </a:rPr>
              <a:t>QPE</a:t>
            </a:r>
            <a:endParaRPr lang="en-US" sz="2400" dirty="0"/>
          </a:p>
        </p:txBody>
      </p:sp>
      <p:sp>
        <p:nvSpPr>
          <p:cNvPr id="19" name="text129"/>
          <p:cNvSpPr txBox="1"/>
          <p:nvPr/>
        </p:nvSpPr>
        <p:spPr>
          <a:xfrm>
            <a:off x="6446520" y="2697480"/>
            <a:ext cx="2103120" cy="365760"/>
          </a:xfrm>
          <a:prstGeom prst="rect">
            <a:avLst/>
          </a:prstGeom>
          <a:noFill/>
          <a:ln/>
        </p:spPr>
        <p:txBody>
          <a:bodyPr wrap="square" lIns="0" tIns="0" rIns="0" bIns="0" rtlCol="0" anchor="t"/>
          <a:lstStyle/>
          <a:p>
            <a:pPr indent="0" marL="0">
              <a:buNone/>
            </a:pPr>
            <a:r>
              <a:rPr lang="en-US" sz="1600" b="1" dirty="0">
                <a:solidFill>
                  <a:schemeClr val="accent6"/>
                </a:solidFill>
              </a:rPr>
              <a:t>Phase estimation</a:t>
            </a:r>
            <a:endParaRPr lang="en-US" sz="1600" dirty="0"/>
          </a:p>
        </p:txBody>
      </p:sp>
      <p:sp>
        <p:nvSpPr>
          <p:cNvPr id="20" name="text130"/>
          <p:cNvSpPr txBox="1"/>
          <p:nvPr/>
        </p:nvSpPr>
        <p:spPr>
          <a:xfrm>
            <a:off x="6446520" y="3108960"/>
            <a:ext cx="2103120" cy="1417320"/>
          </a:xfrm>
          <a:prstGeom prst="rect">
            <a:avLst/>
          </a:prstGeom>
          <a:noFill/>
          <a:ln/>
        </p:spPr>
        <p:txBody>
          <a:bodyPr wrap="square" lIns="0" tIns="0" rIns="0" bIns="0" rtlCol="0" anchor="t"/>
          <a:lstStyle/>
          <a:p>
            <a:pPr indent="0" marL="0">
              <a:buNone/>
            </a:pPr>
            <a:r>
              <a:rPr lang="en-US" sz="1400" dirty="0">
                <a:solidFill>
                  <a:schemeClr val="bg1"/>
                </a:solidFill>
              </a:rPr>
              <a:t>t phase qubits read each eigenvalue to a resolution of 1 / 2</a:t>
            </a:r>
            <a:pPr indent="0" marL="0">
              <a:buNone/>
            </a:pPr>
            <a:r>
              <a:rPr lang="en-US" sz="1400" baseline="30000" dirty="0">
                <a:solidFill>
                  <a:schemeClr val="bg1"/>
                </a:solidFill>
              </a:rPr>
              <a:t>t</a:t>
            </a:r>
            <a:pPr indent="0" marL="0">
              <a:buNone/>
            </a:pPr>
            <a:r>
              <a:rPr lang="en-US" sz="1400" dirty="0">
                <a:solidFill>
                  <a:schemeClr val="bg1"/>
                </a:solidFill>
              </a:rPr>
              <a:t>.</a:t>
            </a:r>
            <a:endParaRPr lang="en-US" sz="1400" dirty="0"/>
          </a:p>
        </p:txBody>
      </p:sp>
      <p:sp>
        <p:nvSpPr>
          <p:cNvPr id="21" name="arrow131"/>
          <p:cNvSpPr/>
          <p:nvPr/>
        </p:nvSpPr>
        <p:spPr>
          <a:xfrm>
            <a:off x="8796528" y="3063240"/>
            <a:ext cx="237744" cy="0"/>
          </a:xfrm>
          <a:prstGeom prst="line">
            <a:avLst/>
          </a:prstGeom>
          <a:noFill/>
          <a:ln w="19050">
            <a:solidFill>
              <a:schemeClr val="tx2"/>
            </a:solidFill>
            <a:prstDash val="solid"/>
            <a:tailEnd type="triangle"/>
          </a:ln>
        </p:spPr>
      </p:sp>
      <p:sp>
        <p:nvSpPr>
          <p:cNvPr id="22" name="card132"/>
          <p:cNvSpPr/>
          <p:nvPr/>
        </p:nvSpPr>
        <p:spPr>
          <a:xfrm>
            <a:off x="9052560" y="1463040"/>
            <a:ext cx="2560320" cy="3200400"/>
          </a:xfrm>
          <a:prstGeom prst="roundRect">
            <a:avLst>
              <a:gd name="adj" fmla="val 4286"/>
            </a:avLst>
          </a:prstGeom>
          <a:solidFill>
            <a:schemeClr val="bg2"/>
          </a:solidFill>
          <a:ln w="12700">
            <a:solidFill>
              <a:schemeClr val="bg2"/>
            </a:solidFill>
            <a:prstDash val="solid"/>
          </a:ln>
          <a:effectLst>
            <a:outerShdw sx="100000" sy="100000" kx="0" ky="0" algn="bl" rotWithShape="0" blurRad="101600" dist="25400" dir="5400000">
              <a:srgbClr val="0B1F3A">
                <a:alpha val="12000"/>
              </a:srgbClr>
            </a:outerShdw>
          </a:effectLst>
        </p:spPr>
      </p:sp>
      <p:sp>
        <p:nvSpPr>
          <p:cNvPr id="23" name="text133"/>
          <p:cNvSpPr txBox="1"/>
          <p:nvPr/>
        </p:nvSpPr>
        <p:spPr>
          <a:xfrm>
            <a:off x="9281160" y="1645920"/>
            <a:ext cx="2103120" cy="274320"/>
          </a:xfrm>
          <a:prstGeom prst="rect">
            <a:avLst/>
          </a:prstGeom>
          <a:noFill/>
          <a:ln/>
        </p:spPr>
        <p:txBody>
          <a:bodyPr wrap="square" lIns="0" tIns="0" rIns="0" bIns="0" rtlCol="0" anchor="t"/>
          <a:lstStyle/>
          <a:p>
            <a:pPr indent="0" marL="0">
              <a:buNone/>
            </a:pPr>
            <a:r>
              <a:rPr lang="en-US" sz="1100" b="1" spc="300" kern="0" dirty="0">
                <a:solidFill>
                  <a:schemeClr val="accent1"/>
                </a:solidFill>
              </a:rPr>
              <a:t>STEP 4</a:t>
            </a:r>
            <a:endParaRPr lang="en-US" sz="1100" dirty="0"/>
          </a:p>
        </p:txBody>
      </p:sp>
      <p:sp>
        <p:nvSpPr>
          <p:cNvPr id="24" name="text134"/>
          <p:cNvSpPr txBox="1"/>
          <p:nvPr/>
        </p:nvSpPr>
        <p:spPr>
          <a:xfrm>
            <a:off x="9281160" y="1965960"/>
            <a:ext cx="2103120" cy="640080"/>
          </a:xfrm>
          <a:prstGeom prst="rect">
            <a:avLst/>
          </a:prstGeom>
          <a:noFill/>
          <a:ln/>
        </p:spPr>
        <p:txBody>
          <a:bodyPr wrap="square" lIns="0" tIns="0" rIns="0" bIns="0" rtlCol="0" anchor="ctr"/>
          <a:lstStyle/>
          <a:p>
            <a:pPr indent="0" marL="0">
              <a:buNone/>
            </a:pPr>
            <a:r>
              <a:rPr lang="en-US" sz="2400" b="1" dirty="0">
                <a:solidFill>
                  <a:schemeClr val="tx1"/>
                </a:solidFill>
                <a:latin typeface="Cambria" pitchFamily="34" charset="0"/>
                <a:ea typeface="Cambria" pitchFamily="34" charset="-122"/>
                <a:cs typeface="Cambria" pitchFamily="34" charset="-120"/>
              </a:rPr>
              <a:t>Measure</a:t>
            </a:r>
            <a:endParaRPr lang="en-US" sz="2400" dirty="0"/>
          </a:p>
        </p:txBody>
      </p:sp>
      <p:sp>
        <p:nvSpPr>
          <p:cNvPr id="25" name="text135"/>
          <p:cNvSpPr txBox="1"/>
          <p:nvPr/>
        </p:nvSpPr>
        <p:spPr>
          <a:xfrm>
            <a:off x="9281160" y="2697480"/>
            <a:ext cx="2103120" cy="365760"/>
          </a:xfrm>
          <a:prstGeom prst="rect">
            <a:avLst/>
          </a:prstGeom>
          <a:noFill/>
          <a:ln/>
        </p:spPr>
        <p:txBody>
          <a:bodyPr wrap="square" lIns="0" tIns="0" rIns="0" bIns="0" rtlCol="0" anchor="t"/>
          <a:lstStyle/>
          <a:p>
            <a:pPr indent="0" marL="0">
              <a:buNone/>
            </a:pPr>
            <a:r>
              <a:rPr lang="en-US" sz="1600" b="1" dirty="0">
                <a:solidFill>
                  <a:schemeClr val="accent1"/>
                </a:solidFill>
              </a:rPr>
              <a:t>Read-out</a:t>
            </a:r>
            <a:endParaRPr lang="en-US" sz="1600" dirty="0"/>
          </a:p>
        </p:txBody>
      </p:sp>
      <p:sp>
        <p:nvSpPr>
          <p:cNvPr id="26" name="text136"/>
          <p:cNvSpPr txBox="1"/>
          <p:nvPr/>
        </p:nvSpPr>
        <p:spPr>
          <a:xfrm>
            <a:off x="9281160" y="3108960"/>
            <a:ext cx="2103120" cy="1417320"/>
          </a:xfrm>
          <a:prstGeom prst="rect">
            <a:avLst/>
          </a:prstGeom>
          <a:noFill/>
          <a:ln/>
        </p:spPr>
        <p:txBody>
          <a:bodyPr wrap="square" lIns="0" tIns="0" rIns="0" bIns="0" rtlCol="0" anchor="t"/>
          <a:lstStyle/>
          <a:p>
            <a:pPr indent="0" marL="0">
              <a:buNone/>
            </a:pPr>
            <a:r>
              <a:rPr lang="en-US" sz="1400" dirty="0">
                <a:solidFill>
                  <a:schemeClr val="tx2"/>
                </a:solidFill>
              </a:rPr>
              <a:t>Phase register gives λ. System register collapses to the principal component.</a:t>
            </a:r>
            <a:endParaRPr lang="en-US" sz="1400" dirty="0"/>
          </a:p>
        </p:txBody>
      </p:sp>
      <p:sp>
        <p:nvSpPr>
          <p:cNvPr id="27" name="card137"/>
          <p:cNvSpPr/>
          <p:nvPr/>
        </p:nvSpPr>
        <p:spPr>
          <a:xfrm>
            <a:off x="548640" y="4937760"/>
            <a:ext cx="11064240" cy="1051560"/>
          </a:xfrm>
          <a:prstGeom prst="roundRect">
            <a:avLst>
              <a:gd name="adj" fmla="val 10435"/>
            </a:avLst>
          </a:prstGeom>
          <a:solidFill>
            <a:schemeClr val="bg2"/>
          </a:solidFill>
          <a:ln w="12700">
            <a:solidFill>
              <a:schemeClr val="bg2"/>
            </a:solidFill>
            <a:prstDash val="solid"/>
          </a:ln>
          <a:effectLst>
            <a:outerShdw sx="100000" sy="100000" kx="0" ky="0" algn="bl" rotWithShape="0" blurRad="101600" dist="25400" dir="5400000">
              <a:srgbClr val="0B1F3A">
                <a:alpha val="12000"/>
              </a:srgbClr>
            </a:outerShdw>
          </a:effectLst>
        </p:spPr>
      </p:sp>
      <p:sp>
        <p:nvSpPr>
          <p:cNvPr id="28" name="dot138"/>
          <p:cNvSpPr/>
          <p:nvPr/>
        </p:nvSpPr>
        <p:spPr>
          <a:xfrm>
            <a:off x="777240" y="5093208"/>
            <a:ext cx="731520" cy="731520"/>
          </a:xfrm>
          <a:prstGeom prst="ellipse">
            <a:avLst/>
          </a:prstGeom>
          <a:solidFill>
            <a:schemeClr val="accent5"/>
          </a:solidFill>
          <a:ln w="12700">
            <a:solidFill>
              <a:schemeClr val="accent5"/>
            </a:solidFill>
            <a:prstDash val="solid"/>
          </a:ln>
        </p:spPr>
      </p:sp>
      <p:pic>
        <p:nvPicPr>
          <p:cNvPr id="29" name="icon139" descr="preencoded.png">    </p:cNvPr>
          <p:cNvPicPr>
            <a:picLocks noChangeAspect="1"/>
          </p:cNvPicPr>
          <p:nvPr/>
        </p:nvPicPr>
        <p:blipFill>
          <a:blip r:embed="rId1"/>
          <a:stretch>
            <a:fillRect/>
          </a:stretch>
        </p:blipFill>
        <p:spPr>
          <a:xfrm>
            <a:off x="960120" y="5276088"/>
            <a:ext cx="365760" cy="365760"/>
          </a:xfrm>
          <a:prstGeom prst="rect">
            <a:avLst/>
          </a:prstGeom>
        </p:spPr>
      </p:pic>
      <p:sp>
        <p:nvSpPr>
          <p:cNvPr id="30" name="text140"/>
          <p:cNvSpPr txBox="1"/>
          <p:nvPr/>
        </p:nvSpPr>
        <p:spPr>
          <a:xfrm>
            <a:off x="1737360" y="5047488"/>
            <a:ext cx="9692640" cy="822960"/>
          </a:xfrm>
          <a:prstGeom prst="rect">
            <a:avLst/>
          </a:prstGeom>
          <a:noFill/>
          <a:ln/>
        </p:spPr>
        <p:txBody>
          <a:bodyPr wrap="square" lIns="0" tIns="0" rIns="0" bIns="0" rtlCol="0" anchor="ctr"/>
          <a:lstStyle/>
          <a:p>
            <a:pPr indent="0" marL="0">
              <a:buNone/>
            </a:pPr>
            <a:r>
              <a:rPr lang="en-US" sz="1500" b="1" dirty="0">
                <a:solidFill>
                  <a:schemeClr val="tx1"/>
                </a:solidFill>
              </a:rPr>
              <a:t>Qubit budget: </a:t>
            </a:r>
            <a:pPr indent="0" marL="0">
              <a:buNone/>
            </a:pPr>
            <a:r>
              <a:rPr lang="en-US" sz="1500" dirty="0">
                <a:solidFill>
                  <a:schemeClr val="tx1"/>
                </a:solidFill>
              </a:rPr>
              <a:t>14 sensors are padded to 16 dimensions, which fit in 4 system qubits. With 8 phase qubits the circuit uses 12 qubits and resolves eigenvalues to 1/256 of the total variance.</a:t>
            </a:r>
            <a:endParaRPr lang="en-US" sz="15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200" b="1" dirty="0">
                <a:solidFill>
                  <a:schemeClr val="tx1"/>
                </a:solidFill>
              </a:rPr>
              <a:t>The phase-estimation circuit at the heart of the app</a:t>
            </a:r>
            <a:endParaRPr lang="en-US" sz="3200" dirty="0"/>
          </a:p>
        </p:txBody>
      </p:sp>
      <p:sp>
        <p:nvSpPr>
          <p:cNvPr id="4" name="card141"/>
          <p:cNvSpPr/>
          <p:nvPr/>
        </p:nvSpPr>
        <p:spPr>
          <a:xfrm>
            <a:off x="548640" y="1417320"/>
            <a:ext cx="11064240" cy="3429000"/>
          </a:xfrm>
          <a:prstGeom prst="roundRect">
            <a:avLst>
              <a:gd name="adj" fmla="val 3200"/>
            </a:avLst>
          </a:prstGeom>
          <a:solidFill>
            <a:schemeClr val="bg2"/>
          </a:solidFill>
          <a:ln w="12700">
            <a:solidFill>
              <a:schemeClr val="bg2"/>
            </a:solidFill>
            <a:prstDash val="solid"/>
          </a:ln>
          <a:effectLst>
            <a:outerShdw sx="100000" sy="100000" kx="0" ky="0" algn="bl" rotWithShape="0" blurRad="101600" dist="25400" dir="5400000">
              <a:srgbClr val="0B1F3A">
                <a:alpha val="12000"/>
              </a:srgbClr>
            </a:outerShdw>
          </a:effectLst>
        </p:spPr>
      </p:sp>
      <p:sp>
        <p:nvSpPr>
          <p:cNvPr id="5" name="wire0"/>
          <p:cNvSpPr/>
          <p:nvPr/>
        </p:nvSpPr>
        <p:spPr>
          <a:xfrm>
            <a:off x="1920240" y="2011680"/>
            <a:ext cx="7863840" cy="0"/>
          </a:xfrm>
          <a:prstGeom prst="line">
            <a:avLst/>
          </a:prstGeom>
          <a:noFill/>
          <a:ln w="15875">
            <a:solidFill>
              <a:schemeClr val="tx2"/>
            </a:solidFill>
            <a:prstDash val="solid"/>
          </a:ln>
        </p:spPr>
      </p:sp>
      <p:sp>
        <p:nvSpPr>
          <p:cNvPr id="6" name="text142"/>
          <p:cNvSpPr txBox="1"/>
          <p:nvPr/>
        </p:nvSpPr>
        <p:spPr>
          <a:xfrm>
            <a:off x="822960" y="1828800"/>
            <a:ext cx="1005840" cy="365760"/>
          </a:xfrm>
          <a:prstGeom prst="rect">
            <a:avLst/>
          </a:prstGeom>
          <a:noFill/>
          <a:ln/>
        </p:spPr>
        <p:txBody>
          <a:bodyPr wrap="square" lIns="0" tIns="0" rIns="0" bIns="0" rtlCol="0" anchor="ctr"/>
          <a:lstStyle/>
          <a:p>
            <a:pPr algn="r" indent="0" marL="0">
              <a:buNone/>
            </a:pPr>
            <a:r>
              <a:rPr lang="en-US" sz="1500" dirty="0">
                <a:solidFill>
                  <a:schemeClr val="tx1"/>
                </a:solidFill>
              </a:rPr>
              <a:t>|0⟩  a</a:t>
            </a:r>
            <a:pPr algn="r" indent="0" marL="0">
              <a:buNone/>
            </a:pPr>
            <a:r>
              <a:rPr lang="en-US" sz="1500" baseline="-40000" dirty="0">
                <a:solidFill>
                  <a:schemeClr val="tx1"/>
                </a:solidFill>
              </a:rPr>
              <a:t>0</a:t>
            </a:r>
            <a:endParaRPr lang="en-US" sz="1500" dirty="0"/>
          </a:p>
        </p:txBody>
      </p:sp>
      <p:sp>
        <p:nvSpPr>
          <p:cNvPr id="7" name="wire1"/>
          <p:cNvSpPr/>
          <p:nvPr/>
        </p:nvSpPr>
        <p:spPr>
          <a:xfrm>
            <a:off x="1920240" y="2697480"/>
            <a:ext cx="7863840" cy="0"/>
          </a:xfrm>
          <a:prstGeom prst="line">
            <a:avLst/>
          </a:prstGeom>
          <a:noFill/>
          <a:ln w="15875">
            <a:solidFill>
              <a:schemeClr val="tx2"/>
            </a:solidFill>
            <a:prstDash val="solid"/>
          </a:ln>
        </p:spPr>
      </p:sp>
      <p:sp>
        <p:nvSpPr>
          <p:cNvPr id="8" name="text143"/>
          <p:cNvSpPr txBox="1"/>
          <p:nvPr/>
        </p:nvSpPr>
        <p:spPr>
          <a:xfrm>
            <a:off x="822960" y="2514600"/>
            <a:ext cx="1005840" cy="365760"/>
          </a:xfrm>
          <a:prstGeom prst="rect">
            <a:avLst/>
          </a:prstGeom>
          <a:noFill/>
          <a:ln/>
        </p:spPr>
        <p:txBody>
          <a:bodyPr wrap="square" lIns="0" tIns="0" rIns="0" bIns="0" rtlCol="0" anchor="ctr"/>
          <a:lstStyle/>
          <a:p>
            <a:pPr algn="r" indent="0" marL="0">
              <a:buNone/>
            </a:pPr>
            <a:r>
              <a:rPr lang="en-US" sz="1500" dirty="0">
                <a:solidFill>
                  <a:schemeClr val="tx1"/>
                </a:solidFill>
              </a:rPr>
              <a:t>|0⟩  a</a:t>
            </a:r>
            <a:pPr algn="r" indent="0" marL="0">
              <a:buNone/>
            </a:pPr>
            <a:r>
              <a:rPr lang="en-US" sz="1500" baseline="-40000" dirty="0">
                <a:solidFill>
                  <a:schemeClr val="tx1"/>
                </a:solidFill>
              </a:rPr>
              <a:t>1</a:t>
            </a:r>
            <a:endParaRPr lang="en-US" sz="1500" dirty="0"/>
          </a:p>
        </p:txBody>
      </p:sp>
      <p:sp>
        <p:nvSpPr>
          <p:cNvPr id="9" name="wire2"/>
          <p:cNvSpPr/>
          <p:nvPr/>
        </p:nvSpPr>
        <p:spPr>
          <a:xfrm>
            <a:off x="1920240" y="3383280"/>
            <a:ext cx="7863840" cy="0"/>
          </a:xfrm>
          <a:prstGeom prst="line">
            <a:avLst/>
          </a:prstGeom>
          <a:noFill/>
          <a:ln w="15875">
            <a:solidFill>
              <a:schemeClr val="tx2"/>
            </a:solidFill>
            <a:prstDash val="solid"/>
          </a:ln>
        </p:spPr>
      </p:sp>
      <p:sp>
        <p:nvSpPr>
          <p:cNvPr id="10" name="text144"/>
          <p:cNvSpPr txBox="1"/>
          <p:nvPr/>
        </p:nvSpPr>
        <p:spPr>
          <a:xfrm>
            <a:off x="822960" y="3200400"/>
            <a:ext cx="1005840" cy="365760"/>
          </a:xfrm>
          <a:prstGeom prst="rect">
            <a:avLst/>
          </a:prstGeom>
          <a:noFill/>
          <a:ln/>
        </p:spPr>
        <p:txBody>
          <a:bodyPr wrap="square" lIns="0" tIns="0" rIns="0" bIns="0" rtlCol="0" anchor="ctr"/>
          <a:lstStyle/>
          <a:p>
            <a:pPr algn="r" indent="0" marL="0">
              <a:buNone/>
            </a:pPr>
            <a:r>
              <a:rPr lang="en-US" sz="1500" dirty="0">
                <a:solidFill>
                  <a:schemeClr val="tx1"/>
                </a:solidFill>
              </a:rPr>
              <a:t>|0⟩  a</a:t>
            </a:r>
            <a:pPr algn="r" indent="0" marL="0">
              <a:buNone/>
            </a:pPr>
            <a:r>
              <a:rPr lang="en-US" sz="1500" baseline="-40000" dirty="0">
                <a:solidFill>
                  <a:schemeClr val="tx1"/>
                </a:solidFill>
              </a:rPr>
              <a:t>2</a:t>
            </a:r>
            <a:endParaRPr lang="en-US" sz="1500" dirty="0"/>
          </a:p>
        </p:txBody>
      </p:sp>
      <p:sp>
        <p:nvSpPr>
          <p:cNvPr id="11" name="sysWire"/>
          <p:cNvSpPr/>
          <p:nvPr/>
        </p:nvSpPr>
        <p:spPr>
          <a:xfrm>
            <a:off x="1920240" y="4251960"/>
            <a:ext cx="8595360" cy="0"/>
          </a:xfrm>
          <a:prstGeom prst="line">
            <a:avLst/>
          </a:prstGeom>
          <a:noFill/>
          <a:ln w="50800">
            <a:solidFill>
              <a:schemeClr val="accent1"/>
            </a:solidFill>
            <a:prstDash val="solid"/>
          </a:ln>
        </p:spPr>
      </p:sp>
      <p:sp>
        <p:nvSpPr>
          <p:cNvPr id="12" name="text145"/>
          <p:cNvSpPr txBox="1"/>
          <p:nvPr/>
        </p:nvSpPr>
        <p:spPr>
          <a:xfrm>
            <a:off x="685800" y="4069080"/>
            <a:ext cx="1143000" cy="365760"/>
          </a:xfrm>
          <a:prstGeom prst="rect">
            <a:avLst/>
          </a:prstGeom>
          <a:noFill/>
          <a:ln/>
        </p:spPr>
        <p:txBody>
          <a:bodyPr wrap="square" lIns="0" tIns="0" rIns="0" bIns="0" rtlCol="0" anchor="ctr"/>
          <a:lstStyle/>
          <a:p>
            <a:pPr algn="r" indent="0" marL="0">
              <a:buNone/>
            </a:pPr>
            <a:r>
              <a:rPr lang="en-US" sz="1500" b="1" dirty="0">
                <a:solidFill>
                  <a:schemeClr val="accent1"/>
                </a:solidFill>
              </a:rPr>
              <a:t>ρ  (4 qubits)</a:t>
            </a:r>
            <a:endParaRPr lang="en-US" sz="1500" dirty="0"/>
          </a:p>
        </p:txBody>
      </p:sp>
      <p:sp>
        <p:nvSpPr>
          <p:cNvPr id="13" name="gate146"/>
          <p:cNvSpPr/>
          <p:nvPr/>
        </p:nvSpPr>
        <p:spPr>
          <a:xfrm>
            <a:off x="2263140" y="1783080"/>
            <a:ext cx="502920" cy="457200"/>
          </a:xfrm>
          <a:prstGeom prst="roundRect">
            <a:avLst>
              <a:gd name="adj" fmla="val 12000"/>
            </a:avLst>
          </a:prstGeom>
          <a:solidFill>
            <a:schemeClr val="bg1"/>
          </a:solidFill>
          <a:ln w="12700">
            <a:solidFill>
              <a:schemeClr val="tx1"/>
            </a:solidFill>
            <a:prstDash val="solid"/>
          </a:ln>
        </p:spPr>
      </p:sp>
      <p:sp>
        <p:nvSpPr>
          <p:cNvPr id="14" name="text147"/>
          <p:cNvSpPr txBox="1"/>
          <p:nvPr/>
        </p:nvSpPr>
        <p:spPr>
          <a:xfrm>
            <a:off x="2263140" y="1783080"/>
            <a:ext cx="502920" cy="457200"/>
          </a:xfrm>
          <a:prstGeom prst="rect">
            <a:avLst/>
          </a:prstGeom>
          <a:noFill/>
          <a:ln/>
        </p:spPr>
        <p:txBody>
          <a:bodyPr wrap="square" lIns="0" tIns="0" rIns="0" bIns="0" rtlCol="0" anchor="ctr"/>
          <a:lstStyle/>
          <a:p>
            <a:pPr algn="ctr" indent="0" marL="0">
              <a:buNone/>
            </a:pPr>
            <a:r>
              <a:rPr lang="en-US" sz="1500" b="1" dirty="0">
                <a:solidFill>
                  <a:schemeClr val="tx1"/>
                </a:solidFill>
                <a:latin typeface="Cambria" pitchFamily="34" charset="0"/>
                <a:ea typeface="Cambria" pitchFamily="34" charset="-122"/>
                <a:cs typeface="Cambria" pitchFamily="34" charset="-120"/>
              </a:rPr>
              <a:t>H</a:t>
            </a:r>
            <a:endParaRPr lang="en-US" sz="1500" dirty="0"/>
          </a:p>
        </p:txBody>
      </p:sp>
      <p:sp>
        <p:nvSpPr>
          <p:cNvPr id="15" name="ctrl0"/>
          <p:cNvSpPr/>
          <p:nvPr/>
        </p:nvSpPr>
        <p:spPr>
          <a:xfrm>
            <a:off x="3931920" y="2011680"/>
            <a:ext cx="0" cy="1947672"/>
          </a:xfrm>
          <a:prstGeom prst="line">
            <a:avLst/>
          </a:prstGeom>
          <a:noFill/>
          <a:ln w="15875">
            <a:solidFill>
              <a:schemeClr val="tx1"/>
            </a:solidFill>
            <a:prstDash val="solid"/>
          </a:ln>
        </p:spPr>
      </p:sp>
      <p:sp>
        <p:nvSpPr>
          <p:cNvPr id="16" name="cdot0"/>
          <p:cNvSpPr/>
          <p:nvPr/>
        </p:nvSpPr>
        <p:spPr>
          <a:xfrm>
            <a:off x="3849624" y="1929384"/>
            <a:ext cx="164592" cy="164592"/>
          </a:xfrm>
          <a:prstGeom prst="ellipse">
            <a:avLst/>
          </a:prstGeom>
          <a:solidFill>
            <a:schemeClr val="tx1"/>
          </a:solidFill>
          <a:ln w="12700">
            <a:solidFill>
              <a:schemeClr val="tx1"/>
            </a:solidFill>
            <a:prstDash val="solid"/>
          </a:ln>
        </p:spPr>
      </p:sp>
      <p:sp>
        <p:nvSpPr>
          <p:cNvPr id="17" name="gate148"/>
          <p:cNvSpPr/>
          <p:nvPr/>
        </p:nvSpPr>
        <p:spPr>
          <a:xfrm>
            <a:off x="3497580" y="3959352"/>
            <a:ext cx="868680" cy="585216"/>
          </a:xfrm>
          <a:prstGeom prst="roundRect">
            <a:avLst>
              <a:gd name="adj" fmla="val 9375"/>
            </a:avLst>
          </a:prstGeom>
          <a:solidFill>
            <a:schemeClr val="accent6"/>
          </a:solidFill>
          <a:ln w="12700">
            <a:solidFill>
              <a:schemeClr val="tx1"/>
            </a:solidFill>
            <a:prstDash val="solid"/>
          </a:ln>
        </p:spPr>
      </p:sp>
      <p:sp>
        <p:nvSpPr>
          <p:cNvPr id="18" name="text149"/>
          <p:cNvSpPr txBox="1"/>
          <p:nvPr/>
        </p:nvSpPr>
        <p:spPr>
          <a:xfrm>
            <a:off x="3497580" y="3959352"/>
            <a:ext cx="868680" cy="585216"/>
          </a:xfrm>
          <a:prstGeom prst="rect">
            <a:avLst/>
          </a:prstGeom>
          <a:noFill/>
          <a:ln/>
        </p:spPr>
        <p:txBody>
          <a:bodyPr wrap="square" lIns="0" tIns="0" rIns="0" bIns="0" rtlCol="0" anchor="ctr"/>
          <a:lstStyle/>
          <a:p>
            <a:pPr algn="ctr" indent="0" marL="0">
              <a:buNone/>
            </a:pPr>
            <a:r>
              <a:rPr lang="en-US" sz="1500" b="1" dirty="0">
                <a:solidFill>
                  <a:schemeClr val="tx1"/>
                </a:solidFill>
                <a:latin typeface="Cambria" pitchFamily="34" charset="0"/>
                <a:ea typeface="Cambria" pitchFamily="34" charset="-122"/>
                <a:cs typeface="Cambria" pitchFamily="34" charset="-120"/>
              </a:rPr>
              <a:t>U</a:t>
            </a:r>
            <a:endParaRPr lang="en-US" sz="1500" dirty="0"/>
          </a:p>
        </p:txBody>
      </p:sp>
      <p:sp>
        <p:nvSpPr>
          <p:cNvPr id="19" name="gate150"/>
          <p:cNvSpPr/>
          <p:nvPr/>
        </p:nvSpPr>
        <p:spPr>
          <a:xfrm>
            <a:off x="9052560" y="1783080"/>
            <a:ext cx="548640" cy="457200"/>
          </a:xfrm>
          <a:prstGeom prst="roundRect">
            <a:avLst>
              <a:gd name="adj" fmla="val 12000"/>
            </a:avLst>
          </a:prstGeom>
          <a:solidFill>
            <a:schemeClr val="bg2"/>
          </a:solidFill>
          <a:ln w="12700">
            <a:solidFill>
              <a:schemeClr val="tx1"/>
            </a:solidFill>
            <a:prstDash val="solid"/>
          </a:ln>
        </p:spPr>
      </p:sp>
      <p:sp>
        <p:nvSpPr>
          <p:cNvPr id="20" name="text151"/>
          <p:cNvSpPr txBox="1"/>
          <p:nvPr/>
        </p:nvSpPr>
        <p:spPr>
          <a:xfrm>
            <a:off x="9052560" y="1783080"/>
            <a:ext cx="548640" cy="457200"/>
          </a:xfrm>
          <a:prstGeom prst="rect">
            <a:avLst/>
          </a:prstGeom>
          <a:noFill/>
          <a:ln/>
        </p:spPr>
        <p:txBody>
          <a:bodyPr wrap="square" lIns="0" tIns="0" rIns="0" bIns="0" rtlCol="0" anchor="ctr"/>
          <a:lstStyle/>
          <a:p>
            <a:pPr algn="ctr" indent="0" marL="0">
              <a:buNone/>
            </a:pPr>
            <a:r>
              <a:rPr lang="en-US" sz="1500" b="1" dirty="0">
                <a:solidFill>
                  <a:schemeClr val="tx1"/>
                </a:solidFill>
                <a:latin typeface="Cambria" pitchFamily="34" charset="0"/>
                <a:ea typeface="Cambria" pitchFamily="34" charset="-122"/>
                <a:cs typeface="Cambria" pitchFamily="34" charset="-120"/>
              </a:rPr>
              <a:t>M</a:t>
            </a:r>
            <a:endParaRPr lang="en-US" sz="1500" dirty="0"/>
          </a:p>
        </p:txBody>
      </p:sp>
      <p:sp>
        <p:nvSpPr>
          <p:cNvPr id="21" name="gate152"/>
          <p:cNvSpPr/>
          <p:nvPr/>
        </p:nvSpPr>
        <p:spPr>
          <a:xfrm>
            <a:off x="2263140" y="2468880"/>
            <a:ext cx="502920" cy="457200"/>
          </a:xfrm>
          <a:prstGeom prst="roundRect">
            <a:avLst>
              <a:gd name="adj" fmla="val 12000"/>
            </a:avLst>
          </a:prstGeom>
          <a:solidFill>
            <a:schemeClr val="bg1"/>
          </a:solidFill>
          <a:ln w="12700">
            <a:solidFill>
              <a:schemeClr val="tx1"/>
            </a:solidFill>
            <a:prstDash val="solid"/>
          </a:ln>
        </p:spPr>
      </p:sp>
      <p:sp>
        <p:nvSpPr>
          <p:cNvPr id="22" name="text153"/>
          <p:cNvSpPr txBox="1"/>
          <p:nvPr/>
        </p:nvSpPr>
        <p:spPr>
          <a:xfrm>
            <a:off x="2263140" y="2468880"/>
            <a:ext cx="502920" cy="457200"/>
          </a:xfrm>
          <a:prstGeom prst="rect">
            <a:avLst/>
          </a:prstGeom>
          <a:noFill/>
          <a:ln/>
        </p:spPr>
        <p:txBody>
          <a:bodyPr wrap="square" lIns="0" tIns="0" rIns="0" bIns="0" rtlCol="0" anchor="ctr"/>
          <a:lstStyle/>
          <a:p>
            <a:pPr algn="ctr" indent="0" marL="0">
              <a:buNone/>
            </a:pPr>
            <a:r>
              <a:rPr lang="en-US" sz="1500" b="1" dirty="0">
                <a:solidFill>
                  <a:schemeClr val="tx1"/>
                </a:solidFill>
                <a:latin typeface="Cambria" pitchFamily="34" charset="0"/>
                <a:ea typeface="Cambria" pitchFamily="34" charset="-122"/>
                <a:cs typeface="Cambria" pitchFamily="34" charset="-120"/>
              </a:rPr>
              <a:t>H</a:t>
            </a:r>
            <a:endParaRPr lang="en-US" sz="1500" dirty="0"/>
          </a:p>
        </p:txBody>
      </p:sp>
      <p:sp>
        <p:nvSpPr>
          <p:cNvPr id="23" name="ctrl1"/>
          <p:cNvSpPr/>
          <p:nvPr/>
        </p:nvSpPr>
        <p:spPr>
          <a:xfrm>
            <a:off x="5166360" y="2697480"/>
            <a:ext cx="0" cy="1261872"/>
          </a:xfrm>
          <a:prstGeom prst="line">
            <a:avLst/>
          </a:prstGeom>
          <a:noFill/>
          <a:ln w="15875">
            <a:solidFill>
              <a:schemeClr val="tx1"/>
            </a:solidFill>
            <a:prstDash val="solid"/>
          </a:ln>
        </p:spPr>
      </p:sp>
      <p:sp>
        <p:nvSpPr>
          <p:cNvPr id="24" name="cdot1"/>
          <p:cNvSpPr/>
          <p:nvPr/>
        </p:nvSpPr>
        <p:spPr>
          <a:xfrm>
            <a:off x="5084064" y="2615184"/>
            <a:ext cx="164592" cy="164592"/>
          </a:xfrm>
          <a:prstGeom prst="ellipse">
            <a:avLst/>
          </a:prstGeom>
          <a:solidFill>
            <a:schemeClr val="tx1"/>
          </a:solidFill>
          <a:ln w="12700">
            <a:solidFill>
              <a:schemeClr val="tx1"/>
            </a:solidFill>
            <a:prstDash val="solid"/>
          </a:ln>
        </p:spPr>
      </p:sp>
      <p:sp>
        <p:nvSpPr>
          <p:cNvPr id="25" name="gate154"/>
          <p:cNvSpPr/>
          <p:nvPr/>
        </p:nvSpPr>
        <p:spPr>
          <a:xfrm>
            <a:off x="4732020" y="3959352"/>
            <a:ext cx="868680" cy="585216"/>
          </a:xfrm>
          <a:prstGeom prst="roundRect">
            <a:avLst>
              <a:gd name="adj" fmla="val 9375"/>
            </a:avLst>
          </a:prstGeom>
          <a:solidFill>
            <a:schemeClr val="accent6"/>
          </a:solidFill>
          <a:ln w="12700">
            <a:solidFill>
              <a:schemeClr val="tx1"/>
            </a:solidFill>
            <a:prstDash val="solid"/>
          </a:ln>
        </p:spPr>
      </p:sp>
      <p:sp>
        <p:nvSpPr>
          <p:cNvPr id="26" name="text155"/>
          <p:cNvSpPr txBox="1"/>
          <p:nvPr/>
        </p:nvSpPr>
        <p:spPr>
          <a:xfrm>
            <a:off x="4732020" y="3959352"/>
            <a:ext cx="868680" cy="585216"/>
          </a:xfrm>
          <a:prstGeom prst="rect">
            <a:avLst/>
          </a:prstGeom>
          <a:noFill/>
          <a:ln/>
        </p:spPr>
        <p:txBody>
          <a:bodyPr wrap="square" lIns="0" tIns="0" rIns="0" bIns="0" rtlCol="0" anchor="ctr"/>
          <a:lstStyle/>
          <a:p>
            <a:pPr algn="ctr" indent="0" marL="0">
              <a:buNone/>
            </a:pPr>
            <a:r>
              <a:rPr lang="en-US" sz="1500" b="1" dirty="0">
                <a:solidFill>
                  <a:schemeClr val="tx1"/>
                </a:solidFill>
                <a:latin typeface="Cambria" pitchFamily="34" charset="0"/>
                <a:ea typeface="Cambria" pitchFamily="34" charset="-122"/>
                <a:cs typeface="Cambria" pitchFamily="34" charset="-120"/>
              </a:rPr>
              <a:t>U</a:t>
            </a:r>
            <a:pPr algn="ctr" indent="0" marL="0">
              <a:buNone/>
            </a:pPr>
            <a:r>
              <a:rPr lang="en-US" sz="1500" b="1" baseline="30000" dirty="0">
                <a:solidFill>
                  <a:schemeClr val="tx1"/>
                </a:solidFill>
                <a:latin typeface="Cambria" pitchFamily="34" charset="0"/>
                <a:ea typeface="Cambria" pitchFamily="34" charset="-122"/>
                <a:cs typeface="Cambria" pitchFamily="34" charset="-120"/>
              </a:rPr>
              <a:t>2</a:t>
            </a:r>
            <a:endParaRPr lang="en-US" sz="1500" dirty="0"/>
          </a:p>
        </p:txBody>
      </p:sp>
      <p:sp>
        <p:nvSpPr>
          <p:cNvPr id="27" name="gate156"/>
          <p:cNvSpPr/>
          <p:nvPr/>
        </p:nvSpPr>
        <p:spPr>
          <a:xfrm>
            <a:off x="9052560" y="2468880"/>
            <a:ext cx="548640" cy="457200"/>
          </a:xfrm>
          <a:prstGeom prst="roundRect">
            <a:avLst>
              <a:gd name="adj" fmla="val 12000"/>
            </a:avLst>
          </a:prstGeom>
          <a:solidFill>
            <a:schemeClr val="bg2"/>
          </a:solidFill>
          <a:ln w="12700">
            <a:solidFill>
              <a:schemeClr val="tx1"/>
            </a:solidFill>
            <a:prstDash val="solid"/>
          </a:ln>
        </p:spPr>
      </p:sp>
      <p:sp>
        <p:nvSpPr>
          <p:cNvPr id="28" name="text157"/>
          <p:cNvSpPr txBox="1"/>
          <p:nvPr/>
        </p:nvSpPr>
        <p:spPr>
          <a:xfrm>
            <a:off x="9052560" y="2468880"/>
            <a:ext cx="548640" cy="457200"/>
          </a:xfrm>
          <a:prstGeom prst="rect">
            <a:avLst/>
          </a:prstGeom>
          <a:noFill/>
          <a:ln/>
        </p:spPr>
        <p:txBody>
          <a:bodyPr wrap="square" lIns="0" tIns="0" rIns="0" bIns="0" rtlCol="0" anchor="ctr"/>
          <a:lstStyle/>
          <a:p>
            <a:pPr algn="ctr" indent="0" marL="0">
              <a:buNone/>
            </a:pPr>
            <a:r>
              <a:rPr lang="en-US" sz="1500" b="1" dirty="0">
                <a:solidFill>
                  <a:schemeClr val="tx1"/>
                </a:solidFill>
                <a:latin typeface="Cambria" pitchFamily="34" charset="0"/>
                <a:ea typeface="Cambria" pitchFamily="34" charset="-122"/>
                <a:cs typeface="Cambria" pitchFamily="34" charset="-120"/>
              </a:rPr>
              <a:t>M</a:t>
            </a:r>
            <a:endParaRPr lang="en-US" sz="1500" dirty="0"/>
          </a:p>
        </p:txBody>
      </p:sp>
      <p:sp>
        <p:nvSpPr>
          <p:cNvPr id="29" name="gate158"/>
          <p:cNvSpPr/>
          <p:nvPr/>
        </p:nvSpPr>
        <p:spPr>
          <a:xfrm>
            <a:off x="2263140" y="3154680"/>
            <a:ext cx="502920" cy="457200"/>
          </a:xfrm>
          <a:prstGeom prst="roundRect">
            <a:avLst>
              <a:gd name="adj" fmla="val 12000"/>
            </a:avLst>
          </a:prstGeom>
          <a:solidFill>
            <a:schemeClr val="bg1"/>
          </a:solidFill>
          <a:ln w="12700">
            <a:solidFill>
              <a:schemeClr val="tx1"/>
            </a:solidFill>
            <a:prstDash val="solid"/>
          </a:ln>
        </p:spPr>
      </p:sp>
      <p:sp>
        <p:nvSpPr>
          <p:cNvPr id="30" name="text159"/>
          <p:cNvSpPr txBox="1"/>
          <p:nvPr/>
        </p:nvSpPr>
        <p:spPr>
          <a:xfrm>
            <a:off x="2263140" y="3154680"/>
            <a:ext cx="502920" cy="457200"/>
          </a:xfrm>
          <a:prstGeom prst="rect">
            <a:avLst/>
          </a:prstGeom>
          <a:noFill/>
          <a:ln/>
        </p:spPr>
        <p:txBody>
          <a:bodyPr wrap="square" lIns="0" tIns="0" rIns="0" bIns="0" rtlCol="0" anchor="ctr"/>
          <a:lstStyle/>
          <a:p>
            <a:pPr algn="ctr" indent="0" marL="0">
              <a:buNone/>
            </a:pPr>
            <a:r>
              <a:rPr lang="en-US" sz="1500" b="1" dirty="0">
                <a:solidFill>
                  <a:schemeClr val="tx1"/>
                </a:solidFill>
                <a:latin typeface="Cambria" pitchFamily="34" charset="0"/>
                <a:ea typeface="Cambria" pitchFamily="34" charset="-122"/>
                <a:cs typeface="Cambria" pitchFamily="34" charset="-120"/>
              </a:rPr>
              <a:t>H</a:t>
            </a:r>
            <a:endParaRPr lang="en-US" sz="1500" dirty="0"/>
          </a:p>
        </p:txBody>
      </p:sp>
      <p:sp>
        <p:nvSpPr>
          <p:cNvPr id="31" name="ctrl2"/>
          <p:cNvSpPr/>
          <p:nvPr/>
        </p:nvSpPr>
        <p:spPr>
          <a:xfrm>
            <a:off x="6400800" y="3383280"/>
            <a:ext cx="0" cy="576072"/>
          </a:xfrm>
          <a:prstGeom prst="line">
            <a:avLst/>
          </a:prstGeom>
          <a:noFill/>
          <a:ln w="15875">
            <a:solidFill>
              <a:schemeClr val="tx1"/>
            </a:solidFill>
            <a:prstDash val="solid"/>
          </a:ln>
        </p:spPr>
      </p:sp>
      <p:sp>
        <p:nvSpPr>
          <p:cNvPr id="32" name="cdot2"/>
          <p:cNvSpPr/>
          <p:nvPr/>
        </p:nvSpPr>
        <p:spPr>
          <a:xfrm>
            <a:off x="6318504" y="3300984"/>
            <a:ext cx="164592" cy="164592"/>
          </a:xfrm>
          <a:prstGeom prst="ellipse">
            <a:avLst/>
          </a:prstGeom>
          <a:solidFill>
            <a:schemeClr val="tx1"/>
          </a:solidFill>
          <a:ln w="12700">
            <a:solidFill>
              <a:schemeClr val="tx1"/>
            </a:solidFill>
            <a:prstDash val="solid"/>
          </a:ln>
        </p:spPr>
      </p:sp>
      <p:sp>
        <p:nvSpPr>
          <p:cNvPr id="33" name="gate160"/>
          <p:cNvSpPr/>
          <p:nvPr/>
        </p:nvSpPr>
        <p:spPr>
          <a:xfrm>
            <a:off x="5966460" y="3959352"/>
            <a:ext cx="868680" cy="585216"/>
          </a:xfrm>
          <a:prstGeom prst="roundRect">
            <a:avLst>
              <a:gd name="adj" fmla="val 9375"/>
            </a:avLst>
          </a:prstGeom>
          <a:solidFill>
            <a:schemeClr val="accent6"/>
          </a:solidFill>
          <a:ln w="12700">
            <a:solidFill>
              <a:schemeClr val="tx1"/>
            </a:solidFill>
            <a:prstDash val="solid"/>
          </a:ln>
        </p:spPr>
      </p:sp>
      <p:sp>
        <p:nvSpPr>
          <p:cNvPr id="34" name="text161"/>
          <p:cNvSpPr txBox="1"/>
          <p:nvPr/>
        </p:nvSpPr>
        <p:spPr>
          <a:xfrm>
            <a:off x="5966460" y="3959352"/>
            <a:ext cx="868680" cy="585216"/>
          </a:xfrm>
          <a:prstGeom prst="rect">
            <a:avLst/>
          </a:prstGeom>
          <a:noFill/>
          <a:ln/>
        </p:spPr>
        <p:txBody>
          <a:bodyPr wrap="square" lIns="0" tIns="0" rIns="0" bIns="0" rtlCol="0" anchor="ctr"/>
          <a:lstStyle/>
          <a:p>
            <a:pPr algn="ctr" indent="0" marL="0">
              <a:buNone/>
            </a:pPr>
            <a:r>
              <a:rPr lang="en-US" sz="1500" b="1" dirty="0">
                <a:solidFill>
                  <a:schemeClr val="tx1"/>
                </a:solidFill>
                <a:latin typeface="Cambria" pitchFamily="34" charset="0"/>
                <a:ea typeface="Cambria" pitchFamily="34" charset="-122"/>
                <a:cs typeface="Cambria" pitchFamily="34" charset="-120"/>
              </a:rPr>
              <a:t>U</a:t>
            </a:r>
            <a:pPr algn="ctr" indent="0" marL="0">
              <a:buNone/>
            </a:pPr>
            <a:r>
              <a:rPr lang="en-US" sz="1500" b="1" baseline="30000" dirty="0">
                <a:solidFill>
                  <a:schemeClr val="tx1"/>
                </a:solidFill>
                <a:latin typeface="Cambria" pitchFamily="34" charset="0"/>
                <a:ea typeface="Cambria" pitchFamily="34" charset="-122"/>
                <a:cs typeface="Cambria" pitchFamily="34" charset="-120"/>
              </a:rPr>
              <a:t>4</a:t>
            </a:r>
            <a:endParaRPr lang="en-US" sz="1500" dirty="0"/>
          </a:p>
        </p:txBody>
      </p:sp>
      <p:sp>
        <p:nvSpPr>
          <p:cNvPr id="35" name="gate162"/>
          <p:cNvSpPr/>
          <p:nvPr/>
        </p:nvSpPr>
        <p:spPr>
          <a:xfrm>
            <a:off x="9052560" y="3154680"/>
            <a:ext cx="548640" cy="457200"/>
          </a:xfrm>
          <a:prstGeom prst="roundRect">
            <a:avLst>
              <a:gd name="adj" fmla="val 12000"/>
            </a:avLst>
          </a:prstGeom>
          <a:solidFill>
            <a:schemeClr val="bg2"/>
          </a:solidFill>
          <a:ln w="12700">
            <a:solidFill>
              <a:schemeClr val="tx1"/>
            </a:solidFill>
            <a:prstDash val="solid"/>
          </a:ln>
        </p:spPr>
      </p:sp>
      <p:sp>
        <p:nvSpPr>
          <p:cNvPr id="36" name="text163"/>
          <p:cNvSpPr txBox="1"/>
          <p:nvPr/>
        </p:nvSpPr>
        <p:spPr>
          <a:xfrm>
            <a:off x="9052560" y="3154680"/>
            <a:ext cx="548640" cy="457200"/>
          </a:xfrm>
          <a:prstGeom prst="rect">
            <a:avLst/>
          </a:prstGeom>
          <a:noFill/>
          <a:ln/>
        </p:spPr>
        <p:txBody>
          <a:bodyPr wrap="square" lIns="0" tIns="0" rIns="0" bIns="0" rtlCol="0" anchor="ctr"/>
          <a:lstStyle/>
          <a:p>
            <a:pPr algn="ctr" indent="0" marL="0">
              <a:buNone/>
            </a:pPr>
            <a:r>
              <a:rPr lang="en-US" sz="1500" b="1" dirty="0">
                <a:solidFill>
                  <a:schemeClr val="tx1"/>
                </a:solidFill>
                <a:latin typeface="Cambria" pitchFamily="34" charset="0"/>
                <a:ea typeface="Cambria" pitchFamily="34" charset="-122"/>
                <a:cs typeface="Cambria" pitchFamily="34" charset="-120"/>
              </a:rPr>
              <a:t>M</a:t>
            </a:r>
            <a:endParaRPr lang="en-US" sz="1500" dirty="0"/>
          </a:p>
        </p:txBody>
      </p:sp>
      <p:sp>
        <p:nvSpPr>
          <p:cNvPr id="37" name="gate164"/>
          <p:cNvSpPr/>
          <p:nvPr/>
        </p:nvSpPr>
        <p:spPr>
          <a:xfrm>
            <a:off x="7360920" y="1737360"/>
            <a:ext cx="1188720" cy="1920240"/>
          </a:xfrm>
          <a:prstGeom prst="roundRect">
            <a:avLst>
              <a:gd name="adj" fmla="val 4615"/>
            </a:avLst>
          </a:prstGeom>
          <a:solidFill>
            <a:schemeClr val="accent2"/>
          </a:solidFill>
          <a:ln w="12700">
            <a:solidFill>
              <a:schemeClr val="tx1"/>
            </a:solidFill>
            <a:prstDash val="solid"/>
          </a:ln>
        </p:spPr>
      </p:sp>
      <p:sp>
        <p:nvSpPr>
          <p:cNvPr id="38" name="text165"/>
          <p:cNvSpPr txBox="1"/>
          <p:nvPr/>
        </p:nvSpPr>
        <p:spPr>
          <a:xfrm>
            <a:off x="7360920" y="1737360"/>
            <a:ext cx="1188720" cy="1920240"/>
          </a:xfrm>
          <a:prstGeom prst="rect">
            <a:avLst/>
          </a:prstGeom>
          <a:noFill/>
          <a:ln/>
        </p:spPr>
        <p:txBody>
          <a:bodyPr wrap="square" lIns="0" tIns="0" rIns="0" bIns="0" rtlCol="0" anchor="ctr"/>
          <a:lstStyle/>
          <a:p>
            <a:pPr algn="ctr" indent="0" marL="0">
              <a:buNone/>
            </a:pPr>
            <a:r>
              <a:rPr lang="en-US" sz="1500" b="1" dirty="0">
                <a:solidFill>
                  <a:schemeClr val="tx1"/>
                </a:solidFill>
                <a:latin typeface="Cambria" pitchFamily="34" charset="0"/>
                <a:ea typeface="Cambria" pitchFamily="34" charset="-122"/>
                <a:cs typeface="Cambria" pitchFamily="34" charset="-120"/>
              </a:rPr>
              <a:t>QFT</a:t>
            </a:r>
            <a:pPr algn="ctr" indent="0" marL="0">
              <a:buNone/>
            </a:pPr>
            <a:r>
              <a:rPr lang="en-US" sz="1500" b="1" baseline="30000" dirty="0">
                <a:solidFill>
                  <a:schemeClr val="tx1"/>
                </a:solidFill>
                <a:latin typeface="Cambria" pitchFamily="34" charset="0"/>
                <a:ea typeface="Cambria" pitchFamily="34" charset="-122"/>
                <a:cs typeface="Cambria" pitchFamily="34" charset="-120"/>
              </a:rPr>
              <a:t>†</a:t>
            </a:r>
            <a:endParaRPr lang="en-US" sz="1500" dirty="0"/>
          </a:p>
        </p:txBody>
      </p:sp>
      <p:sp>
        <p:nvSpPr>
          <p:cNvPr id="39" name="text166"/>
          <p:cNvSpPr txBox="1"/>
          <p:nvPr/>
        </p:nvSpPr>
        <p:spPr>
          <a:xfrm>
            <a:off x="9829800" y="2514600"/>
            <a:ext cx="1645920" cy="365760"/>
          </a:xfrm>
          <a:prstGeom prst="rect">
            <a:avLst/>
          </a:prstGeom>
          <a:noFill/>
          <a:ln/>
        </p:spPr>
        <p:txBody>
          <a:bodyPr wrap="square" lIns="0" tIns="0" rIns="0" bIns="0" rtlCol="0" anchor="ctr"/>
          <a:lstStyle/>
          <a:p>
            <a:pPr indent="0" marL="0">
              <a:buNone/>
            </a:pPr>
            <a:r>
              <a:rPr lang="en-US" sz="1400" b="1" dirty="0">
                <a:solidFill>
                  <a:schemeClr val="tx1"/>
                </a:solidFill>
              </a:rPr>
              <a:t>m ≈ λ · 2</a:t>
            </a:r>
            <a:pPr indent="0" marL="0">
              <a:buNone/>
            </a:pPr>
            <a:r>
              <a:rPr lang="en-US" sz="1400" b="1" baseline="30000" dirty="0">
                <a:solidFill>
                  <a:schemeClr val="tx1"/>
                </a:solidFill>
              </a:rPr>
              <a:t>t</a:t>
            </a:r>
            <a:endParaRPr lang="en-US" sz="1400" dirty="0"/>
          </a:p>
        </p:txBody>
      </p:sp>
      <p:sp>
        <p:nvSpPr>
          <p:cNvPr id="40" name="text167"/>
          <p:cNvSpPr txBox="1"/>
          <p:nvPr/>
        </p:nvSpPr>
        <p:spPr>
          <a:xfrm>
            <a:off x="9829800" y="3657600"/>
            <a:ext cx="1828800" cy="365760"/>
          </a:xfrm>
          <a:prstGeom prst="rect">
            <a:avLst/>
          </a:prstGeom>
          <a:noFill/>
          <a:ln/>
        </p:spPr>
        <p:txBody>
          <a:bodyPr wrap="square" lIns="0" tIns="0" rIns="0" bIns="0" rtlCol="0" anchor="t"/>
          <a:lstStyle/>
          <a:p>
            <a:pPr indent="0" marL="0">
              <a:buNone/>
            </a:pPr>
            <a:r>
              <a:rPr lang="en-US" sz="1400" b="1" dirty="0">
                <a:solidFill>
                  <a:schemeClr val="accent1"/>
                </a:solidFill>
              </a:rPr>
              <a:t>eigenvector |v⟩</a:t>
            </a:r>
            <a:endParaRPr lang="en-US" sz="1400" dirty="0"/>
          </a:p>
        </p:txBody>
      </p:sp>
      <p:sp>
        <p:nvSpPr>
          <p:cNvPr id="41" name="text168"/>
          <p:cNvSpPr txBox="1"/>
          <p:nvPr/>
        </p:nvSpPr>
        <p:spPr>
          <a:xfrm>
            <a:off x="548640" y="5120640"/>
            <a:ext cx="3474720" cy="914400"/>
          </a:xfrm>
          <a:prstGeom prst="rect">
            <a:avLst/>
          </a:prstGeom>
          <a:noFill/>
          <a:ln/>
        </p:spPr>
        <p:txBody>
          <a:bodyPr wrap="square" lIns="0" tIns="0" rIns="0" bIns="0" rtlCol="0" anchor="t"/>
          <a:lstStyle/>
          <a:p>
            <a:pPr indent="0" marL="0">
              <a:buNone/>
            </a:pPr>
            <a:r>
              <a:rPr lang="en-US" sz="1800" b="1" dirty="0">
                <a:solidFill>
                  <a:schemeClr val="accent1"/>
                </a:solidFill>
              </a:rPr>
              <a:t>H  </a:t>
            </a:r>
            <a:pPr indent="0" marL="0">
              <a:buNone/>
            </a:pPr>
            <a:r>
              <a:rPr lang="en-US" sz="1400" dirty="0">
                <a:solidFill>
                  <a:schemeClr val="tx2"/>
                </a:solidFill>
              </a:rPr>
              <a:t>Hadamard gates put the phase qubits into superposition.</a:t>
            </a:r>
            <a:endParaRPr lang="en-US" sz="1400" dirty="0"/>
          </a:p>
        </p:txBody>
      </p:sp>
      <p:sp>
        <p:nvSpPr>
          <p:cNvPr id="42" name="text169"/>
          <p:cNvSpPr txBox="1"/>
          <p:nvPr/>
        </p:nvSpPr>
        <p:spPr>
          <a:xfrm>
            <a:off x="4297680" y="5120640"/>
            <a:ext cx="3474720" cy="914400"/>
          </a:xfrm>
          <a:prstGeom prst="rect">
            <a:avLst/>
          </a:prstGeom>
          <a:noFill/>
          <a:ln/>
        </p:spPr>
        <p:txBody>
          <a:bodyPr wrap="square" lIns="0" tIns="0" rIns="0" bIns="0" rtlCol="0" anchor="t"/>
          <a:lstStyle/>
          <a:p>
            <a:pPr indent="0" marL="0">
              <a:buNone/>
            </a:pPr>
            <a:r>
              <a:rPr lang="en-US" sz="1800" b="1" dirty="0">
                <a:solidFill>
                  <a:schemeClr val="accent1"/>
                </a:solidFill>
              </a:rPr>
              <a:t>U  </a:t>
            </a:r>
            <a:pPr indent="0" marL="0">
              <a:buNone/>
            </a:pPr>
            <a:r>
              <a:rPr lang="en-US" sz="1400" dirty="0">
                <a:solidFill>
                  <a:schemeClr val="tx2"/>
                </a:solidFill>
              </a:rPr>
              <a:t>Controlled powers of U write the eigenvalue into the phases.</a:t>
            </a:r>
            <a:endParaRPr lang="en-US" sz="1400" dirty="0"/>
          </a:p>
        </p:txBody>
      </p:sp>
      <p:sp>
        <p:nvSpPr>
          <p:cNvPr id="43" name="text170"/>
          <p:cNvSpPr txBox="1"/>
          <p:nvPr/>
        </p:nvSpPr>
        <p:spPr>
          <a:xfrm>
            <a:off x="8046720" y="5120640"/>
            <a:ext cx="3474720" cy="914400"/>
          </a:xfrm>
          <a:prstGeom prst="rect">
            <a:avLst/>
          </a:prstGeom>
          <a:noFill/>
          <a:ln/>
        </p:spPr>
        <p:txBody>
          <a:bodyPr wrap="square" lIns="0" tIns="0" rIns="0" bIns="0" rtlCol="0" anchor="t"/>
          <a:lstStyle/>
          <a:p>
            <a:pPr indent="0" marL="0">
              <a:buNone/>
            </a:pPr>
            <a:r>
              <a:rPr lang="en-US" sz="1800" b="1" dirty="0">
                <a:solidFill>
                  <a:schemeClr val="accent1"/>
                </a:solidFill>
              </a:rPr>
              <a:t>QFT†  </a:t>
            </a:r>
            <a:pPr indent="0" marL="0">
              <a:buNone/>
            </a:pPr>
            <a:r>
              <a:rPr lang="en-US" sz="1400" dirty="0">
                <a:solidFill>
                  <a:schemeClr val="tx2"/>
                </a:solidFill>
              </a:rPr>
              <a:t>Inverse Fourier transform turns phases into a binary number.</a:t>
            </a:r>
            <a:endParaRPr 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200" b="1" dirty="0">
                <a:solidFill>
                  <a:schemeClr val="tx1"/>
                </a:solidFill>
              </a:rPr>
              <a:t>What the simulation covers, and what it leaves out</a:t>
            </a:r>
            <a:endParaRPr lang="en-US" sz="3200" dirty="0"/>
          </a:p>
        </p:txBody>
      </p:sp>
      <p:sp>
        <p:nvSpPr>
          <p:cNvPr id="4" name="card171"/>
          <p:cNvSpPr/>
          <p:nvPr/>
        </p:nvSpPr>
        <p:spPr>
          <a:xfrm>
            <a:off x="548640" y="1463040"/>
            <a:ext cx="5394960" cy="4480560"/>
          </a:xfrm>
          <a:prstGeom prst="roundRect">
            <a:avLst>
              <a:gd name="adj" fmla="val 2449"/>
            </a:avLst>
          </a:prstGeom>
          <a:solidFill>
            <a:schemeClr val="bg2"/>
          </a:solidFill>
          <a:ln w="12700">
            <a:solidFill>
              <a:schemeClr val="bg2"/>
            </a:solidFill>
            <a:prstDash val="solid"/>
          </a:ln>
          <a:effectLst>
            <a:outerShdw sx="100000" sy="100000" kx="0" ky="0" algn="bl" rotWithShape="0" blurRad="101600" dist="25400" dir="5400000">
              <a:srgbClr val="0B1F3A">
                <a:alpha val="12000"/>
              </a:srgbClr>
            </a:outerShdw>
          </a:effectLst>
        </p:spPr>
      </p:sp>
      <p:sp>
        <p:nvSpPr>
          <p:cNvPr id="5" name="dot172"/>
          <p:cNvSpPr/>
          <p:nvPr/>
        </p:nvSpPr>
        <p:spPr>
          <a:xfrm>
            <a:off x="822960" y="1691640"/>
            <a:ext cx="731520" cy="731520"/>
          </a:xfrm>
          <a:prstGeom prst="ellipse">
            <a:avLst/>
          </a:prstGeom>
          <a:solidFill>
            <a:schemeClr val="accent3"/>
          </a:solidFill>
          <a:ln w="12700">
            <a:solidFill>
              <a:schemeClr val="accent3"/>
            </a:solidFill>
            <a:prstDash val="solid"/>
          </a:ln>
        </p:spPr>
      </p:sp>
      <p:pic>
        <p:nvPicPr>
          <p:cNvPr id="6" name="icon173" descr="preencoded.png">    </p:cNvPr>
          <p:cNvPicPr>
            <a:picLocks noChangeAspect="1"/>
          </p:cNvPicPr>
          <p:nvPr/>
        </p:nvPicPr>
        <p:blipFill>
          <a:blip r:embed="rId1"/>
          <a:stretch>
            <a:fillRect/>
          </a:stretch>
        </p:blipFill>
        <p:spPr>
          <a:xfrm>
            <a:off x="1005840" y="1874520"/>
            <a:ext cx="365760" cy="365760"/>
          </a:xfrm>
          <a:prstGeom prst="rect">
            <a:avLst/>
          </a:prstGeom>
        </p:spPr>
      </p:pic>
      <p:sp>
        <p:nvSpPr>
          <p:cNvPr id="7" name="text174"/>
          <p:cNvSpPr txBox="1"/>
          <p:nvPr/>
        </p:nvSpPr>
        <p:spPr>
          <a:xfrm>
            <a:off x="1783080" y="1783080"/>
            <a:ext cx="3931920" cy="548640"/>
          </a:xfrm>
          <a:prstGeom prst="rect">
            <a:avLst/>
          </a:prstGeom>
          <a:noFill/>
          <a:ln/>
        </p:spPr>
        <p:txBody>
          <a:bodyPr wrap="square" lIns="0" tIns="0" rIns="0" bIns="0" rtlCol="0" anchor="ctr"/>
          <a:lstStyle/>
          <a:p>
            <a:pPr indent="0" marL="0">
              <a:buNone/>
            </a:pPr>
            <a:r>
              <a:rPr lang="en-US" sz="2200" b="1" dirty="0">
                <a:solidFill>
                  <a:schemeClr val="tx1"/>
                </a:solidFill>
              </a:rPr>
              <a:t>Simulated exactly</a:t>
            </a:r>
            <a:endParaRPr lang="en-US" sz="2200" dirty="0"/>
          </a:p>
        </p:txBody>
      </p:sp>
      <p:sp>
        <p:nvSpPr>
          <p:cNvPr id="8" name="text175"/>
          <p:cNvSpPr txBox="1"/>
          <p:nvPr/>
        </p:nvSpPr>
        <p:spPr>
          <a:xfrm>
            <a:off x="868680" y="2651760"/>
            <a:ext cx="4846320" cy="310896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chemeClr val="tx2"/>
                </a:solidFill>
              </a:rPr>
              <a:t>Full state evolution through Hadamards, controlled U powers, inverse QFT and measurement</a:t>
            </a:r>
            <a:endParaRPr lang="en-US" sz="1800" dirty="0"/>
          </a:p>
          <a:p>
            <a:pPr marL="342900" indent="-342900">
              <a:spcAft>
                <a:spcPts val="1000"/>
              </a:spcAft>
              <a:buSzPct val="100000"/>
              <a:buChar char="•"/>
            </a:pPr>
            <a:r>
              <a:rPr lang="en-US" sz="1800" dirty="0">
                <a:solidFill>
                  <a:schemeClr val="tx2"/>
                </a:solidFill>
              </a:rPr>
              <a:t>State preparation as a purification of ρ built from the data, with no eigendecomposition</a:t>
            </a:r>
            <a:endParaRPr lang="en-US" sz="1800" dirty="0"/>
          </a:p>
          <a:p>
            <a:pPr marL="342900" indent="-342900">
              <a:spcAft>
                <a:spcPts val="1000"/>
              </a:spcAft>
              <a:buSzPct val="100000"/>
              <a:buChar char="•"/>
            </a:pPr>
            <a:r>
              <a:rPr lang="en-US" sz="1800" dirty="0">
                <a:solidFill>
                  <a:schemeClr val="tx2"/>
                </a:solidFill>
              </a:rPr>
              <a:t>Finite-shot measurement statistics for the phase register</a:t>
            </a:r>
            <a:endParaRPr lang="en-US" sz="1800" dirty="0"/>
          </a:p>
          <a:p>
            <a:pPr marL="342900" indent="-342900">
              <a:spcAft>
                <a:spcPts val="1000"/>
              </a:spcAft>
              <a:buSzPct val="100000"/>
              <a:buChar char="•"/>
            </a:pPr>
            <a:r>
              <a:rPr lang="en-US" sz="1800" dirty="0">
                <a:solidFill>
                  <a:schemeClr val="tx2"/>
                </a:solidFill>
              </a:rPr>
              <a:t>Phase resolution limits set by the number of phase qubits</a:t>
            </a:r>
            <a:endParaRPr lang="en-US" sz="1800" dirty="0"/>
          </a:p>
        </p:txBody>
      </p:sp>
      <p:sp>
        <p:nvSpPr>
          <p:cNvPr id="9" name="card176"/>
          <p:cNvSpPr/>
          <p:nvPr/>
        </p:nvSpPr>
        <p:spPr>
          <a:xfrm>
            <a:off x="6217920" y="1463040"/>
            <a:ext cx="5394960" cy="4480560"/>
          </a:xfrm>
          <a:prstGeom prst="roundRect">
            <a:avLst>
              <a:gd name="adj" fmla="val 2449"/>
            </a:avLst>
          </a:prstGeom>
          <a:solidFill>
            <a:schemeClr val="tx1"/>
          </a:solidFill>
          <a:ln w="12700">
            <a:solidFill>
              <a:schemeClr val="tx1"/>
            </a:solidFill>
            <a:prstDash val="solid"/>
          </a:ln>
          <a:effectLst>
            <a:outerShdw sx="100000" sy="100000" kx="0" ky="0" algn="bl" rotWithShape="0" blurRad="101600" dist="25400" dir="5400000">
              <a:srgbClr val="0B1F3A">
                <a:alpha val="12000"/>
              </a:srgbClr>
            </a:outerShdw>
          </a:effectLst>
        </p:spPr>
      </p:sp>
      <p:sp>
        <p:nvSpPr>
          <p:cNvPr id="10" name="dot177"/>
          <p:cNvSpPr/>
          <p:nvPr/>
        </p:nvSpPr>
        <p:spPr>
          <a:xfrm>
            <a:off x="6492240" y="1691640"/>
            <a:ext cx="731520" cy="731520"/>
          </a:xfrm>
          <a:prstGeom prst="ellipse">
            <a:avLst/>
          </a:prstGeom>
          <a:solidFill>
            <a:schemeClr val="accent4"/>
          </a:solidFill>
          <a:ln w="12700">
            <a:solidFill>
              <a:schemeClr val="accent4"/>
            </a:solidFill>
            <a:prstDash val="solid"/>
          </a:ln>
        </p:spPr>
      </p:sp>
      <p:pic>
        <p:nvPicPr>
          <p:cNvPr id="11" name="icon178" descr="preencoded.png">    </p:cNvPr>
          <p:cNvPicPr>
            <a:picLocks noChangeAspect="1"/>
          </p:cNvPicPr>
          <p:nvPr/>
        </p:nvPicPr>
        <p:blipFill>
          <a:blip r:embed="rId2"/>
          <a:stretch>
            <a:fillRect/>
          </a:stretch>
        </p:blipFill>
        <p:spPr>
          <a:xfrm>
            <a:off x="6675120" y="1874520"/>
            <a:ext cx="365760" cy="365760"/>
          </a:xfrm>
          <a:prstGeom prst="rect">
            <a:avLst/>
          </a:prstGeom>
        </p:spPr>
      </p:pic>
      <p:sp>
        <p:nvSpPr>
          <p:cNvPr id="12" name="text179"/>
          <p:cNvSpPr txBox="1"/>
          <p:nvPr/>
        </p:nvSpPr>
        <p:spPr>
          <a:xfrm>
            <a:off x="7452360" y="1783080"/>
            <a:ext cx="3931920" cy="548640"/>
          </a:xfrm>
          <a:prstGeom prst="rect">
            <a:avLst/>
          </a:prstGeom>
          <a:noFill/>
          <a:ln/>
        </p:spPr>
        <p:txBody>
          <a:bodyPr wrap="square" lIns="0" tIns="0" rIns="0" bIns="0" rtlCol="0" anchor="ctr"/>
          <a:lstStyle/>
          <a:p>
            <a:pPr indent="0" marL="0">
              <a:buNone/>
            </a:pPr>
            <a:r>
              <a:rPr lang="en-US" sz="2200" b="1" dirty="0">
                <a:solidFill>
                  <a:schemeClr val="bg1"/>
                </a:solidFill>
              </a:rPr>
              <a:t>Not simulated</a:t>
            </a:r>
            <a:endParaRPr lang="en-US" sz="2200" dirty="0"/>
          </a:p>
        </p:txBody>
      </p:sp>
      <p:sp>
        <p:nvSpPr>
          <p:cNvPr id="13" name="text180"/>
          <p:cNvSpPr txBox="1"/>
          <p:nvPr/>
        </p:nvSpPr>
        <p:spPr>
          <a:xfrm>
            <a:off x="6537960" y="2651760"/>
            <a:ext cx="4846320" cy="310896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chemeClr val="bg1"/>
                </a:solidFill>
              </a:rPr>
              <a:t>Density-matrix exponentiation from copies of ρ: U is built with expm instead</a:t>
            </a:r>
            <a:endParaRPr lang="en-US" sz="1800" dirty="0"/>
          </a:p>
          <a:p>
            <a:pPr marL="342900" indent="-342900">
              <a:spcAft>
                <a:spcPts val="1000"/>
              </a:spcAft>
              <a:buSzPct val="100000"/>
              <a:buChar char="•"/>
            </a:pPr>
            <a:r>
              <a:rPr lang="en-US" sz="1800" dirty="0">
                <a:solidFill>
                  <a:schemeClr val="bg1"/>
                </a:solidFill>
              </a:rPr>
              <a:t>QRAM loading of the sensor data</a:t>
            </a:r>
            <a:endParaRPr lang="en-US" sz="1800" dirty="0"/>
          </a:p>
          <a:p>
            <a:pPr marL="342900" indent="-342900">
              <a:spcAft>
                <a:spcPts val="1000"/>
              </a:spcAft>
              <a:buSzPct val="100000"/>
              <a:buChar char="•"/>
            </a:pPr>
            <a:r>
              <a:rPr lang="en-US" sz="1800" dirty="0">
                <a:solidFill>
                  <a:schemeClr val="bg1"/>
                </a:solidFill>
              </a:rPr>
              <a:t>Gate noise and decoherence</a:t>
            </a:r>
            <a:endParaRPr lang="en-US" sz="1800" dirty="0"/>
          </a:p>
          <a:p>
            <a:pPr marL="342900" indent="-342900">
              <a:spcAft>
                <a:spcPts val="1000"/>
              </a:spcAft>
              <a:buSzPct val="100000"/>
              <a:buChar char="•"/>
            </a:pPr>
            <a:r>
              <a:rPr lang="en-US" sz="1800" dirty="0">
                <a:solidFill>
                  <a:schemeClr val="bg1"/>
                </a:solidFill>
              </a:rPr>
              <a:t>Real state tomography: eigenvectors are read directly, with a simple 1/√n noise model for finite shots</a:t>
            </a:r>
            <a:endParaRPr lang="en-US" sz="18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200" b="1" dirty="0">
                <a:solidFill>
                  <a:schemeClr val="tx1"/>
                </a:solidFill>
              </a:rPr>
              <a:t>From reduced coordinates to a health status</a:t>
            </a:r>
            <a:endParaRPr lang="en-US" sz="3200" dirty="0"/>
          </a:p>
        </p:txBody>
      </p:sp>
      <p:sp>
        <p:nvSpPr>
          <p:cNvPr id="4" name="card181"/>
          <p:cNvSpPr/>
          <p:nvPr/>
        </p:nvSpPr>
        <p:spPr>
          <a:xfrm>
            <a:off x="548640" y="1463040"/>
            <a:ext cx="5760720" cy="1325880"/>
          </a:xfrm>
          <a:prstGeom prst="roundRect">
            <a:avLst>
              <a:gd name="adj" fmla="val 8276"/>
            </a:avLst>
          </a:prstGeom>
          <a:solidFill>
            <a:schemeClr val="tx1"/>
          </a:solidFill>
          <a:ln w="12700">
            <a:solidFill>
              <a:schemeClr val="tx1"/>
            </a:solidFill>
            <a:prstDash val="solid"/>
          </a:ln>
          <a:effectLst>
            <a:outerShdw sx="100000" sy="100000" kx="0" ky="0" algn="bl" rotWithShape="0" blurRad="101600" dist="25400" dir="5400000">
              <a:srgbClr val="0B1F3A">
                <a:alpha val="12000"/>
              </a:srgbClr>
            </a:outerShdw>
          </a:effectLst>
        </p:spPr>
      </p:sp>
      <p:sp>
        <p:nvSpPr>
          <p:cNvPr id="5" name="text182"/>
          <p:cNvSpPr txBox="1"/>
          <p:nvPr/>
        </p:nvSpPr>
        <p:spPr>
          <a:xfrm>
            <a:off x="822960" y="1572768"/>
            <a:ext cx="5212080" cy="320040"/>
          </a:xfrm>
          <a:prstGeom prst="rect">
            <a:avLst/>
          </a:prstGeom>
          <a:noFill/>
          <a:ln/>
        </p:spPr>
        <p:txBody>
          <a:bodyPr wrap="square" lIns="0" tIns="0" rIns="0" bIns="0" rtlCol="0" anchor="t"/>
          <a:lstStyle/>
          <a:p>
            <a:pPr indent="0" marL="0">
              <a:buNone/>
            </a:pPr>
            <a:r>
              <a:rPr lang="en-US" sz="1400" dirty="0">
                <a:solidFill>
                  <a:schemeClr val="accent6"/>
                </a:solidFill>
              </a:rPr>
              <a:t>Distance from the healthy region</a:t>
            </a:r>
            <a:endParaRPr lang="en-US" sz="1400" dirty="0"/>
          </a:p>
        </p:txBody>
      </p:sp>
      <p:sp>
        <p:nvSpPr>
          <p:cNvPr id="6" name="text183"/>
          <p:cNvSpPr txBox="1"/>
          <p:nvPr/>
        </p:nvSpPr>
        <p:spPr>
          <a:xfrm>
            <a:off x="822960" y="1920240"/>
            <a:ext cx="5212080" cy="685800"/>
          </a:xfrm>
          <a:prstGeom prst="rect">
            <a:avLst/>
          </a:prstGeom>
          <a:noFill/>
          <a:ln/>
        </p:spPr>
        <p:txBody>
          <a:bodyPr wrap="square" lIns="0" tIns="0" rIns="0" bIns="0" rtlCol="0" anchor="ctr"/>
          <a:lstStyle/>
          <a:p>
            <a:pPr indent="0" marL="0">
              <a:buNone/>
            </a:pPr>
            <a:r>
              <a:rPr lang="en-US" sz="2800" b="1" dirty="0">
                <a:solidFill>
                  <a:schemeClr val="bg1"/>
                </a:solidFill>
                <a:latin typeface="Cambria" pitchFamily="34" charset="0"/>
                <a:ea typeface="Cambria" pitchFamily="34" charset="-122"/>
                <a:cs typeface="Cambria" pitchFamily="34" charset="-120"/>
              </a:rPr>
              <a:t>d</a:t>
            </a:r>
            <a:pPr indent="0" marL="0">
              <a:buNone/>
            </a:pPr>
            <a:r>
              <a:rPr lang="en-US" sz="2800" b="1" baseline="30000" dirty="0">
                <a:solidFill>
                  <a:schemeClr val="bg1"/>
                </a:solidFill>
                <a:latin typeface="Cambria" pitchFamily="34" charset="0"/>
                <a:ea typeface="Cambria" pitchFamily="34" charset="-122"/>
                <a:cs typeface="Cambria" pitchFamily="34" charset="-120"/>
              </a:rPr>
              <a:t>2</a:t>
            </a:r>
            <a:pPr indent="0" marL="0">
              <a:buNone/>
            </a:pPr>
            <a:r>
              <a:rPr lang="en-US" sz="2800" b="1" dirty="0">
                <a:solidFill>
                  <a:schemeClr val="bg1"/>
                </a:solidFill>
                <a:latin typeface="Cambria" pitchFamily="34" charset="0"/>
                <a:ea typeface="Cambria" pitchFamily="34" charset="-122"/>
                <a:cs typeface="Cambria" pitchFamily="34" charset="-120"/>
              </a:rPr>
              <a:t> = (z − m</a:t>
            </a:r>
            <a:pPr indent="0" marL="0">
              <a:buNone/>
            </a:pPr>
            <a:r>
              <a:rPr lang="en-US" sz="2800" b="1" baseline="-40000" dirty="0">
                <a:solidFill>
                  <a:schemeClr val="bg1"/>
                </a:solidFill>
                <a:latin typeface="Cambria" pitchFamily="34" charset="0"/>
                <a:ea typeface="Cambria" pitchFamily="34" charset="-122"/>
                <a:cs typeface="Cambria" pitchFamily="34" charset="-120"/>
              </a:rPr>
              <a:t>0</a:t>
            </a:r>
            <a:pPr indent="0" marL="0">
              <a:buNone/>
            </a:pPr>
            <a:r>
              <a:rPr lang="en-US" sz="2800" b="1" dirty="0">
                <a:solidFill>
                  <a:schemeClr val="bg1"/>
                </a:solidFill>
                <a:latin typeface="Cambria" pitchFamily="34" charset="0"/>
                <a:ea typeface="Cambria" pitchFamily="34" charset="-122"/>
                <a:cs typeface="Cambria" pitchFamily="34" charset="-120"/>
              </a:rPr>
              <a:t>)</a:t>
            </a:r>
            <a:pPr indent="0" marL="0">
              <a:buNone/>
            </a:pPr>
            <a:r>
              <a:rPr lang="en-US" sz="2800" b="1" baseline="30000" dirty="0">
                <a:solidFill>
                  <a:schemeClr val="bg1"/>
                </a:solidFill>
                <a:latin typeface="Cambria" pitchFamily="34" charset="0"/>
                <a:ea typeface="Cambria" pitchFamily="34" charset="-122"/>
                <a:cs typeface="Cambria" pitchFamily="34" charset="-120"/>
              </a:rPr>
              <a:t>T</a:t>
            </a:r>
            <a:pPr indent="0" marL="0">
              <a:buNone/>
            </a:pPr>
            <a:r>
              <a:rPr lang="en-US" sz="2800" b="1" dirty="0">
                <a:solidFill>
                  <a:schemeClr val="bg1"/>
                </a:solidFill>
                <a:latin typeface="Cambria" pitchFamily="34" charset="0"/>
                <a:ea typeface="Cambria" pitchFamily="34" charset="-122"/>
                <a:cs typeface="Cambria" pitchFamily="34" charset="-120"/>
              </a:rPr>
              <a:t> S</a:t>
            </a:r>
            <a:pPr indent="0" marL="0">
              <a:buNone/>
            </a:pPr>
            <a:r>
              <a:rPr lang="en-US" sz="2800" b="1" baseline="-40000" dirty="0">
                <a:solidFill>
                  <a:schemeClr val="bg1"/>
                </a:solidFill>
                <a:latin typeface="Cambria" pitchFamily="34" charset="0"/>
                <a:ea typeface="Cambria" pitchFamily="34" charset="-122"/>
                <a:cs typeface="Cambria" pitchFamily="34" charset="-120"/>
              </a:rPr>
              <a:t>0</a:t>
            </a:r>
            <a:pPr indent="0" marL="0">
              <a:buNone/>
            </a:pPr>
            <a:r>
              <a:rPr lang="en-US" sz="2800" b="1" baseline="30000" dirty="0">
                <a:solidFill>
                  <a:schemeClr val="bg1"/>
                </a:solidFill>
                <a:latin typeface="Cambria" pitchFamily="34" charset="0"/>
                <a:ea typeface="Cambria" pitchFamily="34" charset="-122"/>
                <a:cs typeface="Cambria" pitchFamily="34" charset="-120"/>
              </a:rPr>
              <a:t>−1</a:t>
            </a:r>
            <a:pPr indent="0" marL="0">
              <a:buNone/>
            </a:pPr>
            <a:r>
              <a:rPr lang="en-US" sz="2800" b="1" dirty="0">
                <a:solidFill>
                  <a:schemeClr val="bg1"/>
                </a:solidFill>
                <a:latin typeface="Cambria" pitchFamily="34" charset="0"/>
                <a:ea typeface="Cambria" pitchFamily="34" charset="-122"/>
                <a:cs typeface="Cambria" pitchFamily="34" charset="-120"/>
              </a:rPr>
              <a:t> (z − m</a:t>
            </a:r>
            <a:pPr indent="0" marL="0">
              <a:buNone/>
            </a:pPr>
            <a:r>
              <a:rPr lang="en-US" sz="2800" b="1" baseline="-40000" dirty="0">
                <a:solidFill>
                  <a:schemeClr val="bg1"/>
                </a:solidFill>
                <a:latin typeface="Cambria" pitchFamily="34" charset="0"/>
                <a:ea typeface="Cambria" pitchFamily="34" charset="-122"/>
                <a:cs typeface="Cambria" pitchFamily="34" charset="-120"/>
              </a:rPr>
              <a:t>0</a:t>
            </a:r>
            <a:pPr indent="0" marL="0">
              <a:buNone/>
            </a:pPr>
            <a:r>
              <a:rPr lang="en-US" sz="2800" b="1" dirty="0">
                <a:solidFill>
                  <a:schemeClr val="bg1"/>
                </a:solidFill>
                <a:latin typeface="Cambria" pitchFamily="34" charset="0"/>
                <a:ea typeface="Cambria" pitchFamily="34" charset="-122"/>
                <a:cs typeface="Cambria" pitchFamily="34" charset="-120"/>
              </a:rPr>
              <a:t>)</a:t>
            </a:r>
            <a:endParaRPr lang="en-US" sz="2800" dirty="0"/>
          </a:p>
        </p:txBody>
      </p:sp>
      <p:sp>
        <p:nvSpPr>
          <p:cNvPr id="7" name="card184"/>
          <p:cNvSpPr/>
          <p:nvPr/>
        </p:nvSpPr>
        <p:spPr>
          <a:xfrm>
            <a:off x="548640" y="3017520"/>
            <a:ext cx="5760720" cy="1325880"/>
          </a:xfrm>
          <a:prstGeom prst="roundRect">
            <a:avLst>
              <a:gd name="adj" fmla="val 8276"/>
            </a:avLst>
          </a:prstGeom>
          <a:solidFill>
            <a:schemeClr val="tx1"/>
          </a:solidFill>
          <a:ln w="12700">
            <a:solidFill>
              <a:schemeClr val="tx1"/>
            </a:solidFill>
            <a:prstDash val="solid"/>
          </a:ln>
          <a:effectLst>
            <a:outerShdw sx="100000" sy="100000" kx="0" ky="0" algn="bl" rotWithShape="0" blurRad="101600" dist="25400" dir="5400000">
              <a:srgbClr val="0B1F3A">
                <a:alpha val="12000"/>
              </a:srgbClr>
            </a:outerShdw>
          </a:effectLst>
        </p:spPr>
      </p:sp>
      <p:sp>
        <p:nvSpPr>
          <p:cNvPr id="8" name="text185"/>
          <p:cNvSpPr txBox="1"/>
          <p:nvPr/>
        </p:nvSpPr>
        <p:spPr>
          <a:xfrm>
            <a:off x="822960" y="3127248"/>
            <a:ext cx="5212080" cy="320040"/>
          </a:xfrm>
          <a:prstGeom prst="rect">
            <a:avLst/>
          </a:prstGeom>
          <a:noFill/>
          <a:ln/>
        </p:spPr>
        <p:txBody>
          <a:bodyPr wrap="square" lIns="0" tIns="0" rIns="0" bIns="0" rtlCol="0" anchor="t"/>
          <a:lstStyle/>
          <a:p>
            <a:pPr indent="0" marL="0">
              <a:buNone/>
            </a:pPr>
            <a:r>
              <a:rPr lang="en-US" sz="1400" dirty="0">
                <a:solidFill>
                  <a:schemeClr val="accent6"/>
                </a:solidFill>
              </a:rPr>
              <a:t>Anomaly score between 0 and 1</a:t>
            </a:r>
            <a:endParaRPr lang="en-US" sz="1400" dirty="0"/>
          </a:p>
        </p:txBody>
      </p:sp>
      <p:sp>
        <p:nvSpPr>
          <p:cNvPr id="9" name="text186"/>
          <p:cNvSpPr txBox="1"/>
          <p:nvPr/>
        </p:nvSpPr>
        <p:spPr>
          <a:xfrm>
            <a:off x="822960" y="3474720"/>
            <a:ext cx="5212080" cy="685800"/>
          </a:xfrm>
          <a:prstGeom prst="rect">
            <a:avLst/>
          </a:prstGeom>
          <a:noFill/>
          <a:ln/>
        </p:spPr>
        <p:txBody>
          <a:bodyPr wrap="square" lIns="0" tIns="0" rIns="0" bIns="0" rtlCol="0" anchor="ctr"/>
          <a:lstStyle/>
          <a:p>
            <a:pPr indent="0" marL="0">
              <a:buNone/>
            </a:pPr>
            <a:r>
              <a:rPr lang="en-US" sz="2800" b="1" dirty="0">
                <a:solidFill>
                  <a:schemeClr val="bg1"/>
                </a:solidFill>
                <a:latin typeface="Cambria" pitchFamily="34" charset="0"/>
                <a:ea typeface="Cambria" pitchFamily="34" charset="-122"/>
                <a:cs typeface="Cambria" pitchFamily="34" charset="-120"/>
              </a:rPr>
              <a:t>A = 1 − exp(−ln 2.5 · d</a:t>
            </a:r>
            <a:pPr indent="0" marL="0">
              <a:buNone/>
            </a:pPr>
            <a:r>
              <a:rPr lang="en-US" sz="2800" b="1" baseline="30000" dirty="0">
                <a:solidFill>
                  <a:schemeClr val="bg1"/>
                </a:solidFill>
                <a:latin typeface="Cambria" pitchFamily="34" charset="0"/>
                <a:ea typeface="Cambria" pitchFamily="34" charset="-122"/>
                <a:cs typeface="Cambria" pitchFamily="34" charset="-120"/>
              </a:rPr>
              <a:t>2</a:t>
            </a:r>
            <a:pPr indent="0" marL="0">
              <a:buNone/>
            </a:pPr>
            <a:r>
              <a:rPr lang="en-US" sz="2800" b="1" dirty="0">
                <a:solidFill>
                  <a:schemeClr val="bg1"/>
                </a:solidFill>
                <a:latin typeface="Cambria" pitchFamily="34" charset="0"/>
                <a:ea typeface="Cambria" pitchFamily="34" charset="-122"/>
                <a:cs typeface="Cambria" pitchFamily="34" charset="-120"/>
              </a:rPr>
              <a:t> / d</a:t>
            </a:r>
            <a:pPr indent="0" marL="0">
              <a:buNone/>
            </a:pPr>
            <a:r>
              <a:rPr lang="en-US" sz="2800" b="1" baseline="30000" dirty="0">
                <a:solidFill>
                  <a:schemeClr val="bg1"/>
                </a:solidFill>
                <a:latin typeface="Cambria" pitchFamily="34" charset="0"/>
                <a:ea typeface="Cambria" pitchFamily="34" charset="-122"/>
                <a:cs typeface="Cambria" pitchFamily="34" charset="-120"/>
              </a:rPr>
              <a:t>2</a:t>
            </a:r>
            <a:pPr indent="0" marL="0">
              <a:buNone/>
            </a:pPr>
            <a:r>
              <a:rPr lang="en-US" sz="2800" b="1" baseline="-40000" dirty="0">
                <a:solidFill>
                  <a:schemeClr val="bg1"/>
                </a:solidFill>
                <a:latin typeface="Cambria" pitchFamily="34" charset="0"/>
                <a:ea typeface="Cambria" pitchFamily="34" charset="-122"/>
                <a:cs typeface="Cambria" pitchFamily="34" charset="-120"/>
              </a:rPr>
              <a:t>99</a:t>
            </a:r>
            <a:pPr indent="0" marL="0">
              <a:buNone/>
            </a:pPr>
            <a:r>
              <a:rPr lang="en-US" sz="2800" b="1" dirty="0">
                <a:solidFill>
                  <a:schemeClr val="bg1"/>
                </a:solidFill>
                <a:latin typeface="Cambria" pitchFamily="34" charset="0"/>
                <a:ea typeface="Cambria" pitchFamily="34" charset="-122"/>
                <a:cs typeface="Cambria" pitchFamily="34" charset="-120"/>
              </a:rPr>
              <a:t>)</a:t>
            </a:r>
            <a:endParaRPr lang="en-US" sz="2800" dirty="0"/>
          </a:p>
        </p:txBody>
      </p:sp>
      <p:sp>
        <p:nvSpPr>
          <p:cNvPr id="10" name="text187"/>
          <p:cNvSpPr txBox="1"/>
          <p:nvPr/>
        </p:nvSpPr>
        <p:spPr>
          <a:xfrm>
            <a:off x="548640" y="4572000"/>
            <a:ext cx="5760720" cy="1463040"/>
          </a:xfrm>
          <a:prstGeom prst="rect">
            <a:avLst/>
          </a:prstGeom>
          <a:noFill/>
          <a:ln/>
        </p:spPr>
        <p:txBody>
          <a:bodyPr wrap="square" lIns="0" tIns="0" rIns="0" bIns="0" rtlCol="0" anchor="t"/>
          <a:lstStyle/>
          <a:p>
            <a:pPr indent="0" marL="0">
              <a:buNone/>
            </a:pPr>
            <a:r>
              <a:rPr lang="en-US" sz="1400" dirty="0">
                <a:solidFill>
                  <a:schemeClr val="tx2"/>
                </a:solidFill>
              </a:rPr>
              <a:t>z: the cycle in PC space.  m</a:t>
            </a:r>
            <a:pPr indent="0" marL="0">
              <a:buNone/>
            </a:pPr>
            <a:r>
              <a:rPr lang="en-US" sz="1400" baseline="-40000" dirty="0">
                <a:solidFill>
                  <a:schemeClr val="tx2"/>
                </a:solidFill>
              </a:rPr>
              <a:t>0</a:t>
            </a:r>
            <a:pPr indent="0" marL="0">
              <a:buNone/>
            </a:pPr>
            <a:r>
              <a:rPr lang="en-US" sz="1400" dirty="0">
                <a:solidFill>
                  <a:schemeClr val="tx2"/>
                </a:solidFill>
              </a:rPr>
              <a:t>, S</a:t>
            </a:r>
            <a:pPr indent="0" marL="0">
              <a:buNone/>
            </a:pPr>
            <a:r>
              <a:rPr lang="en-US" sz="1400" baseline="-40000" dirty="0">
                <a:solidFill>
                  <a:schemeClr val="tx2"/>
                </a:solidFill>
              </a:rPr>
              <a:t>0</a:t>
            </a:r>
            <a:pPr indent="0" marL="0">
              <a:buNone/>
            </a:pPr>
            <a:r>
              <a:rPr lang="en-US" sz="1400" dirty="0">
                <a:solidFill>
                  <a:schemeClr val="tx2"/>
                </a:solidFill>
              </a:rPr>
              <a:t>: mean and covariance of healthy cycles.  d</a:t>
            </a:r>
            <a:pPr indent="0" marL="0">
              <a:buNone/>
            </a:pPr>
            <a:r>
              <a:rPr lang="en-US" sz="1400" baseline="30000" dirty="0">
                <a:solidFill>
                  <a:schemeClr val="tx2"/>
                </a:solidFill>
              </a:rPr>
              <a:t>2</a:t>
            </a:r>
            <a:pPr indent="0" marL="0">
              <a:buNone/>
            </a:pPr>
            <a:r>
              <a:rPr lang="en-US" sz="1400" baseline="-40000" dirty="0">
                <a:solidFill>
                  <a:schemeClr val="tx2"/>
                </a:solidFill>
              </a:rPr>
              <a:t>99</a:t>
            </a:r>
            <a:pPr indent="0" marL="0">
              <a:buNone/>
            </a:pPr>
            <a:r>
              <a:rPr lang="en-US" sz="1400" dirty="0">
                <a:solidFill>
                  <a:schemeClr val="tx2"/>
                </a:solidFill>
              </a:rPr>
              <a:t>: the distance that contains 99% of healthy cycles, so A = 0.60 exactly at that boundary. The score is averaged over the last 5 cycles.</a:t>
            </a:r>
            <a:endParaRPr lang="en-US" sz="1400" dirty="0"/>
          </a:p>
        </p:txBody>
      </p:sp>
      <p:sp>
        <p:nvSpPr>
          <p:cNvPr id="11" name="card188"/>
          <p:cNvSpPr/>
          <p:nvPr/>
        </p:nvSpPr>
        <p:spPr>
          <a:xfrm>
            <a:off x="6675120" y="1463040"/>
            <a:ext cx="4937760" cy="1325880"/>
          </a:xfrm>
          <a:prstGeom prst="roundRect">
            <a:avLst>
              <a:gd name="adj" fmla="val 8276"/>
            </a:avLst>
          </a:prstGeom>
          <a:solidFill>
            <a:schemeClr val="bg2"/>
          </a:solidFill>
          <a:ln w="12700">
            <a:solidFill>
              <a:schemeClr val="bg2"/>
            </a:solidFill>
            <a:prstDash val="solid"/>
          </a:ln>
          <a:effectLst>
            <a:outerShdw sx="100000" sy="100000" kx="0" ky="0" algn="bl" rotWithShape="0" blurRad="101600" dist="25400" dir="5400000">
              <a:srgbClr val="0B1F3A">
                <a:alpha val="12000"/>
              </a:srgbClr>
            </a:outerShdw>
          </a:effectLst>
        </p:spPr>
      </p:sp>
      <p:sp>
        <p:nvSpPr>
          <p:cNvPr id="12" name="lamp0"/>
          <p:cNvSpPr/>
          <p:nvPr/>
        </p:nvSpPr>
        <p:spPr>
          <a:xfrm>
            <a:off x="6949440" y="1810512"/>
            <a:ext cx="640080" cy="640080"/>
          </a:xfrm>
          <a:prstGeom prst="ellipse">
            <a:avLst/>
          </a:prstGeom>
          <a:solidFill>
            <a:schemeClr val="accent3"/>
          </a:solidFill>
          <a:ln w="12700">
            <a:solidFill>
              <a:schemeClr val="accent3"/>
            </a:solidFill>
            <a:prstDash val="solid"/>
          </a:ln>
        </p:spPr>
      </p:sp>
      <p:sp>
        <p:nvSpPr>
          <p:cNvPr id="13" name="text189"/>
          <p:cNvSpPr txBox="1"/>
          <p:nvPr/>
        </p:nvSpPr>
        <p:spPr>
          <a:xfrm>
            <a:off x="7863840" y="1600200"/>
            <a:ext cx="3566160" cy="365760"/>
          </a:xfrm>
          <a:prstGeom prst="rect">
            <a:avLst/>
          </a:prstGeom>
          <a:noFill/>
          <a:ln/>
        </p:spPr>
        <p:txBody>
          <a:bodyPr wrap="square" lIns="0" tIns="0" rIns="0" bIns="0" rtlCol="0" anchor="t"/>
          <a:lstStyle/>
          <a:p>
            <a:pPr indent="0" marL="0">
              <a:buNone/>
            </a:pPr>
            <a:r>
              <a:rPr lang="en-US" sz="1800" b="1" dirty="0">
                <a:solidFill>
                  <a:schemeClr val="tx1"/>
                </a:solidFill>
              </a:rPr>
              <a:t>NORMAL</a:t>
            </a:r>
            <a:endParaRPr lang="en-US" sz="1800" dirty="0"/>
          </a:p>
        </p:txBody>
      </p:sp>
      <p:sp>
        <p:nvSpPr>
          <p:cNvPr id="14" name="text190"/>
          <p:cNvSpPr txBox="1"/>
          <p:nvPr/>
        </p:nvSpPr>
        <p:spPr>
          <a:xfrm>
            <a:off x="7863840" y="1965960"/>
            <a:ext cx="3566160" cy="320040"/>
          </a:xfrm>
          <a:prstGeom prst="rect">
            <a:avLst/>
          </a:prstGeom>
          <a:noFill/>
          <a:ln/>
        </p:spPr>
        <p:txBody>
          <a:bodyPr wrap="square" lIns="0" tIns="0" rIns="0" bIns="0" rtlCol="0" anchor="t"/>
          <a:lstStyle/>
          <a:p>
            <a:pPr indent="0" marL="0">
              <a:buNone/>
            </a:pPr>
            <a:r>
              <a:rPr lang="en-US" sz="1400" b="1" dirty="0">
                <a:solidFill>
                  <a:schemeClr val="accent1"/>
                </a:solidFill>
              </a:rPr>
              <a:t>A below 0.60</a:t>
            </a:r>
            <a:endParaRPr lang="en-US" sz="1400" dirty="0"/>
          </a:p>
        </p:txBody>
      </p:sp>
      <p:sp>
        <p:nvSpPr>
          <p:cNvPr id="15" name="text191"/>
          <p:cNvSpPr txBox="1"/>
          <p:nvPr/>
        </p:nvSpPr>
        <p:spPr>
          <a:xfrm>
            <a:off x="7863840" y="2286000"/>
            <a:ext cx="3566160" cy="365760"/>
          </a:xfrm>
          <a:prstGeom prst="rect">
            <a:avLst/>
          </a:prstGeom>
          <a:noFill/>
          <a:ln/>
        </p:spPr>
        <p:txBody>
          <a:bodyPr wrap="square" lIns="0" tIns="0" rIns="0" bIns="0" rtlCol="0" anchor="t"/>
          <a:lstStyle/>
          <a:p>
            <a:pPr indent="0" marL="0">
              <a:buNone/>
            </a:pPr>
            <a:r>
              <a:rPr lang="en-US" sz="1400" dirty="0">
                <a:solidFill>
                  <a:schemeClr val="tx2"/>
                </a:solidFill>
              </a:rPr>
              <a:t>Inside the healthy region.</a:t>
            </a:r>
            <a:endParaRPr lang="en-US" sz="1400" dirty="0"/>
          </a:p>
        </p:txBody>
      </p:sp>
      <p:sp>
        <p:nvSpPr>
          <p:cNvPr id="16" name="card192"/>
          <p:cNvSpPr/>
          <p:nvPr/>
        </p:nvSpPr>
        <p:spPr>
          <a:xfrm>
            <a:off x="6675120" y="3017520"/>
            <a:ext cx="4937760" cy="1325880"/>
          </a:xfrm>
          <a:prstGeom prst="roundRect">
            <a:avLst>
              <a:gd name="adj" fmla="val 8276"/>
            </a:avLst>
          </a:prstGeom>
          <a:solidFill>
            <a:schemeClr val="bg2"/>
          </a:solidFill>
          <a:ln w="12700">
            <a:solidFill>
              <a:schemeClr val="bg2"/>
            </a:solidFill>
            <a:prstDash val="solid"/>
          </a:ln>
          <a:effectLst>
            <a:outerShdw sx="100000" sy="100000" kx="0" ky="0" algn="bl" rotWithShape="0" blurRad="101600" dist="25400" dir="5400000">
              <a:srgbClr val="0B1F3A">
                <a:alpha val="12000"/>
              </a:srgbClr>
            </a:outerShdw>
          </a:effectLst>
        </p:spPr>
      </p:sp>
      <p:sp>
        <p:nvSpPr>
          <p:cNvPr id="17" name="lamp1"/>
          <p:cNvSpPr/>
          <p:nvPr/>
        </p:nvSpPr>
        <p:spPr>
          <a:xfrm>
            <a:off x="6949440" y="3364992"/>
            <a:ext cx="640080" cy="640080"/>
          </a:xfrm>
          <a:prstGeom prst="ellipse">
            <a:avLst/>
          </a:prstGeom>
          <a:solidFill>
            <a:schemeClr val="accent2"/>
          </a:solidFill>
          <a:ln w="12700">
            <a:solidFill>
              <a:schemeClr val="accent2"/>
            </a:solidFill>
            <a:prstDash val="solid"/>
          </a:ln>
        </p:spPr>
      </p:sp>
      <p:sp>
        <p:nvSpPr>
          <p:cNvPr id="18" name="text193"/>
          <p:cNvSpPr txBox="1"/>
          <p:nvPr/>
        </p:nvSpPr>
        <p:spPr>
          <a:xfrm>
            <a:off x="7863840" y="3154680"/>
            <a:ext cx="3566160" cy="365760"/>
          </a:xfrm>
          <a:prstGeom prst="rect">
            <a:avLst/>
          </a:prstGeom>
          <a:noFill/>
          <a:ln/>
        </p:spPr>
        <p:txBody>
          <a:bodyPr wrap="square" lIns="0" tIns="0" rIns="0" bIns="0" rtlCol="0" anchor="t"/>
          <a:lstStyle/>
          <a:p>
            <a:pPr indent="0" marL="0">
              <a:buNone/>
            </a:pPr>
            <a:r>
              <a:rPr lang="en-US" sz="1800" b="1" dirty="0">
                <a:solidFill>
                  <a:schemeClr val="tx1"/>
                </a:solidFill>
              </a:rPr>
              <a:t>EARLY DEGRADATION</a:t>
            </a:r>
            <a:endParaRPr lang="en-US" sz="1800" dirty="0"/>
          </a:p>
        </p:txBody>
      </p:sp>
      <p:sp>
        <p:nvSpPr>
          <p:cNvPr id="19" name="text194"/>
          <p:cNvSpPr txBox="1"/>
          <p:nvPr/>
        </p:nvSpPr>
        <p:spPr>
          <a:xfrm>
            <a:off x="7863840" y="3520440"/>
            <a:ext cx="3566160" cy="320040"/>
          </a:xfrm>
          <a:prstGeom prst="rect">
            <a:avLst/>
          </a:prstGeom>
          <a:noFill/>
          <a:ln/>
        </p:spPr>
        <p:txBody>
          <a:bodyPr wrap="square" lIns="0" tIns="0" rIns="0" bIns="0" rtlCol="0" anchor="t"/>
          <a:lstStyle/>
          <a:p>
            <a:pPr indent="0" marL="0">
              <a:buNone/>
            </a:pPr>
            <a:r>
              <a:rPr lang="en-US" sz="1400" b="1" dirty="0">
                <a:solidFill>
                  <a:schemeClr val="accent1"/>
                </a:solidFill>
              </a:rPr>
              <a:t>A from 0.60 to 0.85</a:t>
            </a:r>
            <a:endParaRPr lang="en-US" sz="1400" dirty="0"/>
          </a:p>
        </p:txBody>
      </p:sp>
      <p:sp>
        <p:nvSpPr>
          <p:cNvPr id="20" name="text195"/>
          <p:cNvSpPr txBox="1"/>
          <p:nvPr/>
        </p:nvSpPr>
        <p:spPr>
          <a:xfrm>
            <a:off x="7863840" y="3840480"/>
            <a:ext cx="3566160" cy="365760"/>
          </a:xfrm>
          <a:prstGeom prst="rect">
            <a:avLst/>
          </a:prstGeom>
          <a:noFill/>
          <a:ln/>
        </p:spPr>
        <p:txBody>
          <a:bodyPr wrap="square" lIns="0" tIns="0" rIns="0" bIns="0" rtlCol="0" anchor="t"/>
          <a:lstStyle/>
          <a:p>
            <a:pPr indent="0" marL="0">
              <a:buNone/>
            </a:pPr>
            <a:r>
              <a:rPr lang="en-US" sz="1400" dirty="0">
                <a:solidFill>
                  <a:schemeClr val="tx2"/>
                </a:solidFill>
              </a:rPr>
              <a:t>Leaving the healthy region; plan an inspection.</a:t>
            </a:r>
            <a:endParaRPr lang="en-US" sz="1400" dirty="0"/>
          </a:p>
        </p:txBody>
      </p:sp>
      <p:sp>
        <p:nvSpPr>
          <p:cNvPr id="21" name="card196"/>
          <p:cNvSpPr/>
          <p:nvPr/>
        </p:nvSpPr>
        <p:spPr>
          <a:xfrm>
            <a:off x="6675120" y="4572000"/>
            <a:ext cx="4937760" cy="1325880"/>
          </a:xfrm>
          <a:prstGeom prst="roundRect">
            <a:avLst>
              <a:gd name="adj" fmla="val 8276"/>
            </a:avLst>
          </a:prstGeom>
          <a:solidFill>
            <a:schemeClr val="bg2"/>
          </a:solidFill>
          <a:ln w="12700">
            <a:solidFill>
              <a:schemeClr val="bg2"/>
            </a:solidFill>
            <a:prstDash val="solid"/>
          </a:ln>
          <a:effectLst>
            <a:outerShdw sx="100000" sy="100000" kx="0" ky="0" algn="bl" rotWithShape="0" blurRad="101600" dist="25400" dir="5400000">
              <a:srgbClr val="0B1F3A">
                <a:alpha val="12000"/>
              </a:srgbClr>
            </a:outerShdw>
          </a:effectLst>
        </p:spPr>
      </p:sp>
      <p:sp>
        <p:nvSpPr>
          <p:cNvPr id="22" name="lamp2"/>
          <p:cNvSpPr/>
          <p:nvPr/>
        </p:nvSpPr>
        <p:spPr>
          <a:xfrm>
            <a:off x="6949440" y="4919472"/>
            <a:ext cx="640080" cy="640080"/>
          </a:xfrm>
          <a:prstGeom prst="ellipse">
            <a:avLst/>
          </a:prstGeom>
          <a:solidFill>
            <a:schemeClr val="accent4"/>
          </a:solidFill>
          <a:ln w="12700">
            <a:solidFill>
              <a:schemeClr val="accent4"/>
            </a:solidFill>
            <a:prstDash val="solid"/>
          </a:ln>
        </p:spPr>
      </p:sp>
      <p:sp>
        <p:nvSpPr>
          <p:cNvPr id="23" name="text197"/>
          <p:cNvSpPr txBox="1"/>
          <p:nvPr/>
        </p:nvSpPr>
        <p:spPr>
          <a:xfrm>
            <a:off x="7863840" y="4709160"/>
            <a:ext cx="3566160" cy="365760"/>
          </a:xfrm>
          <a:prstGeom prst="rect">
            <a:avLst/>
          </a:prstGeom>
          <a:noFill/>
          <a:ln/>
        </p:spPr>
        <p:txBody>
          <a:bodyPr wrap="square" lIns="0" tIns="0" rIns="0" bIns="0" rtlCol="0" anchor="t"/>
          <a:lstStyle/>
          <a:p>
            <a:pPr indent="0" marL="0">
              <a:buNone/>
            </a:pPr>
            <a:r>
              <a:rPr lang="en-US" sz="1800" b="1" dirty="0">
                <a:solidFill>
                  <a:schemeClr val="tx1"/>
                </a:solidFill>
              </a:rPr>
              <a:t>HIGH ANOMALY</a:t>
            </a:r>
            <a:endParaRPr lang="en-US" sz="1800" dirty="0"/>
          </a:p>
        </p:txBody>
      </p:sp>
      <p:sp>
        <p:nvSpPr>
          <p:cNvPr id="24" name="text198"/>
          <p:cNvSpPr txBox="1"/>
          <p:nvPr/>
        </p:nvSpPr>
        <p:spPr>
          <a:xfrm>
            <a:off x="7863840" y="5074920"/>
            <a:ext cx="3566160" cy="320040"/>
          </a:xfrm>
          <a:prstGeom prst="rect">
            <a:avLst/>
          </a:prstGeom>
          <a:noFill/>
          <a:ln/>
        </p:spPr>
        <p:txBody>
          <a:bodyPr wrap="square" lIns="0" tIns="0" rIns="0" bIns="0" rtlCol="0" anchor="t"/>
          <a:lstStyle/>
          <a:p>
            <a:pPr indent="0" marL="0">
              <a:buNone/>
            </a:pPr>
            <a:r>
              <a:rPr lang="en-US" sz="1400" b="1" dirty="0">
                <a:solidFill>
                  <a:schemeClr val="accent1"/>
                </a:solidFill>
              </a:rPr>
              <a:t>A above 0.85</a:t>
            </a:r>
            <a:endParaRPr lang="en-US" sz="1400" dirty="0"/>
          </a:p>
        </p:txBody>
      </p:sp>
      <p:sp>
        <p:nvSpPr>
          <p:cNvPr id="25" name="text199"/>
          <p:cNvSpPr txBox="1"/>
          <p:nvPr/>
        </p:nvSpPr>
        <p:spPr>
          <a:xfrm>
            <a:off x="7863840" y="5394960"/>
            <a:ext cx="3566160" cy="365760"/>
          </a:xfrm>
          <a:prstGeom prst="rect">
            <a:avLst/>
          </a:prstGeom>
          <a:noFill/>
          <a:ln/>
        </p:spPr>
        <p:txBody>
          <a:bodyPr wrap="square" lIns="0" tIns="0" rIns="0" bIns="0" rtlCol="0" anchor="t"/>
          <a:lstStyle/>
          <a:p>
            <a:pPr indent="0" marL="0">
              <a:buNone/>
            </a:pPr>
            <a:r>
              <a:rPr lang="en-US" sz="1400" dirty="0">
                <a:solidFill>
                  <a:schemeClr val="tx2"/>
                </a:solidFill>
              </a:rPr>
              <a:t>Far from healthy; act now.</a:t>
            </a:r>
            <a:endParaRPr 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200" b="1" dirty="0">
                <a:solidFill>
                  <a:schemeClr val="tx1"/>
                </a:solidFill>
              </a:rPr>
              <a:t>The MATLAB application: seven tabs, one story</a:t>
            </a:r>
            <a:endParaRPr lang="en-US" sz="3200" dirty="0"/>
          </a:p>
        </p:txBody>
      </p:sp>
      <p:sp>
        <p:nvSpPr>
          <p:cNvPr id="4" name="card200"/>
          <p:cNvSpPr/>
          <p:nvPr/>
        </p:nvSpPr>
        <p:spPr>
          <a:xfrm>
            <a:off x="548640" y="1463040"/>
            <a:ext cx="2560320" cy="2011680"/>
          </a:xfrm>
          <a:prstGeom prst="roundRect">
            <a:avLst>
              <a:gd name="adj" fmla="val 5455"/>
            </a:avLst>
          </a:prstGeom>
          <a:solidFill>
            <a:schemeClr val="bg2"/>
          </a:solidFill>
          <a:ln w="12700">
            <a:solidFill>
              <a:schemeClr val="bg2"/>
            </a:solidFill>
            <a:prstDash val="solid"/>
          </a:ln>
          <a:effectLst>
            <a:outerShdw sx="100000" sy="100000" kx="0" ky="0" algn="bl" rotWithShape="0" blurRad="101600" dist="25400" dir="5400000">
              <a:srgbClr val="0B1F3A">
                <a:alpha val="12000"/>
              </a:srgbClr>
            </a:outerShdw>
          </a:effectLst>
        </p:spPr>
      </p:sp>
      <p:sp>
        <p:nvSpPr>
          <p:cNvPr id="5" name="dot201"/>
          <p:cNvSpPr/>
          <p:nvPr/>
        </p:nvSpPr>
        <p:spPr>
          <a:xfrm>
            <a:off x="777240" y="1691640"/>
            <a:ext cx="640080" cy="640080"/>
          </a:xfrm>
          <a:prstGeom prst="ellipse">
            <a:avLst/>
          </a:prstGeom>
          <a:solidFill>
            <a:schemeClr val="accent1"/>
          </a:solidFill>
          <a:ln w="12700">
            <a:solidFill>
              <a:schemeClr val="accent1"/>
            </a:solidFill>
            <a:prstDash val="solid"/>
          </a:ln>
        </p:spPr>
      </p:sp>
      <p:pic>
        <p:nvPicPr>
          <p:cNvPr id="6" name="icon202" descr="preencoded.png">    </p:cNvPr>
          <p:cNvPicPr>
            <a:picLocks noChangeAspect="1"/>
          </p:cNvPicPr>
          <p:nvPr/>
        </p:nvPicPr>
        <p:blipFill>
          <a:blip r:embed="rId1"/>
          <a:stretch>
            <a:fillRect/>
          </a:stretch>
        </p:blipFill>
        <p:spPr>
          <a:xfrm>
            <a:off x="937260" y="1851660"/>
            <a:ext cx="320040" cy="320040"/>
          </a:xfrm>
          <a:prstGeom prst="rect">
            <a:avLst/>
          </a:prstGeom>
        </p:spPr>
      </p:pic>
      <p:sp>
        <p:nvSpPr>
          <p:cNvPr id="7" name="text203"/>
          <p:cNvSpPr txBox="1"/>
          <p:nvPr/>
        </p:nvSpPr>
        <p:spPr>
          <a:xfrm>
            <a:off x="777240" y="2423160"/>
            <a:ext cx="2103120" cy="365760"/>
          </a:xfrm>
          <a:prstGeom prst="rect">
            <a:avLst/>
          </a:prstGeom>
          <a:noFill/>
          <a:ln/>
        </p:spPr>
        <p:txBody>
          <a:bodyPr wrap="square" lIns="0" tIns="0" rIns="0" bIns="0" rtlCol="0" anchor="t"/>
          <a:lstStyle/>
          <a:p>
            <a:pPr indent="0" marL="0">
              <a:buNone/>
            </a:pPr>
            <a:r>
              <a:rPr lang="en-US" sz="1600" b="1" dirty="0">
                <a:solidFill>
                  <a:schemeClr val="tx1"/>
                </a:solidFill>
              </a:rPr>
              <a:t>1  Data</a:t>
            </a:r>
            <a:endParaRPr lang="en-US" sz="1600" dirty="0"/>
          </a:p>
        </p:txBody>
      </p:sp>
      <p:sp>
        <p:nvSpPr>
          <p:cNvPr id="8" name="text204"/>
          <p:cNvSpPr txBox="1"/>
          <p:nvPr/>
        </p:nvSpPr>
        <p:spPr>
          <a:xfrm>
            <a:off x="777240" y="2788920"/>
            <a:ext cx="2103120" cy="594360"/>
          </a:xfrm>
          <a:prstGeom prst="rect">
            <a:avLst/>
          </a:prstGeom>
          <a:noFill/>
          <a:ln/>
        </p:spPr>
        <p:txBody>
          <a:bodyPr wrap="square" lIns="0" tIns="0" rIns="0" bIns="0" rtlCol="0" anchor="t"/>
          <a:lstStyle/>
          <a:p>
            <a:pPr indent="0" marL="0">
              <a:buNone/>
            </a:pPr>
            <a:r>
              <a:rPr lang="en-US" sz="1400" dirty="0">
                <a:solidFill>
                  <a:schemeClr val="tx2"/>
                </a:solidFill>
              </a:rPr>
              <a:t>Pick dataset and engine; see raw readings.</a:t>
            </a:r>
            <a:endParaRPr lang="en-US" sz="1400" dirty="0"/>
          </a:p>
        </p:txBody>
      </p:sp>
      <p:sp>
        <p:nvSpPr>
          <p:cNvPr id="9" name="card205"/>
          <p:cNvSpPr/>
          <p:nvPr/>
        </p:nvSpPr>
        <p:spPr>
          <a:xfrm>
            <a:off x="3383280" y="1463040"/>
            <a:ext cx="2560320" cy="2011680"/>
          </a:xfrm>
          <a:prstGeom prst="roundRect">
            <a:avLst>
              <a:gd name="adj" fmla="val 5455"/>
            </a:avLst>
          </a:prstGeom>
          <a:solidFill>
            <a:schemeClr val="bg2"/>
          </a:solidFill>
          <a:ln w="12700">
            <a:solidFill>
              <a:schemeClr val="bg2"/>
            </a:solidFill>
            <a:prstDash val="solid"/>
          </a:ln>
          <a:effectLst>
            <a:outerShdw sx="100000" sy="100000" kx="0" ky="0" algn="bl" rotWithShape="0" blurRad="101600" dist="25400" dir="5400000">
              <a:srgbClr val="0B1F3A">
                <a:alpha val="12000"/>
              </a:srgbClr>
            </a:outerShdw>
          </a:effectLst>
        </p:spPr>
      </p:sp>
      <p:sp>
        <p:nvSpPr>
          <p:cNvPr id="10" name="dot206"/>
          <p:cNvSpPr/>
          <p:nvPr/>
        </p:nvSpPr>
        <p:spPr>
          <a:xfrm>
            <a:off x="3611880" y="1691640"/>
            <a:ext cx="640080" cy="640080"/>
          </a:xfrm>
          <a:prstGeom prst="ellipse">
            <a:avLst/>
          </a:prstGeom>
          <a:solidFill>
            <a:schemeClr val="accent1"/>
          </a:solidFill>
          <a:ln w="12700">
            <a:solidFill>
              <a:schemeClr val="accent1"/>
            </a:solidFill>
            <a:prstDash val="solid"/>
          </a:ln>
        </p:spPr>
      </p:sp>
      <p:pic>
        <p:nvPicPr>
          <p:cNvPr id="11" name="icon207" descr="preencoded.png">    </p:cNvPr>
          <p:cNvPicPr>
            <a:picLocks noChangeAspect="1"/>
          </p:cNvPicPr>
          <p:nvPr/>
        </p:nvPicPr>
        <p:blipFill>
          <a:blip r:embed="rId2"/>
          <a:stretch>
            <a:fillRect/>
          </a:stretch>
        </p:blipFill>
        <p:spPr>
          <a:xfrm>
            <a:off x="3771900" y="1851660"/>
            <a:ext cx="320040" cy="320040"/>
          </a:xfrm>
          <a:prstGeom prst="rect">
            <a:avLst/>
          </a:prstGeom>
        </p:spPr>
      </p:pic>
      <p:sp>
        <p:nvSpPr>
          <p:cNvPr id="12" name="text208"/>
          <p:cNvSpPr txBox="1"/>
          <p:nvPr/>
        </p:nvSpPr>
        <p:spPr>
          <a:xfrm>
            <a:off x="3611880" y="2423160"/>
            <a:ext cx="2103120" cy="365760"/>
          </a:xfrm>
          <a:prstGeom prst="rect">
            <a:avLst/>
          </a:prstGeom>
          <a:noFill/>
          <a:ln/>
        </p:spPr>
        <p:txBody>
          <a:bodyPr wrap="square" lIns="0" tIns="0" rIns="0" bIns="0" rtlCol="0" anchor="t"/>
          <a:lstStyle/>
          <a:p>
            <a:pPr indent="0" marL="0">
              <a:buNone/>
            </a:pPr>
            <a:r>
              <a:rPr lang="en-US" sz="1600" b="1" dirty="0">
                <a:solidFill>
                  <a:schemeClr val="tx1"/>
                </a:solidFill>
              </a:rPr>
              <a:t>2  Sensor health</a:t>
            </a:r>
            <a:endParaRPr lang="en-US" sz="1600" dirty="0"/>
          </a:p>
        </p:txBody>
      </p:sp>
      <p:sp>
        <p:nvSpPr>
          <p:cNvPr id="13" name="text209"/>
          <p:cNvSpPr txBox="1"/>
          <p:nvPr/>
        </p:nvSpPr>
        <p:spPr>
          <a:xfrm>
            <a:off x="3611880" y="2788920"/>
            <a:ext cx="2103120" cy="594360"/>
          </a:xfrm>
          <a:prstGeom prst="rect">
            <a:avLst/>
          </a:prstGeom>
          <a:noFill/>
          <a:ln/>
        </p:spPr>
        <p:txBody>
          <a:bodyPr wrap="square" lIns="0" tIns="0" rIns="0" bIns="0" rtlCol="0" anchor="t"/>
          <a:lstStyle/>
          <a:p>
            <a:pPr indent="0" marL="0">
              <a:buNone/>
            </a:pPr>
            <a:r>
              <a:rPr lang="en-US" sz="1400" dirty="0">
                <a:solidFill>
                  <a:schemeClr val="tx2"/>
                </a:solidFill>
              </a:rPr>
              <a:t>Any sensor over the engine's life.</a:t>
            </a:r>
            <a:endParaRPr lang="en-US" sz="1400" dirty="0"/>
          </a:p>
        </p:txBody>
      </p:sp>
      <p:sp>
        <p:nvSpPr>
          <p:cNvPr id="14" name="card210"/>
          <p:cNvSpPr/>
          <p:nvPr/>
        </p:nvSpPr>
        <p:spPr>
          <a:xfrm>
            <a:off x="6217920" y="1463040"/>
            <a:ext cx="2560320" cy="2011680"/>
          </a:xfrm>
          <a:prstGeom prst="roundRect">
            <a:avLst>
              <a:gd name="adj" fmla="val 5455"/>
            </a:avLst>
          </a:prstGeom>
          <a:solidFill>
            <a:schemeClr val="bg2"/>
          </a:solidFill>
          <a:ln w="12700">
            <a:solidFill>
              <a:schemeClr val="bg2"/>
            </a:solidFill>
            <a:prstDash val="solid"/>
          </a:ln>
          <a:effectLst>
            <a:outerShdw sx="100000" sy="100000" kx="0" ky="0" algn="bl" rotWithShape="0" blurRad="101600" dist="25400" dir="5400000">
              <a:srgbClr val="0B1F3A">
                <a:alpha val="12000"/>
              </a:srgbClr>
            </a:outerShdw>
          </a:effectLst>
        </p:spPr>
      </p:sp>
      <p:sp>
        <p:nvSpPr>
          <p:cNvPr id="15" name="dot211"/>
          <p:cNvSpPr/>
          <p:nvPr/>
        </p:nvSpPr>
        <p:spPr>
          <a:xfrm>
            <a:off x="6446520" y="1691640"/>
            <a:ext cx="640080" cy="640080"/>
          </a:xfrm>
          <a:prstGeom prst="ellipse">
            <a:avLst/>
          </a:prstGeom>
          <a:solidFill>
            <a:schemeClr val="accent1"/>
          </a:solidFill>
          <a:ln w="12700">
            <a:solidFill>
              <a:schemeClr val="accent1"/>
            </a:solidFill>
            <a:prstDash val="solid"/>
          </a:ln>
        </p:spPr>
      </p:sp>
      <p:pic>
        <p:nvPicPr>
          <p:cNvPr id="16" name="icon212" descr="preencoded.png">    </p:cNvPr>
          <p:cNvPicPr>
            <a:picLocks noChangeAspect="1"/>
          </p:cNvPicPr>
          <p:nvPr/>
        </p:nvPicPr>
        <p:blipFill>
          <a:blip r:embed="rId3"/>
          <a:stretch>
            <a:fillRect/>
          </a:stretch>
        </p:blipFill>
        <p:spPr>
          <a:xfrm>
            <a:off x="6606540" y="1851660"/>
            <a:ext cx="320040" cy="320040"/>
          </a:xfrm>
          <a:prstGeom prst="rect">
            <a:avLst/>
          </a:prstGeom>
        </p:spPr>
      </p:pic>
      <p:sp>
        <p:nvSpPr>
          <p:cNvPr id="17" name="text213"/>
          <p:cNvSpPr txBox="1"/>
          <p:nvPr/>
        </p:nvSpPr>
        <p:spPr>
          <a:xfrm>
            <a:off x="6446520" y="2423160"/>
            <a:ext cx="2103120" cy="365760"/>
          </a:xfrm>
          <a:prstGeom prst="rect">
            <a:avLst/>
          </a:prstGeom>
          <a:noFill/>
          <a:ln/>
        </p:spPr>
        <p:txBody>
          <a:bodyPr wrap="square" lIns="0" tIns="0" rIns="0" bIns="0" rtlCol="0" anchor="t"/>
          <a:lstStyle/>
          <a:p>
            <a:pPr indent="0" marL="0">
              <a:buNone/>
            </a:pPr>
            <a:r>
              <a:rPr lang="en-US" sz="1600" b="1" dirty="0">
                <a:solidFill>
                  <a:schemeClr val="tx1"/>
                </a:solidFill>
              </a:rPr>
              <a:t>3  Classical PCA</a:t>
            </a:r>
            <a:endParaRPr lang="en-US" sz="1600" dirty="0"/>
          </a:p>
        </p:txBody>
      </p:sp>
      <p:sp>
        <p:nvSpPr>
          <p:cNvPr id="18" name="text214"/>
          <p:cNvSpPr txBox="1"/>
          <p:nvPr/>
        </p:nvSpPr>
        <p:spPr>
          <a:xfrm>
            <a:off x="6446520" y="2788920"/>
            <a:ext cx="2103120" cy="594360"/>
          </a:xfrm>
          <a:prstGeom prst="rect">
            <a:avLst/>
          </a:prstGeom>
          <a:noFill/>
          <a:ln/>
        </p:spPr>
        <p:txBody>
          <a:bodyPr wrap="square" lIns="0" tIns="0" rIns="0" bIns="0" rtlCol="0" anchor="t"/>
          <a:lstStyle/>
          <a:p>
            <a:pPr indent="0" marL="0">
              <a:buNone/>
            </a:pPr>
            <a:r>
              <a:rPr lang="en-US" sz="1400" dirty="0">
                <a:solidFill>
                  <a:schemeClr val="tx2"/>
                </a:solidFill>
              </a:rPr>
              <a:t>Scree plot and sensor loadings.</a:t>
            </a:r>
            <a:endParaRPr lang="en-US" sz="1400" dirty="0"/>
          </a:p>
        </p:txBody>
      </p:sp>
      <p:sp>
        <p:nvSpPr>
          <p:cNvPr id="19" name="card215"/>
          <p:cNvSpPr/>
          <p:nvPr/>
        </p:nvSpPr>
        <p:spPr>
          <a:xfrm>
            <a:off x="9052560" y="1463040"/>
            <a:ext cx="2560320" cy="2011680"/>
          </a:xfrm>
          <a:prstGeom prst="roundRect">
            <a:avLst>
              <a:gd name="adj" fmla="val 5455"/>
            </a:avLst>
          </a:prstGeom>
          <a:solidFill>
            <a:schemeClr val="bg2"/>
          </a:solidFill>
          <a:ln w="12700">
            <a:solidFill>
              <a:schemeClr val="bg2"/>
            </a:solidFill>
            <a:prstDash val="solid"/>
          </a:ln>
          <a:effectLst>
            <a:outerShdw sx="100000" sy="100000" kx="0" ky="0" algn="bl" rotWithShape="0" blurRad="101600" dist="25400" dir="5400000">
              <a:srgbClr val="0B1F3A">
                <a:alpha val="12000"/>
              </a:srgbClr>
            </a:outerShdw>
          </a:effectLst>
        </p:spPr>
      </p:sp>
      <p:sp>
        <p:nvSpPr>
          <p:cNvPr id="20" name="dot216"/>
          <p:cNvSpPr/>
          <p:nvPr/>
        </p:nvSpPr>
        <p:spPr>
          <a:xfrm>
            <a:off x="9281160" y="1691640"/>
            <a:ext cx="640080" cy="640080"/>
          </a:xfrm>
          <a:prstGeom prst="ellipse">
            <a:avLst/>
          </a:prstGeom>
          <a:solidFill>
            <a:schemeClr val="accent5"/>
          </a:solidFill>
          <a:ln w="12700">
            <a:solidFill>
              <a:schemeClr val="accent5"/>
            </a:solidFill>
            <a:prstDash val="solid"/>
          </a:ln>
        </p:spPr>
      </p:sp>
      <p:pic>
        <p:nvPicPr>
          <p:cNvPr id="21" name="icon217" descr="preencoded.png">    </p:cNvPr>
          <p:cNvPicPr>
            <a:picLocks noChangeAspect="1"/>
          </p:cNvPicPr>
          <p:nvPr/>
        </p:nvPicPr>
        <p:blipFill>
          <a:blip r:embed="rId4"/>
          <a:stretch>
            <a:fillRect/>
          </a:stretch>
        </p:blipFill>
        <p:spPr>
          <a:xfrm>
            <a:off x="9441180" y="1851660"/>
            <a:ext cx="320040" cy="320040"/>
          </a:xfrm>
          <a:prstGeom prst="rect">
            <a:avLst/>
          </a:prstGeom>
        </p:spPr>
      </p:pic>
      <p:sp>
        <p:nvSpPr>
          <p:cNvPr id="22" name="text218"/>
          <p:cNvSpPr txBox="1"/>
          <p:nvPr/>
        </p:nvSpPr>
        <p:spPr>
          <a:xfrm>
            <a:off x="9281160" y="2423160"/>
            <a:ext cx="2103120" cy="365760"/>
          </a:xfrm>
          <a:prstGeom prst="rect">
            <a:avLst/>
          </a:prstGeom>
          <a:noFill/>
          <a:ln/>
        </p:spPr>
        <p:txBody>
          <a:bodyPr wrap="square" lIns="0" tIns="0" rIns="0" bIns="0" rtlCol="0" anchor="t"/>
          <a:lstStyle/>
          <a:p>
            <a:pPr indent="0" marL="0">
              <a:buNone/>
            </a:pPr>
            <a:r>
              <a:rPr lang="en-US" sz="1600" b="1" dirty="0">
                <a:solidFill>
                  <a:schemeClr val="tx1"/>
                </a:solidFill>
              </a:rPr>
              <a:t>4  Quantum PCA</a:t>
            </a:r>
            <a:endParaRPr lang="en-US" sz="1600" dirty="0"/>
          </a:p>
        </p:txBody>
      </p:sp>
      <p:sp>
        <p:nvSpPr>
          <p:cNvPr id="23" name="text219"/>
          <p:cNvSpPr txBox="1"/>
          <p:nvPr/>
        </p:nvSpPr>
        <p:spPr>
          <a:xfrm>
            <a:off x="9281160" y="2788920"/>
            <a:ext cx="2103120" cy="594360"/>
          </a:xfrm>
          <a:prstGeom prst="rect">
            <a:avLst/>
          </a:prstGeom>
          <a:noFill/>
          <a:ln/>
        </p:spPr>
        <p:txBody>
          <a:bodyPr wrap="square" lIns="0" tIns="0" rIns="0" bIns="0" rtlCol="0" anchor="t"/>
          <a:lstStyle/>
          <a:p>
            <a:pPr indent="0" marL="0">
              <a:buNone/>
            </a:pPr>
            <a:r>
              <a:rPr lang="en-US" sz="1400" dirty="0">
                <a:solidFill>
                  <a:schemeClr val="tx2"/>
                </a:solidFill>
              </a:rPr>
              <a:t>Circuit, phase histogram, eigenvalue table.</a:t>
            </a:r>
            <a:endParaRPr lang="en-US" sz="1400" dirty="0"/>
          </a:p>
        </p:txBody>
      </p:sp>
      <p:sp>
        <p:nvSpPr>
          <p:cNvPr id="24" name="card220"/>
          <p:cNvSpPr/>
          <p:nvPr/>
        </p:nvSpPr>
        <p:spPr>
          <a:xfrm>
            <a:off x="548640" y="3749040"/>
            <a:ext cx="2560320" cy="2011680"/>
          </a:xfrm>
          <a:prstGeom prst="roundRect">
            <a:avLst>
              <a:gd name="adj" fmla="val 5455"/>
            </a:avLst>
          </a:prstGeom>
          <a:solidFill>
            <a:schemeClr val="bg2"/>
          </a:solidFill>
          <a:ln w="12700">
            <a:solidFill>
              <a:schemeClr val="bg2"/>
            </a:solidFill>
            <a:prstDash val="solid"/>
          </a:ln>
          <a:effectLst>
            <a:outerShdw sx="100000" sy="100000" kx="0" ky="0" algn="bl" rotWithShape="0" blurRad="101600" dist="25400" dir="5400000">
              <a:srgbClr val="0B1F3A">
                <a:alpha val="12000"/>
              </a:srgbClr>
            </a:outerShdw>
          </a:effectLst>
        </p:spPr>
      </p:sp>
      <p:sp>
        <p:nvSpPr>
          <p:cNvPr id="25" name="dot221"/>
          <p:cNvSpPr/>
          <p:nvPr/>
        </p:nvSpPr>
        <p:spPr>
          <a:xfrm>
            <a:off x="777240" y="3977640"/>
            <a:ext cx="640080" cy="640080"/>
          </a:xfrm>
          <a:prstGeom prst="ellipse">
            <a:avLst/>
          </a:prstGeom>
          <a:solidFill>
            <a:schemeClr val="accent1"/>
          </a:solidFill>
          <a:ln w="12700">
            <a:solidFill>
              <a:schemeClr val="accent1"/>
            </a:solidFill>
            <a:prstDash val="solid"/>
          </a:ln>
        </p:spPr>
      </p:sp>
      <p:pic>
        <p:nvPicPr>
          <p:cNvPr id="26" name="icon222" descr="preencoded.png">    </p:cNvPr>
          <p:cNvPicPr>
            <a:picLocks noChangeAspect="1"/>
          </p:cNvPicPr>
          <p:nvPr/>
        </p:nvPicPr>
        <p:blipFill>
          <a:blip r:embed="rId5"/>
          <a:stretch>
            <a:fillRect/>
          </a:stretch>
        </p:blipFill>
        <p:spPr>
          <a:xfrm>
            <a:off x="937260" y="4137660"/>
            <a:ext cx="320040" cy="320040"/>
          </a:xfrm>
          <a:prstGeom prst="rect">
            <a:avLst/>
          </a:prstGeom>
        </p:spPr>
      </p:pic>
      <p:sp>
        <p:nvSpPr>
          <p:cNvPr id="27" name="text223"/>
          <p:cNvSpPr txBox="1"/>
          <p:nvPr/>
        </p:nvSpPr>
        <p:spPr>
          <a:xfrm>
            <a:off x="777240" y="4709160"/>
            <a:ext cx="2103120" cy="365760"/>
          </a:xfrm>
          <a:prstGeom prst="rect">
            <a:avLst/>
          </a:prstGeom>
          <a:noFill/>
          <a:ln/>
        </p:spPr>
        <p:txBody>
          <a:bodyPr wrap="square" lIns="0" tIns="0" rIns="0" bIns="0" rtlCol="0" anchor="t"/>
          <a:lstStyle/>
          <a:p>
            <a:pPr indent="0" marL="0">
              <a:buNone/>
            </a:pPr>
            <a:r>
              <a:rPr lang="en-US" sz="1600" b="1" dirty="0">
                <a:solidFill>
                  <a:schemeClr val="tx1"/>
                </a:solidFill>
              </a:rPr>
              <a:t>5  Engine health</a:t>
            </a:r>
            <a:endParaRPr lang="en-US" sz="1600" dirty="0"/>
          </a:p>
        </p:txBody>
      </p:sp>
      <p:sp>
        <p:nvSpPr>
          <p:cNvPr id="28" name="text224"/>
          <p:cNvSpPr txBox="1"/>
          <p:nvPr/>
        </p:nvSpPr>
        <p:spPr>
          <a:xfrm>
            <a:off x="777240" y="5074920"/>
            <a:ext cx="2103120" cy="594360"/>
          </a:xfrm>
          <a:prstGeom prst="rect">
            <a:avLst/>
          </a:prstGeom>
          <a:noFill/>
          <a:ln/>
        </p:spPr>
        <p:txBody>
          <a:bodyPr wrap="square" lIns="0" tIns="0" rIns="0" bIns="0" rtlCol="0" anchor="t"/>
          <a:lstStyle/>
          <a:p>
            <a:pPr indent="0" marL="0">
              <a:buNone/>
            </a:pPr>
            <a:r>
              <a:rPr lang="en-US" sz="1400" dirty="0">
                <a:solidFill>
                  <a:schemeClr val="tx2"/>
                </a:solidFill>
              </a:rPr>
              <a:t>Score over time and animated 3D health map.</a:t>
            </a:r>
            <a:endParaRPr lang="en-US" sz="1400" dirty="0"/>
          </a:p>
        </p:txBody>
      </p:sp>
      <p:sp>
        <p:nvSpPr>
          <p:cNvPr id="29" name="card225"/>
          <p:cNvSpPr/>
          <p:nvPr/>
        </p:nvSpPr>
        <p:spPr>
          <a:xfrm>
            <a:off x="3383280" y="3749040"/>
            <a:ext cx="2560320" cy="2011680"/>
          </a:xfrm>
          <a:prstGeom prst="roundRect">
            <a:avLst>
              <a:gd name="adj" fmla="val 5455"/>
            </a:avLst>
          </a:prstGeom>
          <a:solidFill>
            <a:schemeClr val="bg2"/>
          </a:solidFill>
          <a:ln w="12700">
            <a:solidFill>
              <a:schemeClr val="bg2"/>
            </a:solidFill>
            <a:prstDash val="solid"/>
          </a:ln>
          <a:effectLst>
            <a:outerShdw sx="100000" sy="100000" kx="0" ky="0" algn="bl" rotWithShape="0" blurRad="101600" dist="25400" dir="5400000">
              <a:srgbClr val="0B1F3A">
                <a:alpha val="12000"/>
              </a:srgbClr>
            </a:outerShdw>
          </a:effectLst>
        </p:spPr>
      </p:sp>
      <p:sp>
        <p:nvSpPr>
          <p:cNvPr id="30" name="dot226"/>
          <p:cNvSpPr/>
          <p:nvPr/>
        </p:nvSpPr>
        <p:spPr>
          <a:xfrm>
            <a:off x="3611880" y="3977640"/>
            <a:ext cx="640080" cy="640080"/>
          </a:xfrm>
          <a:prstGeom prst="ellipse">
            <a:avLst/>
          </a:prstGeom>
          <a:solidFill>
            <a:schemeClr val="accent1"/>
          </a:solidFill>
          <a:ln w="12700">
            <a:solidFill>
              <a:schemeClr val="accent1"/>
            </a:solidFill>
            <a:prstDash val="solid"/>
          </a:ln>
        </p:spPr>
      </p:sp>
      <p:pic>
        <p:nvPicPr>
          <p:cNvPr id="31" name="icon227" descr="preencoded.png">    </p:cNvPr>
          <p:cNvPicPr>
            <a:picLocks noChangeAspect="1"/>
          </p:cNvPicPr>
          <p:nvPr/>
        </p:nvPicPr>
        <p:blipFill>
          <a:blip r:embed="rId6"/>
          <a:stretch>
            <a:fillRect/>
          </a:stretch>
        </p:blipFill>
        <p:spPr>
          <a:xfrm>
            <a:off x="3771900" y="4137660"/>
            <a:ext cx="320040" cy="320040"/>
          </a:xfrm>
          <a:prstGeom prst="rect">
            <a:avLst/>
          </a:prstGeom>
        </p:spPr>
      </p:pic>
      <p:sp>
        <p:nvSpPr>
          <p:cNvPr id="32" name="text228"/>
          <p:cNvSpPr txBox="1"/>
          <p:nvPr/>
        </p:nvSpPr>
        <p:spPr>
          <a:xfrm>
            <a:off x="3611880" y="4709160"/>
            <a:ext cx="2103120" cy="365760"/>
          </a:xfrm>
          <a:prstGeom prst="rect">
            <a:avLst/>
          </a:prstGeom>
          <a:noFill/>
          <a:ln/>
        </p:spPr>
        <p:txBody>
          <a:bodyPr wrap="square" lIns="0" tIns="0" rIns="0" bIns="0" rtlCol="0" anchor="t"/>
          <a:lstStyle/>
          <a:p>
            <a:pPr indent="0" marL="0">
              <a:buNone/>
            </a:pPr>
            <a:r>
              <a:rPr lang="en-US" sz="1600" b="1" dirty="0">
                <a:solidFill>
                  <a:schemeClr val="tx1"/>
                </a:solidFill>
              </a:rPr>
              <a:t>6  Classical vs qPCA</a:t>
            </a:r>
            <a:endParaRPr lang="en-US" sz="1600" dirty="0"/>
          </a:p>
        </p:txBody>
      </p:sp>
      <p:sp>
        <p:nvSpPr>
          <p:cNvPr id="33" name="text229"/>
          <p:cNvSpPr txBox="1"/>
          <p:nvPr/>
        </p:nvSpPr>
        <p:spPr>
          <a:xfrm>
            <a:off x="3611880" y="5074920"/>
            <a:ext cx="2103120" cy="594360"/>
          </a:xfrm>
          <a:prstGeom prst="rect">
            <a:avLst/>
          </a:prstGeom>
          <a:noFill/>
          <a:ln/>
        </p:spPr>
        <p:txBody>
          <a:bodyPr wrap="square" lIns="0" tIns="0" rIns="0" bIns="0" rtlCol="0" anchor="t"/>
          <a:lstStyle/>
          <a:p>
            <a:pPr indent="0" marL="0">
              <a:buNone/>
            </a:pPr>
            <a:r>
              <a:rPr lang="en-US" sz="1400" dirty="0">
                <a:solidFill>
                  <a:schemeClr val="tx2"/>
                </a:solidFill>
              </a:rPr>
              <a:t>Metric table and eigenvalue comparison.</a:t>
            </a:r>
            <a:endParaRPr lang="en-US" sz="1400" dirty="0"/>
          </a:p>
        </p:txBody>
      </p:sp>
      <p:sp>
        <p:nvSpPr>
          <p:cNvPr id="34" name="card230"/>
          <p:cNvSpPr/>
          <p:nvPr/>
        </p:nvSpPr>
        <p:spPr>
          <a:xfrm>
            <a:off x="6217920" y="3749040"/>
            <a:ext cx="2560320" cy="2011680"/>
          </a:xfrm>
          <a:prstGeom prst="roundRect">
            <a:avLst>
              <a:gd name="adj" fmla="val 5455"/>
            </a:avLst>
          </a:prstGeom>
          <a:solidFill>
            <a:schemeClr val="bg2"/>
          </a:solidFill>
          <a:ln w="12700">
            <a:solidFill>
              <a:schemeClr val="bg2"/>
            </a:solidFill>
            <a:prstDash val="solid"/>
          </a:ln>
          <a:effectLst>
            <a:outerShdw sx="100000" sy="100000" kx="0" ky="0" algn="bl" rotWithShape="0" blurRad="101600" dist="25400" dir="5400000">
              <a:srgbClr val="0B1F3A">
                <a:alpha val="12000"/>
              </a:srgbClr>
            </a:outerShdw>
          </a:effectLst>
        </p:spPr>
      </p:sp>
      <p:sp>
        <p:nvSpPr>
          <p:cNvPr id="35" name="dot231"/>
          <p:cNvSpPr/>
          <p:nvPr/>
        </p:nvSpPr>
        <p:spPr>
          <a:xfrm>
            <a:off x="6446520" y="3977640"/>
            <a:ext cx="640080" cy="640080"/>
          </a:xfrm>
          <a:prstGeom prst="ellipse">
            <a:avLst/>
          </a:prstGeom>
          <a:solidFill>
            <a:schemeClr val="accent1"/>
          </a:solidFill>
          <a:ln w="12700">
            <a:solidFill>
              <a:schemeClr val="accent1"/>
            </a:solidFill>
            <a:prstDash val="solid"/>
          </a:ln>
        </p:spPr>
      </p:sp>
      <p:pic>
        <p:nvPicPr>
          <p:cNvPr id="36" name="icon232" descr="preencoded.png">    </p:cNvPr>
          <p:cNvPicPr>
            <a:picLocks noChangeAspect="1"/>
          </p:cNvPicPr>
          <p:nvPr/>
        </p:nvPicPr>
        <p:blipFill>
          <a:blip r:embed="rId7"/>
          <a:stretch>
            <a:fillRect/>
          </a:stretch>
        </p:blipFill>
        <p:spPr>
          <a:xfrm>
            <a:off x="6606540" y="4137660"/>
            <a:ext cx="320040" cy="320040"/>
          </a:xfrm>
          <a:prstGeom prst="rect">
            <a:avLst/>
          </a:prstGeom>
        </p:spPr>
      </p:pic>
      <p:sp>
        <p:nvSpPr>
          <p:cNvPr id="37" name="text233"/>
          <p:cNvSpPr txBox="1"/>
          <p:nvPr/>
        </p:nvSpPr>
        <p:spPr>
          <a:xfrm>
            <a:off x="6446520" y="4709160"/>
            <a:ext cx="2103120" cy="365760"/>
          </a:xfrm>
          <a:prstGeom prst="rect">
            <a:avLst/>
          </a:prstGeom>
          <a:noFill/>
          <a:ln/>
        </p:spPr>
        <p:txBody>
          <a:bodyPr wrap="square" lIns="0" tIns="0" rIns="0" bIns="0" rtlCol="0" anchor="t"/>
          <a:lstStyle/>
          <a:p>
            <a:pPr indent="0" marL="0">
              <a:buNone/>
            </a:pPr>
            <a:r>
              <a:rPr lang="en-US" sz="1600" b="1" dirty="0">
                <a:solidFill>
                  <a:schemeClr val="tx1"/>
                </a:solidFill>
              </a:rPr>
              <a:t>7  What if?</a:t>
            </a:r>
            <a:endParaRPr lang="en-US" sz="1600" dirty="0"/>
          </a:p>
        </p:txBody>
      </p:sp>
      <p:sp>
        <p:nvSpPr>
          <p:cNvPr id="38" name="text234"/>
          <p:cNvSpPr txBox="1"/>
          <p:nvPr/>
        </p:nvSpPr>
        <p:spPr>
          <a:xfrm>
            <a:off x="6446520" y="5074920"/>
            <a:ext cx="2103120" cy="594360"/>
          </a:xfrm>
          <a:prstGeom prst="rect">
            <a:avLst/>
          </a:prstGeom>
          <a:noFill/>
          <a:ln/>
        </p:spPr>
        <p:txBody>
          <a:bodyPr wrap="square" lIns="0" tIns="0" rIns="0" bIns="0" rtlCol="0" anchor="t"/>
          <a:lstStyle/>
          <a:p>
            <a:pPr indent="0" marL="0">
              <a:buNone/>
            </a:pPr>
            <a:r>
              <a:rPr lang="en-US" sz="1400" dirty="0">
                <a:solidFill>
                  <a:schemeClr val="tx2"/>
                </a:solidFill>
              </a:rPr>
              <a:t>Noise sweep and component sweep.</a:t>
            </a:r>
            <a:endParaRPr lang="en-US" sz="1400" dirty="0"/>
          </a:p>
        </p:txBody>
      </p:sp>
      <p:sp>
        <p:nvSpPr>
          <p:cNvPr id="39" name="card235"/>
          <p:cNvSpPr/>
          <p:nvPr/>
        </p:nvSpPr>
        <p:spPr>
          <a:xfrm>
            <a:off x="9052560" y="3749040"/>
            <a:ext cx="2560320" cy="2011680"/>
          </a:xfrm>
          <a:prstGeom prst="roundRect">
            <a:avLst>
              <a:gd name="adj" fmla="val 5455"/>
            </a:avLst>
          </a:prstGeom>
          <a:solidFill>
            <a:schemeClr val="tx1"/>
          </a:solidFill>
          <a:ln w="12700">
            <a:solidFill>
              <a:schemeClr val="tx1"/>
            </a:solidFill>
            <a:prstDash val="solid"/>
          </a:ln>
          <a:effectLst>
            <a:outerShdw sx="100000" sy="100000" kx="0" ky="0" algn="bl" rotWithShape="0" blurRad="101600" dist="25400" dir="5400000">
              <a:srgbClr val="0B1F3A">
                <a:alpha val="12000"/>
              </a:srgbClr>
            </a:outerShdw>
          </a:effectLst>
        </p:spPr>
      </p:sp>
      <p:sp>
        <p:nvSpPr>
          <p:cNvPr id="40" name="text236"/>
          <p:cNvSpPr txBox="1"/>
          <p:nvPr/>
        </p:nvSpPr>
        <p:spPr>
          <a:xfrm>
            <a:off x="9281160" y="3931920"/>
            <a:ext cx="2103120" cy="365760"/>
          </a:xfrm>
          <a:prstGeom prst="rect">
            <a:avLst/>
          </a:prstGeom>
          <a:noFill/>
          <a:ln/>
        </p:spPr>
        <p:txBody>
          <a:bodyPr wrap="square" lIns="0" tIns="0" rIns="0" bIns="0" rtlCol="0" anchor="t"/>
          <a:lstStyle/>
          <a:p>
            <a:pPr indent="0" marL="0">
              <a:buNone/>
            </a:pPr>
            <a:r>
              <a:rPr lang="en-US" sz="1600" b="1" dirty="0">
                <a:solidFill>
                  <a:schemeClr val="bg1"/>
                </a:solidFill>
              </a:rPr>
              <a:t>Always visible</a:t>
            </a:r>
            <a:endParaRPr lang="en-US" sz="1600" dirty="0"/>
          </a:p>
        </p:txBody>
      </p:sp>
      <p:sp>
        <p:nvSpPr>
          <p:cNvPr id="41" name="text237"/>
          <p:cNvSpPr txBox="1"/>
          <p:nvPr/>
        </p:nvSpPr>
        <p:spPr>
          <a:xfrm>
            <a:off x="9281160" y="4343400"/>
            <a:ext cx="2103120" cy="1188720"/>
          </a:xfrm>
          <a:prstGeom prst="rect">
            <a:avLst/>
          </a:prstGeom>
          <a:noFill/>
          <a:ln/>
        </p:spPr>
        <p:txBody>
          <a:bodyPr wrap="square" lIns="0" tIns="0" rIns="0" bIns="0" rtlCol="0" anchor="t"/>
          <a:lstStyle/>
          <a:p>
            <a:pPr indent="0" marL="0">
              <a:buNone/>
            </a:pPr>
            <a:r>
              <a:rPr lang="en-US" sz="1400" dirty="0">
                <a:solidFill>
                  <a:schemeClr val="accent6"/>
                </a:solidFill>
              </a:rPr>
              <a:t>Engine, status lamp and anomaly score in the header.</a:t>
            </a:r>
            <a:endParaRPr 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200" b="1" dirty="0">
                <a:solidFill>
                  <a:schemeClr val="tx1"/>
                </a:solidFill>
              </a:rPr>
              <a:t>Architecture: one pipeline, two PCA engines</a:t>
            </a:r>
            <a:endParaRPr lang="en-US" sz="3200" dirty="0"/>
          </a:p>
        </p:txBody>
      </p:sp>
      <p:sp>
        <p:nvSpPr>
          <p:cNvPr id="4" name="card238"/>
          <p:cNvSpPr/>
          <p:nvPr/>
        </p:nvSpPr>
        <p:spPr>
          <a:xfrm>
            <a:off x="548640" y="2651760"/>
            <a:ext cx="2103120" cy="1371600"/>
          </a:xfrm>
          <a:prstGeom prst="roundRect">
            <a:avLst>
              <a:gd name="adj" fmla="val 8000"/>
            </a:avLst>
          </a:prstGeom>
          <a:solidFill>
            <a:schemeClr val="bg2"/>
          </a:solidFill>
          <a:ln w="12700">
            <a:solidFill>
              <a:schemeClr val="bg2"/>
            </a:solidFill>
            <a:prstDash val="solid"/>
          </a:ln>
          <a:effectLst>
            <a:outerShdw sx="100000" sy="100000" kx="0" ky="0" algn="bl" rotWithShape="0" blurRad="101600" dist="25400" dir="5400000">
              <a:srgbClr val="0B1F3A">
                <a:alpha val="12000"/>
              </a:srgbClr>
            </a:outerShdw>
          </a:effectLst>
        </p:spPr>
      </p:sp>
      <p:sp>
        <p:nvSpPr>
          <p:cNvPr id="5" name="text239"/>
          <p:cNvSpPr txBox="1"/>
          <p:nvPr/>
        </p:nvSpPr>
        <p:spPr>
          <a:xfrm>
            <a:off x="640080" y="2761488"/>
            <a:ext cx="1920240" cy="365760"/>
          </a:xfrm>
          <a:prstGeom prst="rect">
            <a:avLst/>
          </a:prstGeom>
          <a:noFill/>
          <a:ln/>
        </p:spPr>
        <p:txBody>
          <a:bodyPr wrap="square" lIns="0" tIns="0" rIns="0" bIns="0" rtlCol="0" anchor="t"/>
          <a:lstStyle/>
          <a:p>
            <a:pPr algn="ctr" indent="0" marL="0">
              <a:buNone/>
            </a:pPr>
            <a:r>
              <a:rPr lang="en-US" sz="1600" b="1" dirty="0">
                <a:solidFill>
                  <a:schemeClr val="tx1"/>
                </a:solidFill>
              </a:rPr>
              <a:t>C-MAPSS</a:t>
            </a:r>
            <a:endParaRPr lang="en-US" sz="1600" dirty="0"/>
          </a:p>
        </p:txBody>
      </p:sp>
      <p:sp>
        <p:nvSpPr>
          <p:cNvPr id="6" name="text240"/>
          <p:cNvSpPr txBox="1"/>
          <p:nvPr/>
        </p:nvSpPr>
        <p:spPr>
          <a:xfrm>
            <a:off x="685800" y="3127248"/>
            <a:ext cx="1828800" cy="822960"/>
          </a:xfrm>
          <a:prstGeom prst="rect">
            <a:avLst/>
          </a:prstGeom>
          <a:noFill/>
          <a:ln/>
        </p:spPr>
        <p:txBody>
          <a:bodyPr wrap="square" lIns="0" tIns="0" rIns="0" bIns="0" rtlCol="0" anchor="t"/>
          <a:lstStyle/>
          <a:p>
            <a:pPr algn="ctr" indent="0" marL="0">
              <a:buNone/>
            </a:pPr>
            <a:r>
              <a:rPr lang="en-US" sz="1400" dirty="0">
                <a:solidFill>
                  <a:schemeClr val="tx2"/>
                </a:solidFill>
              </a:rPr>
              <a:t>loadCMAPSS</a:t>
            </a:r>
            <a:endParaRPr lang="en-US" sz="1400" dirty="0"/>
          </a:p>
        </p:txBody>
      </p:sp>
      <p:sp>
        <p:nvSpPr>
          <p:cNvPr id="7" name="card241"/>
          <p:cNvSpPr/>
          <p:nvPr/>
        </p:nvSpPr>
        <p:spPr>
          <a:xfrm>
            <a:off x="3017520" y="2651760"/>
            <a:ext cx="2103120" cy="1371600"/>
          </a:xfrm>
          <a:prstGeom prst="roundRect">
            <a:avLst>
              <a:gd name="adj" fmla="val 8000"/>
            </a:avLst>
          </a:prstGeom>
          <a:solidFill>
            <a:schemeClr val="bg2"/>
          </a:solidFill>
          <a:ln w="12700">
            <a:solidFill>
              <a:schemeClr val="bg2"/>
            </a:solidFill>
            <a:prstDash val="solid"/>
          </a:ln>
          <a:effectLst>
            <a:outerShdw sx="100000" sy="100000" kx="0" ky="0" algn="bl" rotWithShape="0" blurRad="101600" dist="25400" dir="5400000">
              <a:srgbClr val="0B1F3A">
                <a:alpha val="12000"/>
              </a:srgbClr>
            </a:outerShdw>
          </a:effectLst>
        </p:spPr>
      </p:sp>
      <p:sp>
        <p:nvSpPr>
          <p:cNvPr id="8" name="text242"/>
          <p:cNvSpPr txBox="1"/>
          <p:nvPr/>
        </p:nvSpPr>
        <p:spPr>
          <a:xfrm>
            <a:off x="3108960" y="2761488"/>
            <a:ext cx="1920240" cy="365760"/>
          </a:xfrm>
          <a:prstGeom prst="rect">
            <a:avLst/>
          </a:prstGeom>
          <a:noFill/>
          <a:ln/>
        </p:spPr>
        <p:txBody>
          <a:bodyPr wrap="square" lIns="0" tIns="0" rIns="0" bIns="0" rtlCol="0" anchor="t"/>
          <a:lstStyle/>
          <a:p>
            <a:pPr algn="ctr" indent="0" marL="0">
              <a:buNone/>
            </a:pPr>
            <a:r>
              <a:rPr lang="en-US" sz="1600" b="1" dirty="0">
                <a:solidFill>
                  <a:schemeClr val="tx1"/>
                </a:solidFill>
              </a:rPr>
              <a:t>Preprocess</a:t>
            </a:r>
            <a:endParaRPr lang="en-US" sz="1600" dirty="0"/>
          </a:p>
        </p:txBody>
      </p:sp>
      <p:sp>
        <p:nvSpPr>
          <p:cNvPr id="9" name="text243"/>
          <p:cNvSpPr txBox="1"/>
          <p:nvPr/>
        </p:nvSpPr>
        <p:spPr>
          <a:xfrm>
            <a:off x="3154680" y="3127248"/>
            <a:ext cx="1828800" cy="822960"/>
          </a:xfrm>
          <a:prstGeom prst="rect">
            <a:avLst/>
          </a:prstGeom>
          <a:noFill/>
          <a:ln/>
        </p:spPr>
        <p:txBody>
          <a:bodyPr wrap="square" lIns="0" tIns="0" rIns="0" bIns="0" rtlCol="0" anchor="t"/>
          <a:lstStyle/>
          <a:p>
            <a:pPr algn="ctr" indent="0" marL="0">
              <a:buNone/>
            </a:pPr>
            <a:r>
              <a:rPr lang="en-US" sz="1400" dirty="0">
                <a:solidFill>
                  <a:schemeClr val="tx2"/>
                </a:solidFill>
              </a:rPr>
              <a:t>select, split, z-score</a:t>
            </a:r>
            <a:endParaRPr lang="en-US" sz="1400" dirty="0"/>
          </a:p>
        </p:txBody>
      </p:sp>
      <p:sp>
        <p:nvSpPr>
          <p:cNvPr id="10" name="card244"/>
          <p:cNvSpPr/>
          <p:nvPr/>
        </p:nvSpPr>
        <p:spPr>
          <a:xfrm>
            <a:off x="5486400" y="1554480"/>
            <a:ext cx="2377440" cy="1371600"/>
          </a:xfrm>
          <a:prstGeom prst="roundRect">
            <a:avLst>
              <a:gd name="adj" fmla="val 8000"/>
            </a:avLst>
          </a:prstGeom>
          <a:solidFill>
            <a:schemeClr val="bg2"/>
          </a:solidFill>
          <a:ln w="12700">
            <a:solidFill>
              <a:schemeClr val="bg2"/>
            </a:solidFill>
            <a:prstDash val="solid"/>
          </a:ln>
          <a:effectLst>
            <a:outerShdw sx="100000" sy="100000" kx="0" ky="0" algn="bl" rotWithShape="0" blurRad="101600" dist="25400" dir="5400000">
              <a:srgbClr val="0B1F3A">
                <a:alpha val="12000"/>
              </a:srgbClr>
            </a:outerShdw>
          </a:effectLst>
        </p:spPr>
      </p:sp>
      <p:sp>
        <p:nvSpPr>
          <p:cNvPr id="11" name="text245"/>
          <p:cNvSpPr txBox="1"/>
          <p:nvPr/>
        </p:nvSpPr>
        <p:spPr>
          <a:xfrm>
            <a:off x="5577840" y="1664208"/>
            <a:ext cx="2194560" cy="365760"/>
          </a:xfrm>
          <a:prstGeom prst="rect">
            <a:avLst/>
          </a:prstGeom>
          <a:noFill/>
          <a:ln/>
        </p:spPr>
        <p:txBody>
          <a:bodyPr wrap="square" lIns="0" tIns="0" rIns="0" bIns="0" rtlCol="0" anchor="t"/>
          <a:lstStyle/>
          <a:p>
            <a:pPr algn="ctr" indent="0" marL="0">
              <a:buNone/>
            </a:pPr>
            <a:r>
              <a:rPr lang="en-US" sz="1600" b="1" dirty="0">
                <a:solidFill>
                  <a:schemeClr val="tx1"/>
                </a:solidFill>
              </a:rPr>
              <a:t>Classical PCA</a:t>
            </a:r>
            <a:endParaRPr lang="en-US" sz="1600" dirty="0"/>
          </a:p>
        </p:txBody>
      </p:sp>
      <p:sp>
        <p:nvSpPr>
          <p:cNvPr id="12" name="text246"/>
          <p:cNvSpPr txBox="1"/>
          <p:nvPr/>
        </p:nvSpPr>
        <p:spPr>
          <a:xfrm>
            <a:off x="5623560" y="2029968"/>
            <a:ext cx="2103120" cy="822960"/>
          </a:xfrm>
          <a:prstGeom prst="rect">
            <a:avLst/>
          </a:prstGeom>
          <a:noFill/>
          <a:ln/>
        </p:spPr>
        <p:txBody>
          <a:bodyPr wrap="square" lIns="0" tIns="0" rIns="0" bIns="0" rtlCol="0" anchor="t"/>
          <a:lstStyle/>
          <a:p>
            <a:pPr algn="ctr" indent="0" marL="0">
              <a:buNone/>
            </a:pPr>
            <a:r>
              <a:rPr lang="en-US" sz="1400" dirty="0">
                <a:solidFill>
                  <a:schemeClr val="tx2"/>
                </a:solidFill>
              </a:rPr>
              <a:t>eig of C</a:t>
            </a:r>
            <a:endParaRPr lang="en-US" sz="1400" dirty="0"/>
          </a:p>
        </p:txBody>
      </p:sp>
      <p:sp>
        <p:nvSpPr>
          <p:cNvPr id="13" name="card247"/>
          <p:cNvSpPr/>
          <p:nvPr/>
        </p:nvSpPr>
        <p:spPr>
          <a:xfrm>
            <a:off x="5486400" y="3749040"/>
            <a:ext cx="2377440" cy="1371600"/>
          </a:xfrm>
          <a:prstGeom prst="roundRect">
            <a:avLst>
              <a:gd name="adj" fmla="val 8000"/>
            </a:avLst>
          </a:prstGeom>
          <a:solidFill>
            <a:schemeClr val="tx1"/>
          </a:solidFill>
          <a:ln w="12700">
            <a:solidFill>
              <a:schemeClr val="tx1"/>
            </a:solidFill>
            <a:prstDash val="solid"/>
          </a:ln>
          <a:effectLst>
            <a:outerShdw sx="100000" sy="100000" kx="0" ky="0" algn="bl" rotWithShape="0" blurRad="101600" dist="25400" dir="5400000">
              <a:srgbClr val="0B1F3A">
                <a:alpha val="12000"/>
              </a:srgbClr>
            </a:outerShdw>
          </a:effectLst>
        </p:spPr>
      </p:sp>
      <p:sp>
        <p:nvSpPr>
          <p:cNvPr id="14" name="text248"/>
          <p:cNvSpPr txBox="1"/>
          <p:nvPr/>
        </p:nvSpPr>
        <p:spPr>
          <a:xfrm>
            <a:off x="5577840" y="3858768"/>
            <a:ext cx="2194560" cy="365760"/>
          </a:xfrm>
          <a:prstGeom prst="rect">
            <a:avLst/>
          </a:prstGeom>
          <a:noFill/>
          <a:ln/>
        </p:spPr>
        <p:txBody>
          <a:bodyPr wrap="square" lIns="0" tIns="0" rIns="0" bIns="0" rtlCol="0" anchor="t"/>
          <a:lstStyle/>
          <a:p>
            <a:pPr algn="ctr" indent="0" marL="0">
              <a:buNone/>
            </a:pPr>
            <a:r>
              <a:rPr lang="en-US" sz="1600" b="1" dirty="0">
                <a:solidFill>
                  <a:schemeClr val="bg1"/>
                </a:solidFill>
              </a:rPr>
              <a:t>qPCA</a:t>
            </a:r>
            <a:endParaRPr lang="en-US" sz="1600" dirty="0"/>
          </a:p>
        </p:txBody>
      </p:sp>
      <p:sp>
        <p:nvSpPr>
          <p:cNvPr id="15" name="text249"/>
          <p:cNvSpPr txBox="1"/>
          <p:nvPr/>
        </p:nvSpPr>
        <p:spPr>
          <a:xfrm>
            <a:off x="5623560" y="4224528"/>
            <a:ext cx="2103120" cy="822960"/>
          </a:xfrm>
          <a:prstGeom prst="rect">
            <a:avLst/>
          </a:prstGeom>
          <a:noFill/>
          <a:ln/>
        </p:spPr>
        <p:txBody>
          <a:bodyPr wrap="square" lIns="0" tIns="0" rIns="0" bIns="0" rtlCol="0" anchor="t"/>
          <a:lstStyle/>
          <a:p>
            <a:pPr algn="ctr" indent="0" marL="0">
              <a:buNone/>
            </a:pPr>
            <a:r>
              <a:rPr lang="en-US" sz="1400" dirty="0">
                <a:solidFill>
                  <a:schemeClr val="accent6"/>
                </a:solidFill>
              </a:rPr>
              <a:t>phase estimation</a:t>
            </a:r>
            <a:endParaRPr lang="en-US" sz="1400" dirty="0"/>
          </a:p>
        </p:txBody>
      </p:sp>
      <p:sp>
        <p:nvSpPr>
          <p:cNvPr id="16" name="card250"/>
          <p:cNvSpPr/>
          <p:nvPr/>
        </p:nvSpPr>
        <p:spPr>
          <a:xfrm>
            <a:off x="8229600" y="2651760"/>
            <a:ext cx="1737360" cy="1371600"/>
          </a:xfrm>
          <a:prstGeom prst="roundRect">
            <a:avLst>
              <a:gd name="adj" fmla="val 8000"/>
            </a:avLst>
          </a:prstGeom>
          <a:solidFill>
            <a:schemeClr val="accent6"/>
          </a:solidFill>
          <a:ln w="12700">
            <a:solidFill>
              <a:schemeClr val="accent6"/>
            </a:solidFill>
            <a:prstDash val="solid"/>
          </a:ln>
          <a:effectLst>
            <a:outerShdw sx="100000" sy="100000" kx="0" ky="0" algn="bl" rotWithShape="0" blurRad="101600" dist="25400" dir="5400000">
              <a:srgbClr val="0B1F3A">
                <a:alpha val="12000"/>
              </a:srgbClr>
            </a:outerShdw>
          </a:effectLst>
        </p:spPr>
      </p:sp>
      <p:sp>
        <p:nvSpPr>
          <p:cNvPr id="17" name="text251"/>
          <p:cNvSpPr txBox="1"/>
          <p:nvPr/>
        </p:nvSpPr>
        <p:spPr>
          <a:xfrm>
            <a:off x="8321040" y="2761488"/>
            <a:ext cx="1554480" cy="365760"/>
          </a:xfrm>
          <a:prstGeom prst="rect">
            <a:avLst/>
          </a:prstGeom>
          <a:noFill/>
          <a:ln/>
        </p:spPr>
        <p:txBody>
          <a:bodyPr wrap="square" lIns="0" tIns="0" rIns="0" bIns="0" rtlCol="0" anchor="t"/>
          <a:lstStyle/>
          <a:p>
            <a:pPr algn="ctr" indent="0" marL="0">
              <a:buNone/>
            </a:pPr>
            <a:r>
              <a:rPr lang="en-US" sz="1600" b="1" dirty="0">
                <a:solidFill>
                  <a:schemeClr val="tx1"/>
                </a:solidFill>
              </a:rPr>
              <a:t>Compare</a:t>
            </a:r>
            <a:endParaRPr lang="en-US" sz="1600" dirty="0"/>
          </a:p>
        </p:txBody>
      </p:sp>
      <p:sp>
        <p:nvSpPr>
          <p:cNvPr id="18" name="text252"/>
          <p:cNvSpPr txBox="1"/>
          <p:nvPr/>
        </p:nvSpPr>
        <p:spPr>
          <a:xfrm>
            <a:off x="8366760" y="3127248"/>
            <a:ext cx="1463040" cy="822960"/>
          </a:xfrm>
          <a:prstGeom prst="rect">
            <a:avLst/>
          </a:prstGeom>
          <a:noFill/>
          <a:ln/>
        </p:spPr>
        <p:txBody>
          <a:bodyPr wrap="square" lIns="0" tIns="0" rIns="0" bIns="0" rtlCol="0" anchor="t"/>
          <a:lstStyle/>
          <a:p>
            <a:pPr algn="ctr" indent="0" marL="0">
              <a:buNone/>
            </a:pPr>
            <a:r>
              <a:rPr lang="en-US" sz="1400" dirty="0">
                <a:solidFill>
                  <a:schemeClr val="tx2"/>
                </a:solidFill>
              </a:rPr>
              <a:t>6 metrics</a:t>
            </a:r>
            <a:endParaRPr lang="en-US" sz="1400" dirty="0"/>
          </a:p>
        </p:txBody>
      </p:sp>
      <p:sp>
        <p:nvSpPr>
          <p:cNvPr id="19" name="card253"/>
          <p:cNvSpPr/>
          <p:nvPr/>
        </p:nvSpPr>
        <p:spPr>
          <a:xfrm>
            <a:off x="10241280" y="1554480"/>
            <a:ext cx="1371600" cy="1371600"/>
          </a:xfrm>
          <a:prstGeom prst="roundRect">
            <a:avLst>
              <a:gd name="adj" fmla="val 8000"/>
            </a:avLst>
          </a:prstGeom>
          <a:solidFill>
            <a:schemeClr val="bg2"/>
          </a:solidFill>
          <a:ln w="12700">
            <a:solidFill>
              <a:schemeClr val="bg2"/>
            </a:solidFill>
            <a:prstDash val="solid"/>
          </a:ln>
          <a:effectLst>
            <a:outerShdw sx="100000" sy="100000" kx="0" ky="0" algn="bl" rotWithShape="0" blurRad="101600" dist="25400" dir="5400000">
              <a:srgbClr val="0B1F3A">
                <a:alpha val="12000"/>
              </a:srgbClr>
            </a:outerShdw>
          </a:effectLst>
        </p:spPr>
      </p:sp>
      <p:sp>
        <p:nvSpPr>
          <p:cNvPr id="20" name="text254"/>
          <p:cNvSpPr txBox="1"/>
          <p:nvPr/>
        </p:nvSpPr>
        <p:spPr>
          <a:xfrm>
            <a:off x="10332720" y="1664208"/>
            <a:ext cx="1188720" cy="365760"/>
          </a:xfrm>
          <a:prstGeom prst="rect">
            <a:avLst/>
          </a:prstGeom>
          <a:noFill/>
          <a:ln/>
        </p:spPr>
        <p:txBody>
          <a:bodyPr wrap="square" lIns="0" tIns="0" rIns="0" bIns="0" rtlCol="0" anchor="t"/>
          <a:lstStyle/>
          <a:p>
            <a:pPr algn="ctr" indent="0" marL="0">
              <a:buNone/>
            </a:pPr>
            <a:r>
              <a:rPr lang="en-US" sz="1600" b="1" dirty="0">
                <a:solidFill>
                  <a:schemeClr val="tx1"/>
                </a:solidFill>
              </a:rPr>
              <a:t>Score</a:t>
            </a:r>
            <a:endParaRPr lang="en-US" sz="1600" dirty="0"/>
          </a:p>
        </p:txBody>
      </p:sp>
      <p:sp>
        <p:nvSpPr>
          <p:cNvPr id="21" name="text255"/>
          <p:cNvSpPr txBox="1"/>
          <p:nvPr/>
        </p:nvSpPr>
        <p:spPr>
          <a:xfrm>
            <a:off x="10378440" y="2029968"/>
            <a:ext cx="1097280" cy="822960"/>
          </a:xfrm>
          <a:prstGeom prst="rect">
            <a:avLst/>
          </a:prstGeom>
          <a:noFill/>
          <a:ln/>
        </p:spPr>
        <p:txBody>
          <a:bodyPr wrap="square" lIns="0" tIns="0" rIns="0" bIns="0" rtlCol="0" anchor="t"/>
          <a:lstStyle/>
          <a:p>
            <a:pPr algn="ctr" indent="0" marL="0">
              <a:buNone/>
            </a:pPr>
            <a:r>
              <a:rPr lang="en-US" sz="1400" dirty="0">
                <a:solidFill>
                  <a:schemeClr val="tx2"/>
                </a:solidFill>
              </a:rPr>
              <a:t>A(x)</a:t>
            </a:r>
            <a:endParaRPr lang="en-US" sz="1400" dirty="0"/>
          </a:p>
        </p:txBody>
      </p:sp>
      <p:sp>
        <p:nvSpPr>
          <p:cNvPr id="22" name="card256"/>
          <p:cNvSpPr/>
          <p:nvPr/>
        </p:nvSpPr>
        <p:spPr>
          <a:xfrm>
            <a:off x="10241280" y="3749040"/>
            <a:ext cx="1371600" cy="1371600"/>
          </a:xfrm>
          <a:prstGeom prst="roundRect">
            <a:avLst>
              <a:gd name="adj" fmla="val 8000"/>
            </a:avLst>
          </a:prstGeom>
          <a:solidFill>
            <a:schemeClr val="bg2"/>
          </a:solidFill>
          <a:ln w="12700">
            <a:solidFill>
              <a:schemeClr val="bg2"/>
            </a:solidFill>
            <a:prstDash val="solid"/>
          </a:ln>
          <a:effectLst>
            <a:outerShdw sx="100000" sy="100000" kx="0" ky="0" algn="bl" rotWithShape="0" blurRad="101600" dist="25400" dir="5400000">
              <a:srgbClr val="0B1F3A">
                <a:alpha val="12000"/>
              </a:srgbClr>
            </a:outerShdw>
          </a:effectLst>
        </p:spPr>
      </p:sp>
      <p:sp>
        <p:nvSpPr>
          <p:cNvPr id="23" name="text257"/>
          <p:cNvSpPr txBox="1"/>
          <p:nvPr/>
        </p:nvSpPr>
        <p:spPr>
          <a:xfrm>
            <a:off x="10332720" y="3858768"/>
            <a:ext cx="1188720" cy="365760"/>
          </a:xfrm>
          <a:prstGeom prst="rect">
            <a:avLst/>
          </a:prstGeom>
          <a:noFill/>
          <a:ln/>
        </p:spPr>
        <p:txBody>
          <a:bodyPr wrap="square" lIns="0" tIns="0" rIns="0" bIns="0" rtlCol="0" anchor="t"/>
          <a:lstStyle/>
          <a:p>
            <a:pPr algn="ctr" indent="0" marL="0">
              <a:buNone/>
            </a:pPr>
            <a:r>
              <a:rPr lang="en-US" sz="1600" b="1" dirty="0">
                <a:solidFill>
                  <a:schemeClr val="tx1"/>
                </a:solidFill>
              </a:rPr>
              <a:t>Status</a:t>
            </a:r>
            <a:endParaRPr lang="en-US" sz="1600" dirty="0"/>
          </a:p>
        </p:txBody>
      </p:sp>
      <p:sp>
        <p:nvSpPr>
          <p:cNvPr id="24" name="text258"/>
          <p:cNvSpPr txBox="1"/>
          <p:nvPr/>
        </p:nvSpPr>
        <p:spPr>
          <a:xfrm>
            <a:off x="10378440" y="4224528"/>
            <a:ext cx="1097280" cy="822960"/>
          </a:xfrm>
          <a:prstGeom prst="rect">
            <a:avLst/>
          </a:prstGeom>
          <a:noFill/>
          <a:ln/>
        </p:spPr>
        <p:txBody>
          <a:bodyPr wrap="square" lIns="0" tIns="0" rIns="0" bIns="0" rtlCol="0" anchor="t"/>
          <a:lstStyle/>
          <a:p>
            <a:pPr algn="ctr" indent="0" marL="0">
              <a:buNone/>
            </a:pPr>
            <a:r>
              <a:rPr lang="en-US" sz="1400" dirty="0">
                <a:solidFill>
                  <a:schemeClr val="tx2"/>
                </a:solidFill>
              </a:rPr>
              <a:t>3 levels</a:t>
            </a:r>
            <a:endParaRPr lang="en-US" sz="1400" dirty="0"/>
          </a:p>
        </p:txBody>
      </p:sp>
      <p:sp>
        <p:nvSpPr>
          <p:cNvPr id="25" name="arrow259"/>
          <p:cNvSpPr/>
          <p:nvPr/>
        </p:nvSpPr>
        <p:spPr>
          <a:xfrm>
            <a:off x="2670048" y="3337560"/>
            <a:ext cx="329184" cy="0"/>
          </a:xfrm>
          <a:prstGeom prst="line">
            <a:avLst/>
          </a:prstGeom>
          <a:noFill/>
          <a:ln w="19050">
            <a:solidFill>
              <a:schemeClr val="tx2"/>
            </a:solidFill>
            <a:prstDash val="solid"/>
            <a:tailEnd type="triangle"/>
          </a:ln>
        </p:spPr>
      </p:sp>
      <p:sp>
        <p:nvSpPr>
          <p:cNvPr id="26" name="ln260"/>
          <p:cNvSpPr/>
          <p:nvPr/>
        </p:nvSpPr>
        <p:spPr>
          <a:xfrm flipV="1">
            <a:off x="5138928" y="2286000"/>
            <a:ext cx="329184" cy="822960"/>
          </a:xfrm>
          <a:prstGeom prst="line">
            <a:avLst/>
          </a:prstGeom>
          <a:noFill/>
          <a:ln w="19050">
            <a:solidFill>
              <a:schemeClr val="tx2"/>
            </a:solidFill>
            <a:prstDash val="solid"/>
            <a:tailEnd type="triangle"/>
          </a:ln>
        </p:spPr>
      </p:sp>
      <p:sp>
        <p:nvSpPr>
          <p:cNvPr id="27" name="ln261"/>
          <p:cNvSpPr/>
          <p:nvPr/>
        </p:nvSpPr>
        <p:spPr>
          <a:xfrm>
            <a:off x="5138928" y="3566160"/>
            <a:ext cx="329184" cy="822960"/>
          </a:xfrm>
          <a:prstGeom prst="line">
            <a:avLst/>
          </a:prstGeom>
          <a:noFill/>
          <a:ln w="19050">
            <a:solidFill>
              <a:schemeClr val="tx2"/>
            </a:solidFill>
            <a:prstDash val="solid"/>
            <a:tailEnd type="triangle"/>
          </a:ln>
        </p:spPr>
      </p:sp>
      <p:sp>
        <p:nvSpPr>
          <p:cNvPr id="28" name="ln262"/>
          <p:cNvSpPr/>
          <p:nvPr/>
        </p:nvSpPr>
        <p:spPr>
          <a:xfrm>
            <a:off x="7882128" y="2286000"/>
            <a:ext cx="329184" cy="822960"/>
          </a:xfrm>
          <a:prstGeom prst="line">
            <a:avLst/>
          </a:prstGeom>
          <a:noFill/>
          <a:ln w="19050">
            <a:solidFill>
              <a:schemeClr val="tx2"/>
            </a:solidFill>
            <a:prstDash val="solid"/>
            <a:tailEnd type="triangle"/>
          </a:ln>
        </p:spPr>
      </p:sp>
      <p:sp>
        <p:nvSpPr>
          <p:cNvPr id="29" name="ln263"/>
          <p:cNvSpPr/>
          <p:nvPr/>
        </p:nvSpPr>
        <p:spPr>
          <a:xfrm flipV="1">
            <a:off x="7882128" y="3566160"/>
            <a:ext cx="329184" cy="822960"/>
          </a:xfrm>
          <a:prstGeom prst="line">
            <a:avLst/>
          </a:prstGeom>
          <a:noFill/>
          <a:ln w="19050">
            <a:solidFill>
              <a:schemeClr val="tx2"/>
            </a:solidFill>
            <a:prstDash val="solid"/>
            <a:tailEnd type="triangle"/>
          </a:ln>
        </p:spPr>
      </p:sp>
      <p:sp>
        <p:nvSpPr>
          <p:cNvPr id="30" name="ln264"/>
          <p:cNvSpPr/>
          <p:nvPr/>
        </p:nvSpPr>
        <p:spPr>
          <a:xfrm flipV="1">
            <a:off x="9985248" y="2286000"/>
            <a:ext cx="237744" cy="822960"/>
          </a:xfrm>
          <a:prstGeom prst="line">
            <a:avLst/>
          </a:prstGeom>
          <a:noFill/>
          <a:ln w="19050">
            <a:solidFill>
              <a:schemeClr val="tx2"/>
            </a:solidFill>
            <a:prstDash val="solid"/>
            <a:tailEnd type="triangle"/>
          </a:ln>
        </p:spPr>
      </p:sp>
      <p:sp>
        <p:nvSpPr>
          <p:cNvPr id="31" name="ln265"/>
          <p:cNvSpPr/>
          <p:nvPr/>
        </p:nvSpPr>
        <p:spPr>
          <a:xfrm>
            <a:off x="10927080" y="2944368"/>
            <a:ext cx="0" cy="786384"/>
          </a:xfrm>
          <a:prstGeom prst="line">
            <a:avLst/>
          </a:prstGeom>
          <a:noFill/>
          <a:ln w="19050">
            <a:solidFill>
              <a:schemeClr val="tx2"/>
            </a:solidFill>
            <a:prstDash val="solid"/>
            <a:tailEnd type="triangle"/>
          </a:ln>
        </p:spPr>
      </p:sp>
      <p:sp>
        <p:nvSpPr>
          <p:cNvPr id="32" name="text266"/>
          <p:cNvSpPr txBox="1"/>
          <p:nvPr/>
        </p:nvSpPr>
        <p:spPr>
          <a:xfrm>
            <a:off x="548640" y="5394960"/>
            <a:ext cx="11064240" cy="731520"/>
          </a:xfrm>
          <a:prstGeom prst="rect">
            <a:avLst/>
          </a:prstGeom>
          <a:noFill/>
          <a:ln/>
        </p:spPr>
        <p:txBody>
          <a:bodyPr wrap="square" lIns="0" tIns="0" rIns="0" bIns="0" rtlCol="0" anchor="t"/>
          <a:lstStyle/>
          <a:p>
            <a:pPr indent="0" marL="0">
              <a:buNone/>
            </a:pPr>
            <a:r>
              <a:rPr lang="en-US" sz="1500" dirty="0">
                <a:solidFill>
                  <a:schemeClr val="tx2"/>
                </a:solidFill>
              </a:rPr>
              <a:t>Both branches return eigenvalues and eigenvectors in the same format, so projection, health model and scoring are shared. Numerical code lives in /core and is tested without the interface.</a:t>
            </a:r>
            <a:endParaRPr lang="en-US" sz="15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200" b="1" dirty="0">
                <a:solidFill>
                  <a:schemeClr val="tx1"/>
                </a:solidFill>
              </a:rPr>
              <a:t>Quantum versus classical is measured, not assumed</a:t>
            </a:r>
            <a:endParaRPr lang="en-US" sz="3200" dirty="0"/>
          </a:p>
        </p:txBody>
      </p:sp>
      <p:sp>
        <p:nvSpPr>
          <p:cNvPr id="4" name="card267"/>
          <p:cNvSpPr/>
          <p:nvPr/>
        </p:nvSpPr>
        <p:spPr>
          <a:xfrm>
            <a:off x="548640" y="1463040"/>
            <a:ext cx="5120640" cy="640080"/>
          </a:xfrm>
          <a:prstGeom prst="roundRect">
            <a:avLst>
              <a:gd name="adj" fmla="val 17143"/>
            </a:avLst>
          </a:prstGeom>
          <a:solidFill>
            <a:schemeClr val="bg2"/>
          </a:solidFill>
          <a:ln w="12700">
            <a:solidFill>
              <a:schemeClr val="bg2"/>
            </a:solidFill>
            <a:prstDash val="solid"/>
          </a:ln>
          <a:effectLst>
            <a:outerShdw sx="100000" sy="100000" kx="0" ky="0" algn="bl" rotWithShape="0" blurRad="101600" dist="25400" dir="5400000">
              <a:srgbClr val="0B1F3A">
                <a:alpha val="12000"/>
              </a:srgbClr>
            </a:outerShdw>
          </a:effectLst>
        </p:spPr>
      </p:sp>
      <p:sp>
        <p:nvSpPr>
          <p:cNvPr id="5" name="text268"/>
          <p:cNvSpPr txBox="1"/>
          <p:nvPr/>
        </p:nvSpPr>
        <p:spPr>
          <a:xfrm>
            <a:off x="777240" y="1463040"/>
            <a:ext cx="2103120" cy="640080"/>
          </a:xfrm>
          <a:prstGeom prst="rect">
            <a:avLst/>
          </a:prstGeom>
          <a:noFill/>
          <a:ln/>
        </p:spPr>
        <p:txBody>
          <a:bodyPr wrap="square" lIns="0" tIns="0" rIns="0" bIns="0" rtlCol="0" anchor="ctr"/>
          <a:lstStyle/>
          <a:p>
            <a:pPr indent="0" marL="0">
              <a:buNone/>
            </a:pPr>
            <a:r>
              <a:rPr lang="en-US" sz="1500" b="1" dirty="0">
                <a:solidFill>
                  <a:schemeClr val="tx1"/>
                </a:solidFill>
              </a:rPr>
              <a:t>Eigenvalue error</a:t>
            </a:r>
            <a:endParaRPr lang="en-US" sz="1500" dirty="0"/>
          </a:p>
        </p:txBody>
      </p:sp>
      <p:sp>
        <p:nvSpPr>
          <p:cNvPr id="6" name="text269"/>
          <p:cNvSpPr txBox="1"/>
          <p:nvPr/>
        </p:nvSpPr>
        <p:spPr>
          <a:xfrm>
            <a:off x="2880360" y="1463040"/>
            <a:ext cx="2697480" cy="640080"/>
          </a:xfrm>
          <a:prstGeom prst="rect">
            <a:avLst/>
          </a:prstGeom>
          <a:noFill/>
          <a:ln/>
        </p:spPr>
        <p:txBody>
          <a:bodyPr wrap="square" lIns="0" tIns="0" rIns="0" bIns="0" rtlCol="0" anchor="ctr"/>
          <a:lstStyle/>
          <a:p>
            <a:pPr indent="0" marL="0">
              <a:buNone/>
            </a:pPr>
            <a:r>
              <a:rPr lang="en-US" sz="1400" dirty="0">
                <a:solidFill>
                  <a:schemeClr val="tx2"/>
                </a:solidFill>
              </a:rPr>
              <a:t>relative difference from classical λ</a:t>
            </a:r>
            <a:endParaRPr lang="en-US" sz="1400" dirty="0"/>
          </a:p>
        </p:txBody>
      </p:sp>
      <p:sp>
        <p:nvSpPr>
          <p:cNvPr id="7" name="card270"/>
          <p:cNvSpPr/>
          <p:nvPr/>
        </p:nvSpPr>
        <p:spPr>
          <a:xfrm>
            <a:off x="548640" y="2221992"/>
            <a:ext cx="5120640" cy="640080"/>
          </a:xfrm>
          <a:prstGeom prst="roundRect">
            <a:avLst>
              <a:gd name="adj" fmla="val 17143"/>
            </a:avLst>
          </a:prstGeom>
          <a:solidFill>
            <a:schemeClr val="bg2"/>
          </a:solidFill>
          <a:ln w="12700">
            <a:solidFill>
              <a:schemeClr val="bg2"/>
            </a:solidFill>
            <a:prstDash val="solid"/>
          </a:ln>
          <a:effectLst>
            <a:outerShdw sx="100000" sy="100000" kx="0" ky="0" algn="bl" rotWithShape="0" blurRad="101600" dist="25400" dir="5400000">
              <a:srgbClr val="0B1F3A">
                <a:alpha val="12000"/>
              </a:srgbClr>
            </a:outerShdw>
          </a:effectLst>
        </p:spPr>
      </p:sp>
      <p:sp>
        <p:nvSpPr>
          <p:cNvPr id="8" name="text271"/>
          <p:cNvSpPr txBox="1"/>
          <p:nvPr/>
        </p:nvSpPr>
        <p:spPr>
          <a:xfrm>
            <a:off x="777240" y="2221992"/>
            <a:ext cx="2103120" cy="640080"/>
          </a:xfrm>
          <a:prstGeom prst="rect">
            <a:avLst/>
          </a:prstGeom>
          <a:noFill/>
          <a:ln/>
        </p:spPr>
        <p:txBody>
          <a:bodyPr wrap="square" lIns="0" tIns="0" rIns="0" bIns="0" rtlCol="0" anchor="ctr"/>
          <a:lstStyle/>
          <a:p>
            <a:pPr indent="0" marL="0">
              <a:buNone/>
            </a:pPr>
            <a:r>
              <a:rPr lang="en-US" sz="1500" b="1" dirty="0">
                <a:solidFill>
                  <a:schemeClr val="tx1"/>
                </a:solidFill>
              </a:rPr>
              <a:t>Component fidelity</a:t>
            </a:r>
            <a:endParaRPr lang="en-US" sz="1500" dirty="0"/>
          </a:p>
        </p:txBody>
      </p:sp>
      <p:sp>
        <p:nvSpPr>
          <p:cNvPr id="9" name="text272"/>
          <p:cNvSpPr txBox="1"/>
          <p:nvPr/>
        </p:nvSpPr>
        <p:spPr>
          <a:xfrm>
            <a:off x="2880360" y="2221992"/>
            <a:ext cx="2697480" cy="640080"/>
          </a:xfrm>
          <a:prstGeom prst="rect">
            <a:avLst/>
          </a:prstGeom>
          <a:noFill/>
          <a:ln/>
        </p:spPr>
        <p:txBody>
          <a:bodyPr wrap="square" lIns="0" tIns="0" rIns="0" bIns="0" rtlCol="0" anchor="ctr"/>
          <a:lstStyle/>
          <a:p>
            <a:pPr indent="0" marL="0">
              <a:buNone/>
            </a:pPr>
            <a:r>
              <a:rPr lang="en-US" sz="1400" dirty="0">
                <a:solidFill>
                  <a:schemeClr val="tx2"/>
                </a:solidFill>
              </a:rPr>
              <a:t>overlap |⟨v_c|v_q⟩| per component</a:t>
            </a:r>
            <a:endParaRPr lang="en-US" sz="1400" dirty="0"/>
          </a:p>
        </p:txBody>
      </p:sp>
      <p:sp>
        <p:nvSpPr>
          <p:cNvPr id="10" name="card273"/>
          <p:cNvSpPr/>
          <p:nvPr/>
        </p:nvSpPr>
        <p:spPr>
          <a:xfrm>
            <a:off x="548640" y="2980944"/>
            <a:ext cx="5120640" cy="640080"/>
          </a:xfrm>
          <a:prstGeom prst="roundRect">
            <a:avLst>
              <a:gd name="adj" fmla="val 17143"/>
            </a:avLst>
          </a:prstGeom>
          <a:solidFill>
            <a:schemeClr val="bg2"/>
          </a:solidFill>
          <a:ln w="12700">
            <a:solidFill>
              <a:schemeClr val="bg2"/>
            </a:solidFill>
            <a:prstDash val="solid"/>
          </a:ln>
          <a:effectLst>
            <a:outerShdw sx="100000" sy="100000" kx="0" ky="0" algn="bl" rotWithShape="0" blurRad="101600" dist="25400" dir="5400000">
              <a:srgbClr val="0B1F3A">
                <a:alpha val="12000"/>
              </a:srgbClr>
            </a:outerShdw>
          </a:effectLst>
        </p:spPr>
      </p:sp>
      <p:sp>
        <p:nvSpPr>
          <p:cNvPr id="11" name="text274"/>
          <p:cNvSpPr txBox="1"/>
          <p:nvPr/>
        </p:nvSpPr>
        <p:spPr>
          <a:xfrm>
            <a:off x="777240" y="2980944"/>
            <a:ext cx="2103120" cy="640080"/>
          </a:xfrm>
          <a:prstGeom prst="rect">
            <a:avLst/>
          </a:prstGeom>
          <a:noFill/>
          <a:ln/>
        </p:spPr>
        <p:txBody>
          <a:bodyPr wrap="square" lIns="0" tIns="0" rIns="0" bIns="0" rtlCol="0" anchor="ctr"/>
          <a:lstStyle/>
          <a:p>
            <a:pPr indent="0" marL="0">
              <a:buNone/>
            </a:pPr>
            <a:r>
              <a:rPr lang="en-US" sz="1500" b="1" dirty="0">
                <a:solidFill>
                  <a:schemeClr val="tx1"/>
                </a:solidFill>
              </a:rPr>
              <a:t>Variance captured</a:t>
            </a:r>
            <a:endParaRPr lang="en-US" sz="1500" dirty="0"/>
          </a:p>
        </p:txBody>
      </p:sp>
      <p:sp>
        <p:nvSpPr>
          <p:cNvPr id="12" name="text275"/>
          <p:cNvSpPr txBox="1"/>
          <p:nvPr/>
        </p:nvSpPr>
        <p:spPr>
          <a:xfrm>
            <a:off x="2880360" y="2980944"/>
            <a:ext cx="2697480" cy="640080"/>
          </a:xfrm>
          <a:prstGeom prst="rect">
            <a:avLst/>
          </a:prstGeom>
          <a:noFill/>
          <a:ln/>
        </p:spPr>
        <p:txBody>
          <a:bodyPr wrap="square" lIns="0" tIns="0" rIns="0" bIns="0" rtlCol="0" anchor="ctr"/>
          <a:lstStyle/>
          <a:p>
            <a:pPr indent="0" marL="0">
              <a:buNone/>
            </a:pPr>
            <a:r>
              <a:rPr lang="en-US" sz="1400" dirty="0">
                <a:solidFill>
                  <a:schemeClr val="tx2"/>
                </a:solidFill>
              </a:rPr>
              <a:t>by the first k components</a:t>
            </a:r>
            <a:endParaRPr lang="en-US" sz="1400" dirty="0"/>
          </a:p>
        </p:txBody>
      </p:sp>
      <p:sp>
        <p:nvSpPr>
          <p:cNvPr id="13" name="card276"/>
          <p:cNvSpPr/>
          <p:nvPr/>
        </p:nvSpPr>
        <p:spPr>
          <a:xfrm>
            <a:off x="548640" y="3739896"/>
            <a:ext cx="5120640" cy="640080"/>
          </a:xfrm>
          <a:prstGeom prst="roundRect">
            <a:avLst>
              <a:gd name="adj" fmla="val 17143"/>
            </a:avLst>
          </a:prstGeom>
          <a:solidFill>
            <a:schemeClr val="bg2"/>
          </a:solidFill>
          <a:ln w="12700">
            <a:solidFill>
              <a:schemeClr val="bg2"/>
            </a:solidFill>
            <a:prstDash val="solid"/>
          </a:ln>
          <a:effectLst>
            <a:outerShdw sx="100000" sy="100000" kx="0" ky="0" algn="bl" rotWithShape="0" blurRad="101600" dist="25400" dir="5400000">
              <a:srgbClr val="0B1F3A">
                <a:alpha val="12000"/>
              </a:srgbClr>
            </a:outerShdw>
          </a:effectLst>
        </p:spPr>
      </p:sp>
      <p:sp>
        <p:nvSpPr>
          <p:cNvPr id="14" name="text277"/>
          <p:cNvSpPr txBox="1"/>
          <p:nvPr/>
        </p:nvSpPr>
        <p:spPr>
          <a:xfrm>
            <a:off x="777240" y="3739896"/>
            <a:ext cx="2103120" cy="640080"/>
          </a:xfrm>
          <a:prstGeom prst="rect">
            <a:avLst/>
          </a:prstGeom>
          <a:noFill/>
          <a:ln/>
        </p:spPr>
        <p:txBody>
          <a:bodyPr wrap="square" lIns="0" tIns="0" rIns="0" bIns="0" rtlCol="0" anchor="ctr"/>
          <a:lstStyle/>
          <a:p>
            <a:pPr indent="0" marL="0">
              <a:buNone/>
            </a:pPr>
            <a:r>
              <a:rPr lang="en-US" sz="1500" b="1" dirty="0">
                <a:solidFill>
                  <a:schemeClr val="tx1"/>
                </a:solidFill>
              </a:rPr>
              <a:t>Reconstruction error</a:t>
            </a:r>
            <a:endParaRPr lang="en-US" sz="1500" dirty="0"/>
          </a:p>
        </p:txBody>
      </p:sp>
      <p:sp>
        <p:nvSpPr>
          <p:cNvPr id="15" name="text278"/>
          <p:cNvSpPr txBox="1"/>
          <p:nvPr/>
        </p:nvSpPr>
        <p:spPr>
          <a:xfrm>
            <a:off x="2880360" y="3739896"/>
            <a:ext cx="2697480" cy="640080"/>
          </a:xfrm>
          <a:prstGeom prst="rect">
            <a:avLst/>
          </a:prstGeom>
          <a:noFill/>
          <a:ln/>
        </p:spPr>
        <p:txBody>
          <a:bodyPr wrap="square" lIns="0" tIns="0" rIns="0" bIns="0" rtlCol="0" anchor="ctr"/>
          <a:lstStyle/>
          <a:p>
            <a:pPr indent="0" marL="0">
              <a:buNone/>
            </a:pPr>
            <a:r>
              <a:rPr lang="en-US" sz="1400" dirty="0">
                <a:solidFill>
                  <a:schemeClr val="tx2"/>
                </a:solidFill>
              </a:rPr>
              <a:t>on held-out engines</a:t>
            </a:r>
            <a:endParaRPr lang="en-US" sz="1400" dirty="0"/>
          </a:p>
        </p:txBody>
      </p:sp>
      <p:sp>
        <p:nvSpPr>
          <p:cNvPr id="16" name="card279"/>
          <p:cNvSpPr/>
          <p:nvPr/>
        </p:nvSpPr>
        <p:spPr>
          <a:xfrm>
            <a:off x="548640" y="4498848"/>
            <a:ext cx="5120640" cy="640080"/>
          </a:xfrm>
          <a:prstGeom prst="roundRect">
            <a:avLst>
              <a:gd name="adj" fmla="val 17143"/>
            </a:avLst>
          </a:prstGeom>
          <a:solidFill>
            <a:schemeClr val="bg2"/>
          </a:solidFill>
          <a:ln w="12700">
            <a:solidFill>
              <a:schemeClr val="bg2"/>
            </a:solidFill>
            <a:prstDash val="solid"/>
          </a:ln>
          <a:effectLst>
            <a:outerShdw sx="100000" sy="100000" kx="0" ky="0" algn="bl" rotWithShape="0" blurRad="101600" dist="25400" dir="5400000">
              <a:srgbClr val="0B1F3A">
                <a:alpha val="12000"/>
              </a:srgbClr>
            </a:outerShdw>
          </a:effectLst>
        </p:spPr>
      </p:sp>
      <p:sp>
        <p:nvSpPr>
          <p:cNvPr id="17" name="text280"/>
          <p:cNvSpPr txBox="1"/>
          <p:nvPr/>
        </p:nvSpPr>
        <p:spPr>
          <a:xfrm>
            <a:off x="777240" y="4498848"/>
            <a:ext cx="2103120" cy="640080"/>
          </a:xfrm>
          <a:prstGeom prst="rect">
            <a:avLst/>
          </a:prstGeom>
          <a:noFill/>
          <a:ln/>
        </p:spPr>
        <p:txBody>
          <a:bodyPr wrap="square" lIns="0" tIns="0" rIns="0" bIns="0" rtlCol="0" anchor="ctr"/>
          <a:lstStyle/>
          <a:p>
            <a:pPr indent="0" marL="0">
              <a:buNone/>
            </a:pPr>
            <a:r>
              <a:rPr lang="en-US" sz="1500" b="1" dirty="0">
                <a:solidFill>
                  <a:schemeClr val="tx1"/>
                </a:solidFill>
              </a:rPr>
              <a:t>Anomaly AUC</a:t>
            </a:r>
            <a:endParaRPr lang="en-US" sz="1500" dirty="0"/>
          </a:p>
        </p:txBody>
      </p:sp>
      <p:sp>
        <p:nvSpPr>
          <p:cNvPr id="18" name="text281"/>
          <p:cNvSpPr txBox="1"/>
          <p:nvPr/>
        </p:nvSpPr>
        <p:spPr>
          <a:xfrm>
            <a:off x="2880360" y="4498848"/>
            <a:ext cx="2697480" cy="640080"/>
          </a:xfrm>
          <a:prstGeom prst="rect">
            <a:avLst/>
          </a:prstGeom>
          <a:noFill/>
          <a:ln/>
        </p:spPr>
        <p:txBody>
          <a:bodyPr wrap="square" lIns="0" tIns="0" rIns="0" bIns="0" rtlCol="0" anchor="ctr"/>
          <a:lstStyle/>
          <a:p>
            <a:pPr indent="0" marL="0">
              <a:buNone/>
            </a:pPr>
            <a:r>
              <a:rPr lang="en-US" sz="1400" dirty="0">
                <a:solidFill>
                  <a:schemeClr val="tx2"/>
                </a:solidFill>
              </a:rPr>
              <a:t>healthy vs last 30 cycles, held-out</a:t>
            </a:r>
            <a:endParaRPr lang="en-US" sz="1400" dirty="0"/>
          </a:p>
        </p:txBody>
      </p:sp>
      <p:sp>
        <p:nvSpPr>
          <p:cNvPr id="19" name="card282"/>
          <p:cNvSpPr/>
          <p:nvPr/>
        </p:nvSpPr>
        <p:spPr>
          <a:xfrm>
            <a:off x="548640" y="5257800"/>
            <a:ext cx="5120640" cy="640080"/>
          </a:xfrm>
          <a:prstGeom prst="roundRect">
            <a:avLst>
              <a:gd name="adj" fmla="val 17143"/>
            </a:avLst>
          </a:prstGeom>
          <a:solidFill>
            <a:schemeClr val="bg2"/>
          </a:solidFill>
          <a:ln w="12700">
            <a:solidFill>
              <a:schemeClr val="bg2"/>
            </a:solidFill>
            <a:prstDash val="solid"/>
          </a:ln>
          <a:effectLst>
            <a:outerShdw sx="100000" sy="100000" kx="0" ky="0" algn="bl" rotWithShape="0" blurRad="101600" dist="25400" dir="5400000">
              <a:srgbClr val="0B1F3A">
                <a:alpha val="12000"/>
              </a:srgbClr>
            </a:outerShdw>
          </a:effectLst>
        </p:spPr>
      </p:sp>
      <p:sp>
        <p:nvSpPr>
          <p:cNvPr id="20" name="text283"/>
          <p:cNvSpPr txBox="1"/>
          <p:nvPr/>
        </p:nvSpPr>
        <p:spPr>
          <a:xfrm>
            <a:off x="777240" y="5257800"/>
            <a:ext cx="2103120" cy="640080"/>
          </a:xfrm>
          <a:prstGeom prst="rect">
            <a:avLst/>
          </a:prstGeom>
          <a:noFill/>
          <a:ln/>
        </p:spPr>
        <p:txBody>
          <a:bodyPr wrap="square" lIns="0" tIns="0" rIns="0" bIns="0" rtlCol="0" anchor="ctr"/>
          <a:lstStyle/>
          <a:p>
            <a:pPr indent="0" marL="0">
              <a:buNone/>
            </a:pPr>
            <a:r>
              <a:rPr lang="en-US" sz="1500" b="1" dirty="0">
                <a:solidFill>
                  <a:schemeClr val="tx1"/>
                </a:solidFill>
              </a:rPr>
              <a:t>Run time</a:t>
            </a:r>
            <a:endParaRPr lang="en-US" sz="1500" dirty="0"/>
          </a:p>
        </p:txBody>
      </p:sp>
      <p:sp>
        <p:nvSpPr>
          <p:cNvPr id="21" name="text284"/>
          <p:cNvSpPr txBox="1"/>
          <p:nvPr/>
        </p:nvSpPr>
        <p:spPr>
          <a:xfrm>
            <a:off x="2880360" y="5257800"/>
            <a:ext cx="2697480" cy="640080"/>
          </a:xfrm>
          <a:prstGeom prst="rect">
            <a:avLst/>
          </a:prstGeom>
          <a:noFill/>
          <a:ln/>
        </p:spPr>
        <p:txBody>
          <a:bodyPr wrap="square" lIns="0" tIns="0" rIns="0" bIns="0" rtlCol="0" anchor="ctr"/>
          <a:lstStyle/>
          <a:p>
            <a:pPr indent="0" marL="0">
              <a:buNone/>
            </a:pPr>
            <a:r>
              <a:rPr lang="en-US" sz="1400" dirty="0">
                <a:solidFill>
                  <a:schemeClr val="tx2"/>
                </a:solidFill>
              </a:rPr>
              <a:t>seconds, simulation only</a:t>
            </a:r>
            <a:endParaRPr lang="en-US" sz="1400" dirty="0"/>
          </a:p>
        </p:txBody>
      </p:sp>
      <p:graphicFrame>
        <p:nvGraphicFramePr>
          <p:cNvPr id="22" name="errChart" descr=""/>
          <p:cNvGraphicFramePr/>
          <p:nvPr/>
        </p:nvGraphicFramePr>
        <p:xfrm>
          <a:off x="6126480" y="1371600"/>
          <a:ext cx="5486400" cy="3749040"/>
        </p:xfrm>
        <a:graphic xmlns:a="http://schemas.openxmlformats.org/drawingml/2006/main">
          <a:graphicData uri="http://schemas.openxmlformats.org/drawingml/2006/chart">
            <c:chart xmlns:c="http://schemas.openxmlformats.org/drawingml/2006/chart" r:id="rId1"/>
          </a:graphicData>
        </a:graphic>
      </p:graphicFrame>
      <p:sp>
        <p:nvSpPr>
          <p:cNvPr id="23" name="text285"/>
          <p:cNvSpPr txBox="1"/>
          <p:nvPr/>
        </p:nvSpPr>
        <p:spPr>
          <a:xfrm>
            <a:off x="6126480" y="5212080"/>
            <a:ext cx="5486400" cy="731520"/>
          </a:xfrm>
          <a:prstGeom prst="rect">
            <a:avLst/>
          </a:prstGeom>
          <a:noFill/>
          <a:ln/>
        </p:spPr>
        <p:txBody>
          <a:bodyPr wrap="square" lIns="0" tIns="0" rIns="0" bIns="0" rtlCol="0" anchor="t"/>
          <a:lstStyle/>
          <a:p>
            <a:pPr indent="0" marL="0">
              <a:buNone/>
            </a:pPr>
            <a:r>
              <a:rPr lang="en-US" sz="1200" i="1" dirty="0">
                <a:solidFill>
                  <a:schemeClr val="tx2"/>
                </a:solidFill>
              </a:rPr>
              <a:t>Development check on synthetic stand-in data (k = 3, exact shots). Not NASA results: run the app on FD001 and replace.</a:t>
            </a:r>
            <a:endParaRPr lang="en-US" sz="12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200" b="1" dirty="0">
                <a:solidFill>
                  <a:schemeClr val="tx1"/>
                </a:solidFill>
              </a:rPr>
              <a:t>Two experiments the audience can run live</a:t>
            </a:r>
            <a:endParaRPr lang="en-US" sz="3200" dirty="0"/>
          </a:p>
        </p:txBody>
      </p:sp>
      <p:sp>
        <p:nvSpPr>
          <p:cNvPr id="4" name="card286"/>
          <p:cNvSpPr/>
          <p:nvPr/>
        </p:nvSpPr>
        <p:spPr>
          <a:xfrm>
            <a:off x="548640" y="1463040"/>
            <a:ext cx="5394960" cy="4480560"/>
          </a:xfrm>
          <a:prstGeom prst="roundRect">
            <a:avLst>
              <a:gd name="adj" fmla="val 2449"/>
            </a:avLst>
          </a:prstGeom>
          <a:solidFill>
            <a:schemeClr val="bg2"/>
          </a:solidFill>
          <a:ln w="12700">
            <a:solidFill>
              <a:schemeClr val="bg2"/>
            </a:solidFill>
            <a:prstDash val="solid"/>
          </a:ln>
          <a:effectLst>
            <a:outerShdw sx="100000" sy="100000" kx="0" ky="0" algn="bl" rotWithShape="0" blurRad="101600" dist="25400" dir="5400000">
              <a:srgbClr val="0B1F3A">
                <a:alpha val="12000"/>
              </a:srgbClr>
            </a:outerShdw>
          </a:effectLst>
        </p:spPr>
      </p:sp>
      <p:sp>
        <p:nvSpPr>
          <p:cNvPr id="5" name="dot287"/>
          <p:cNvSpPr/>
          <p:nvPr/>
        </p:nvSpPr>
        <p:spPr>
          <a:xfrm>
            <a:off x="822960" y="1737360"/>
            <a:ext cx="822960" cy="822960"/>
          </a:xfrm>
          <a:prstGeom prst="ellipse">
            <a:avLst/>
          </a:prstGeom>
          <a:solidFill>
            <a:schemeClr val="accent1"/>
          </a:solidFill>
          <a:ln w="12700">
            <a:solidFill>
              <a:schemeClr val="accent1"/>
            </a:solidFill>
            <a:prstDash val="solid"/>
          </a:ln>
        </p:spPr>
      </p:sp>
      <p:pic>
        <p:nvPicPr>
          <p:cNvPr id="6" name="icon288" descr="preencoded.png">    </p:cNvPr>
          <p:cNvPicPr>
            <a:picLocks noChangeAspect="1"/>
          </p:cNvPicPr>
          <p:nvPr/>
        </p:nvPicPr>
        <p:blipFill>
          <a:blip r:embed="rId1"/>
          <a:stretch>
            <a:fillRect/>
          </a:stretch>
        </p:blipFill>
        <p:spPr>
          <a:xfrm>
            <a:off x="1028700" y="1943100"/>
            <a:ext cx="411480" cy="411480"/>
          </a:xfrm>
          <a:prstGeom prst="rect">
            <a:avLst/>
          </a:prstGeom>
        </p:spPr>
      </p:pic>
      <p:sp>
        <p:nvSpPr>
          <p:cNvPr id="7" name="text289"/>
          <p:cNvSpPr txBox="1"/>
          <p:nvPr/>
        </p:nvSpPr>
        <p:spPr>
          <a:xfrm>
            <a:off x="1874520" y="1737360"/>
            <a:ext cx="3840480" cy="411480"/>
          </a:xfrm>
          <a:prstGeom prst="rect">
            <a:avLst/>
          </a:prstGeom>
          <a:noFill/>
          <a:ln/>
        </p:spPr>
        <p:txBody>
          <a:bodyPr wrap="square" lIns="0" tIns="0" rIns="0" bIns="0" rtlCol="0" anchor="t"/>
          <a:lstStyle/>
          <a:p>
            <a:pPr indent="0" marL="0">
              <a:buNone/>
            </a:pPr>
            <a:r>
              <a:rPr lang="en-US" sz="2200" b="1" dirty="0">
                <a:solidFill>
                  <a:schemeClr val="tx1"/>
                </a:solidFill>
              </a:rPr>
              <a:t>Sensor noise</a:t>
            </a:r>
            <a:endParaRPr lang="en-US" sz="2200" dirty="0"/>
          </a:p>
        </p:txBody>
      </p:sp>
      <p:sp>
        <p:nvSpPr>
          <p:cNvPr id="8" name="text290"/>
          <p:cNvSpPr txBox="1"/>
          <p:nvPr/>
        </p:nvSpPr>
        <p:spPr>
          <a:xfrm>
            <a:off x="1874520" y="2176272"/>
            <a:ext cx="3840480" cy="685800"/>
          </a:xfrm>
          <a:prstGeom prst="rect">
            <a:avLst/>
          </a:prstGeom>
          <a:noFill/>
          <a:ln/>
        </p:spPr>
        <p:txBody>
          <a:bodyPr wrap="square" lIns="0" tIns="0" rIns="0" bIns="0" rtlCol="0" anchor="t"/>
          <a:lstStyle/>
          <a:p>
            <a:pPr indent="0" marL="0">
              <a:buNone/>
            </a:pPr>
            <a:r>
              <a:rPr lang="en-US" sz="1500" i="1" dirty="0">
                <a:solidFill>
                  <a:schemeClr val="accent1"/>
                </a:solidFill>
              </a:rPr>
              <a:t>How robust is qPCA when measurements get noisier?</a:t>
            </a:r>
            <a:endParaRPr lang="en-US" sz="1500" dirty="0"/>
          </a:p>
        </p:txBody>
      </p:sp>
      <p:sp>
        <p:nvSpPr>
          <p:cNvPr id="9" name="text291"/>
          <p:cNvSpPr txBox="1"/>
          <p:nvPr/>
        </p:nvSpPr>
        <p:spPr>
          <a:xfrm>
            <a:off x="868680" y="3108960"/>
            <a:ext cx="4754880" cy="2651760"/>
          </a:xfrm>
          <a:prstGeom prst="rect">
            <a:avLst/>
          </a:prstGeom>
          <a:noFill/>
          <a:ln/>
        </p:spPr>
        <p:txBody>
          <a:bodyPr wrap="square" lIns="0" tIns="0" rIns="0" bIns="0" rtlCol="0" anchor="t"/>
          <a:lstStyle/>
          <a:p>
            <a:pPr marL="342900" indent="-342900">
              <a:spcAft>
                <a:spcPts val="1400"/>
              </a:spcAft>
              <a:buSzPct val="100000"/>
              <a:buChar char="•"/>
            </a:pPr>
            <a:r>
              <a:rPr lang="en-US" sz="1800" dirty="0">
                <a:solidFill>
                  <a:schemeClr val="tx2"/>
                </a:solidFill>
              </a:rPr>
              <a:t>Slider adds 0 to 50% noise relative to each sensor's spread</a:t>
            </a:r>
            <a:endParaRPr lang="en-US" sz="1800" dirty="0"/>
          </a:p>
          <a:p>
            <a:pPr marL="342900" indent="-342900">
              <a:spcAft>
                <a:spcPts val="1400"/>
              </a:spcAft>
              <a:buSzPct val="100000"/>
              <a:buChar char="•"/>
            </a:pPr>
            <a:r>
              <a:rPr lang="en-US" sz="1800" dirty="0">
                <a:solidFill>
                  <a:schemeClr val="tx2"/>
                </a:solidFill>
              </a:rPr>
              <a:t>Pipeline is refitted at every level</a:t>
            </a:r>
            <a:endParaRPr lang="en-US" sz="1800" dirty="0"/>
          </a:p>
          <a:p>
            <a:pPr marL="342900" indent="-342900">
              <a:spcAft>
                <a:spcPts val="1400"/>
              </a:spcAft>
              <a:buSzPct val="100000"/>
              <a:buChar char="•"/>
            </a:pPr>
            <a:r>
              <a:rPr lang="en-US" sz="1800" dirty="0">
                <a:solidFill>
                  <a:schemeClr val="tx2"/>
                </a:solidFill>
              </a:rPr>
              <a:t>Output: detection AUC for both methods and qPCA eigenvalue error</a:t>
            </a:r>
            <a:endParaRPr lang="en-US" sz="1800" dirty="0"/>
          </a:p>
        </p:txBody>
      </p:sp>
      <p:sp>
        <p:nvSpPr>
          <p:cNvPr id="10" name="card292"/>
          <p:cNvSpPr/>
          <p:nvPr/>
        </p:nvSpPr>
        <p:spPr>
          <a:xfrm>
            <a:off x="6217920" y="1463040"/>
            <a:ext cx="5394960" cy="4480560"/>
          </a:xfrm>
          <a:prstGeom prst="roundRect">
            <a:avLst>
              <a:gd name="adj" fmla="val 2449"/>
            </a:avLst>
          </a:prstGeom>
          <a:solidFill>
            <a:schemeClr val="bg2"/>
          </a:solidFill>
          <a:ln w="12700">
            <a:solidFill>
              <a:schemeClr val="bg2"/>
            </a:solidFill>
            <a:prstDash val="solid"/>
          </a:ln>
          <a:effectLst>
            <a:outerShdw sx="100000" sy="100000" kx="0" ky="0" algn="bl" rotWithShape="0" blurRad="101600" dist="25400" dir="5400000">
              <a:srgbClr val="0B1F3A">
                <a:alpha val="12000"/>
              </a:srgbClr>
            </a:outerShdw>
          </a:effectLst>
        </p:spPr>
      </p:sp>
      <p:sp>
        <p:nvSpPr>
          <p:cNvPr id="11" name="dot293"/>
          <p:cNvSpPr/>
          <p:nvPr/>
        </p:nvSpPr>
        <p:spPr>
          <a:xfrm>
            <a:off x="6492240" y="1737360"/>
            <a:ext cx="822960" cy="822960"/>
          </a:xfrm>
          <a:prstGeom prst="ellipse">
            <a:avLst/>
          </a:prstGeom>
          <a:solidFill>
            <a:schemeClr val="accent5"/>
          </a:solidFill>
          <a:ln w="12700">
            <a:solidFill>
              <a:schemeClr val="accent5"/>
            </a:solidFill>
            <a:prstDash val="solid"/>
          </a:ln>
        </p:spPr>
      </p:sp>
      <p:pic>
        <p:nvPicPr>
          <p:cNvPr id="12" name="icon294" descr="preencoded.png">    </p:cNvPr>
          <p:cNvPicPr>
            <a:picLocks noChangeAspect="1"/>
          </p:cNvPicPr>
          <p:nvPr/>
        </p:nvPicPr>
        <p:blipFill>
          <a:blip r:embed="rId2"/>
          <a:stretch>
            <a:fillRect/>
          </a:stretch>
        </p:blipFill>
        <p:spPr>
          <a:xfrm>
            <a:off x="6697980" y="1943100"/>
            <a:ext cx="411480" cy="411480"/>
          </a:xfrm>
          <a:prstGeom prst="rect">
            <a:avLst/>
          </a:prstGeom>
        </p:spPr>
      </p:pic>
      <p:sp>
        <p:nvSpPr>
          <p:cNvPr id="13" name="text295"/>
          <p:cNvSpPr txBox="1"/>
          <p:nvPr/>
        </p:nvSpPr>
        <p:spPr>
          <a:xfrm>
            <a:off x="7543800" y="1737360"/>
            <a:ext cx="3840480" cy="411480"/>
          </a:xfrm>
          <a:prstGeom prst="rect">
            <a:avLst/>
          </a:prstGeom>
          <a:noFill/>
          <a:ln/>
        </p:spPr>
        <p:txBody>
          <a:bodyPr wrap="square" lIns="0" tIns="0" rIns="0" bIns="0" rtlCol="0" anchor="t"/>
          <a:lstStyle/>
          <a:p>
            <a:pPr indent="0" marL="0">
              <a:buNone/>
            </a:pPr>
            <a:r>
              <a:rPr lang="en-US" sz="2200" b="1" dirty="0">
                <a:solidFill>
                  <a:schemeClr val="tx1"/>
                </a:solidFill>
              </a:rPr>
              <a:t>Number of components</a:t>
            </a:r>
            <a:endParaRPr lang="en-US" sz="2200" dirty="0"/>
          </a:p>
        </p:txBody>
      </p:sp>
      <p:sp>
        <p:nvSpPr>
          <p:cNvPr id="14" name="text296"/>
          <p:cNvSpPr txBox="1"/>
          <p:nvPr/>
        </p:nvSpPr>
        <p:spPr>
          <a:xfrm>
            <a:off x="7543800" y="2176272"/>
            <a:ext cx="3840480" cy="685800"/>
          </a:xfrm>
          <a:prstGeom prst="rect">
            <a:avLst/>
          </a:prstGeom>
          <a:noFill/>
          <a:ln/>
        </p:spPr>
        <p:txBody>
          <a:bodyPr wrap="square" lIns="0" tIns="0" rIns="0" bIns="0" rtlCol="0" anchor="t"/>
          <a:lstStyle/>
          <a:p>
            <a:pPr indent="0" marL="0">
              <a:buNone/>
            </a:pPr>
            <a:r>
              <a:rPr lang="en-US" sz="1500" i="1" dirty="0">
                <a:solidFill>
                  <a:schemeClr val="accent1"/>
                </a:solidFill>
              </a:rPr>
              <a:t>How much can 14 sensors be compressed?</a:t>
            </a:r>
            <a:endParaRPr lang="en-US" sz="1500" dirty="0"/>
          </a:p>
        </p:txBody>
      </p:sp>
      <p:sp>
        <p:nvSpPr>
          <p:cNvPr id="15" name="text297"/>
          <p:cNvSpPr txBox="1"/>
          <p:nvPr/>
        </p:nvSpPr>
        <p:spPr>
          <a:xfrm>
            <a:off x="6537960" y="3108960"/>
            <a:ext cx="4754880" cy="2651760"/>
          </a:xfrm>
          <a:prstGeom prst="rect">
            <a:avLst/>
          </a:prstGeom>
          <a:noFill/>
          <a:ln/>
        </p:spPr>
        <p:txBody>
          <a:bodyPr wrap="square" lIns="0" tIns="0" rIns="0" bIns="0" rtlCol="0" anchor="t"/>
          <a:lstStyle/>
          <a:p>
            <a:pPr marL="342900" indent="-342900">
              <a:spcAft>
                <a:spcPts val="1400"/>
              </a:spcAft>
              <a:buSzPct val="100000"/>
              <a:buChar char="•"/>
            </a:pPr>
            <a:r>
              <a:rPr lang="en-US" sz="1800" dirty="0">
                <a:solidFill>
                  <a:schemeClr val="tx2"/>
                </a:solidFill>
              </a:rPr>
              <a:t>Spinner sets k from 2 to 10</a:t>
            </a:r>
            <a:endParaRPr lang="en-US" sz="1800" dirty="0"/>
          </a:p>
          <a:p>
            <a:pPr marL="342900" indent="-342900">
              <a:spcAft>
                <a:spcPts val="1400"/>
              </a:spcAft>
              <a:buSzPct val="100000"/>
              <a:buChar char="•"/>
            </a:pPr>
            <a:r>
              <a:rPr lang="en-US" sz="1800" dirty="0">
                <a:solidFill>
                  <a:schemeClr val="tx2"/>
                </a:solidFill>
              </a:rPr>
              <a:t>Every tab updates immediately</a:t>
            </a:r>
            <a:endParaRPr lang="en-US" sz="1800" dirty="0"/>
          </a:p>
          <a:p>
            <a:pPr marL="342900" indent="-342900">
              <a:spcAft>
                <a:spcPts val="1400"/>
              </a:spcAft>
              <a:buSzPct val="100000"/>
              <a:buChar char="•"/>
            </a:pPr>
            <a:r>
              <a:rPr lang="en-US" sz="1800" dirty="0">
                <a:solidFill>
                  <a:schemeClr val="tx2"/>
                </a:solidFill>
              </a:rPr>
              <a:t>Output: variance retained, reconstruction error and detection AUC against k</a:t>
            </a:r>
            <a:endParaRPr lang="en-US" sz="18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200" b="1" dirty="0">
                <a:solidFill>
                  <a:schemeClr val="tx1"/>
                </a:solidFill>
              </a:rPr>
              <a:t>Limits we state openly</a:t>
            </a:r>
            <a:endParaRPr lang="en-US" sz="3200" dirty="0"/>
          </a:p>
        </p:txBody>
      </p:sp>
      <p:sp>
        <p:nvSpPr>
          <p:cNvPr id="4" name="card298"/>
          <p:cNvSpPr/>
          <p:nvPr/>
        </p:nvSpPr>
        <p:spPr>
          <a:xfrm>
            <a:off x="548640" y="1463040"/>
            <a:ext cx="5394960" cy="2057400"/>
          </a:xfrm>
          <a:prstGeom prst="roundRect">
            <a:avLst>
              <a:gd name="adj" fmla="val 5333"/>
            </a:avLst>
          </a:prstGeom>
          <a:solidFill>
            <a:schemeClr val="bg2"/>
          </a:solidFill>
          <a:ln w="12700">
            <a:solidFill>
              <a:schemeClr val="bg2"/>
            </a:solidFill>
            <a:prstDash val="solid"/>
          </a:ln>
          <a:effectLst>
            <a:outerShdw sx="100000" sy="100000" kx="0" ky="0" algn="bl" rotWithShape="0" blurRad="101600" dist="25400" dir="5400000">
              <a:srgbClr val="0B1F3A">
                <a:alpha val="12000"/>
              </a:srgbClr>
            </a:outerShdw>
          </a:effectLst>
        </p:spPr>
      </p:sp>
      <p:sp>
        <p:nvSpPr>
          <p:cNvPr id="5" name="dot299"/>
          <p:cNvSpPr/>
          <p:nvPr/>
        </p:nvSpPr>
        <p:spPr>
          <a:xfrm>
            <a:off x="822960" y="1783080"/>
            <a:ext cx="777240" cy="777240"/>
          </a:xfrm>
          <a:prstGeom prst="ellipse">
            <a:avLst/>
          </a:prstGeom>
          <a:solidFill>
            <a:schemeClr val="accent5"/>
          </a:solidFill>
          <a:ln w="12700">
            <a:solidFill>
              <a:schemeClr val="accent5"/>
            </a:solidFill>
            <a:prstDash val="solid"/>
          </a:ln>
        </p:spPr>
      </p:sp>
      <p:pic>
        <p:nvPicPr>
          <p:cNvPr id="6" name="icon300" descr="preencoded.png">    </p:cNvPr>
          <p:cNvPicPr>
            <a:picLocks noChangeAspect="1"/>
          </p:cNvPicPr>
          <p:nvPr/>
        </p:nvPicPr>
        <p:blipFill>
          <a:blip r:embed="rId1"/>
          <a:stretch>
            <a:fillRect/>
          </a:stretch>
        </p:blipFill>
        <p:spPr>
          <a:xfrm>
            <a:off x="1017270" y="1977390"/>
            <a:ext cx="388620" cy="388620"/>
          </a:xfrm>
          <a:prstGeom prst="rect">
            <a:avLst/>
          </a:prstGeom>
        </p:spPr>
      </p:pic>
      <p:sp>
        <p:nvSpPr>
          <p:cNvPr id="7" name="text301"/>
          <p:cNvSpPr txBox="1"/>
          <p:nvPr/>
        </p:nvSpPr>
        <p:spPr>
          <a:xfrm>
            <a:off x="1828800" y="1737360"/>
            <a:ext cx="3886200" cy="411480"/>
          </a:xfrm>
          <a:prstGeom prst="rect">
            <a:avLst/>
          </a:prstGeom>
          <a:noFill/>
          <a:ln/>
        </p:spPr>
        <p:txBody>
          <a:bodyPr wrap="square" lIns="0" tIns="0" rIns="0" bIns="0" rtlCol="0" anchor="t"/>
          <a:lstStyle/>
          <a:p>
            <a:pPr indent="0" marL="0">
              <a:buNone/>
            </a:pPr>
            <a:r>
              <a:rPr lang="en-US" sz="1900" b="1" dirty="0">
                <a:solidFill>
                  <a:schemeClr val="tx1"/>
                </a:solidFill>
              </a:rPr>
              <a:t>Simulation, not hardware</a:t>
            </a:r>
            <a:endParaRPr lang="en-US" sz="1900" dirty="0"/>
          </a:p>
        </p:txBody>
      </p:sp>
      <p:sp>
        <p:nvSpPr>
          <p:cNvPr id="8" name="text302"/>
          <p:cNvSpPr txBox="1"/>
          <p:nvPr/>
        </p:nvSpPr>
        <p:spPr>
          <a:xfrm>
            <a:off x="1828800" y="2212848"/>
            <a:ext cx="3886200" cy="1097280"/>
          </a:xfrm>
          <a:prstGeom prst="rect">
            <a:avLst/>
          </a:prstGeom>
          <a:noFill/>
          <a:ln/>
        </p:spPr>
        <p:txBody>
          <a:bodyPr wrap="square" lIns="0" tIns="0" rIns="0" bIns="0" rtlCol="0" anchor="t"/>
          <a:lstStyle/>
          <a:p>
            <a:pPr indent="0" marL="0">
              <a:buNone/>
            </a:pPr>
            <a:r>
              <a:rPr lang="en-US" sz="1700" dirty="0">
                <a:solidFill>
                  <a:schemeClr val="tx2"/>
                </a:solidFill>
              </a:rPr>
              <a:t>Runs on a classical computer and is slower than eig. No quantum advantage is claimed.</a:t>
            </a:r>
            <a:endParaRPr lang="en-US" sz="1700" dirty="0"/>
          </a:p>
        </p:txBody>
      </p:sp>
      <p:sp>
        <p:nvSpPr>
          <p:cNvPr id="9" name="card303"/>
          <p:cNvSpPr/>
          <p:nvPr/>
        </p:nvSpPr>
        <p:spPr>
          <a:xfrm>
            <a:off x="6217920" y="1463040"/>
            <a:ext cx="5394960" cy="2057400"/>
          </a:xfrm>
          <a:prstGeom prst="roundRect">
            <a:avLst>
              <a:gd name="adj" fmla="val 5333"/>
            </a:avLst>
          </a:prstGeom>
          <a:solidFill>
            <a:schemeClr val="bg2"/>
          </a:solidFill>
          <a:ln w="12700">
            <a:solidFill>
              <a:schemeClr val="bg2"/>
            </a:solidFill>
            <a:prstDash val="solid"/>
          </a:ln>
          <a:effectLst>
            <a:outerShdw sx="100000" sy="100000" kx="0" ky="0" algn="bl" rotWithShape="0" blurRad="101600" dist="25400" dir="5400000">
              <a:srgbClr val="0B1F3A">
                <a:alpha val="12000"/>
              </a:srgbClr>
            </a:outerShdw>
          </a:effectLst>
        </p:spPr>
      </p:sp>
      <p:sp>
        <p:nvSpPr>
          <p:cNvPr id="10" name="dot304"/>
          <p:cNvSpPr/>
          <p:nvPr/>
        </p:nvSpPr>
        <p:spPr>
          <a:xfrm>
            <a:off x="6492240" y="1783080"/>
            <a:ext cx="777240" cy="777240"/>
          </a:xfrm>
          <a:prstGeom prst="ellipse">
            <a:avLst/>
          </a:prstGeom>
          <a:solidFill>
            <a:schemeClr val="accent5"/>
          </a:solidFill>
          <a:ln w="12700">
            <a:solidFill>
              <a:schemeClr val="accent5"/>
            </a:solidFill>
            <a:prstDash val="solid"/>
          </a:ln>
        </p:spPr>
      </p:sp>
      <p:pic>
        <p:nvPicPr>
          <p:cNvPr id="11" name="icon305" descr="preencoded.png">    </p:cNvPr>
          <p:cNvPicPr>
            <a:picLocks noChangeAspect="1"/>
          </p:cNvPicPr>
          <p:nvPr/>
        </p:nvPicPr>
        <p:blipFill>
          <a:blip r:embed="rId2"/>
          <a:stretch>
            <a:fillRect/>
          </a:stretch>
        </p:blipFill>
        <p:spPr>
          <a:xfrm>
            <a:off x="6686550" y="1977390"/>
            <a:ext cx="388620" cy="388620"/>
          </a:xfrm>
          <a:prstGeom prst="rect">
            <a:avLst/>
          </a:prstGeom>
        </p:spPr>
      </p:pic>
      <p:sp>
        <p:nvSpPr>
          <p:cNvPr id="12" name="text306"/>
          <p:cNvSpPr txBox="1"/>
          <p:nvPr/>
        </p:nvSpPr>
        <p:spPr>
          <a:xfrm>
            <a:off x="7498080" y="1737360"/>
            <a:ext cx="3886200" cy="411480"/>
          </a:xfrm>
          <a:prstGeom prst="rect">
            <a:avLst/>
          </a:prstGeom>
          <a:noFill/>
          <a:ln/>
        </p:spPr>
        <p:txBody>
          <a:bodyPr wrap="square" lIns="0" tIns="0" rIns="0" bIns="0" rtlCol="0" anchor="t"/>
          <a:lstStyle/>
          <a:p>
            <a:pPr indent="0" marL="0">
              <a:buNone/>
            </a:pPr>
            <a:r>
              <a:rPr lang="en-US" sz="1900" b="1" dirty="0">
                <a:solidFill>
                  <a:schemeClr val="tx1"/>
                </a:solidFill>
              </a:rPr>
              <a:t>Labels use hindsight</a:t>
            </a:r>
            <a:endParaRPr lang="en-US" sz="1900" dirty="0"/>
          </a:p>
        </p:txBody>
      </p:sp>
      <p:sp>
        <p:nvSpPr>
          <p:cNvPr id="13" name="text307"/>
          <p:cNvSpPr txBox="1"/>
          <p:nvPr/>
        </p:nvSpPr>
        <p:spPr>
          <a:xfrm>
            <a:off x="7498080" y="2212848"/>
            <a:ext cx="3886200" cy="1097280"/>
          </a:xfrm>
          <a:prstGeom prst="rect">
            <a:avLst/>
          </a:prstGeom>
          <a:noFill/>
          <a:ln/>
        </p:spPr>
        <p:txBody>
          <a:bodyPr wrap="square" lIns="0" tIns="0" rIns="0" bIns="0" rtlCol="0" anchor="t"/>
          <a:lstStyle/>
          <a:p>
            <a:pPr indent="0" marL="0">
              <a:buNone/>
            </a:pPr>
            <a:r>
              <a:rPr lang="en-US" sz="1700" dirty="0">
                <a:solidFill>
                  <a:schemeClr val="tx2"/>
                </a:solidFill>
              </a:rPr>
              <a:t>The healthy window and failing class rely on the known failure time of each engine.</a:t>
            </a:r>
            <a:endParaRPr lang="en-US" sz="1700" dirty="0"/>
          </a:p>
        </p:txBody>
      </p:sp>
      <p:sp>
        <p:nvSpPr>
          <p:cNvPr id="14" name="card308"/>
          <p:cNvSpPr/>
          <p:nvPr/>
        </p:nvSpPr>
        <p:spPr>
          <a:xfrm>
            <a:off x="548640" y="3794760"/>
            <a:ext cx="5394960" cy="2057400"/>
          </a:xfrm>
          <a:prstGeom prst="roundRect">
            <a:avLst>
              <a:gd name="adj" fmla="val 5333"/>
            </a:avLst>
          </a:prstGeom>
          <a:solidFill>
            <a:schemeClr val="bg2"/>
          </a:solidFill>
          <a:ln w="12700">
            <a:solidFill>
              <a:schemeClr val="bg2"/>
            </a:solidFill>
            <a:prstDash val="solid"/>
          </a:ln>
          <a:effectLst>
            <a:outerShdw sx="100000" sy="100000" kx="0" ky="0" algn="bl" rotWithShape="0" blurRad="101600" dist="25400" dir="5400000">
              <a:srgbClr val="0B1F3A">
                <a:alpha val="12000"/>
              </a:srgbClr>
            </a:outerShdw>
          </a:effectLst>
        </p:spPr>
      </p:sp>
      <p:sp>
        <p:nvSpPr>
          <p:cNvPr id="15" name="dot309"/>
          <p:cNvSpPr/>
          <p:nvPr/>
        </p:nvSpPr>
        <p:spPr>
          <a:xfrm>
            <a:off x="822960" y="4114800"/>
            <a:ext cx="777240" cy="777240"/>
          </a:xfrm>
          <a:prstGeom prst="ellipse">
            <a:avLst/>
          </a:prstGeom>
          <a:solidFill>
            <a:schemeClr val="accent5"/>
          </a:solidFill>
          <a:ln w="12700">
            <a:solidFill>
              <a:schemeClr val="accent5"/>
            </a:solidFill>
            <a:prstDash val="solid"/>
          </a:ln>
        </p:spPr>
      </p:sp>
      <p:pic>
        <p:nvPicPr>
          <p:cNvPr id="16" name="icon310" descr="preencoded.png">    </p:cNvPr>
          <p:cNvPicPr>
            <a:picLocks noChangeAspect="1"/>
          </p:cNvPicPr>
          <p:nvPr/>
        </p:nvPicPr>
        <p:blipFill>
          <a:blip r:embed="rId3"/>
          <a:stretch>
            <a:fillRect/>
          </a:stretch>
        </p:blipFill>
        <p:spPr>
          <a:xfrm>
            <a:off x="1017270" y="4309110"/>
            <a:ext cx="388620" cy="388620"/>
          </a:xfrm>
          <a:prstGeom prst="rect">
            <a:avLst/>
          </a:prstGeom>
        </p:spPr>
      </p:pic>
      <p:sp>
        <p:nvSpPr>
          <p:cNvPr id="17" name="text311"/>
          <p:cNvSpPr txBox="1"/>
          <p:nvPr/>
        </p:nvSpPr>
        <p:spPr>
          <a:xfrm>
            <a:off x="1828800" y="4069080"/>
            <a:ext cx="3886200" cy="411480"/>
          </a:xfrm>
          <a:prstGeom prst="rect">
            <a:avLst/>
          </a:prstGeom>
          <a:noFill/>
          <a:ln/>
        </p:spPr>
        <p:txBody>
          <a:bodyPr wrap="square" lIns="0" tIns="0" rIns="0" bIns="0" rtlCol="0" anchor="t"/>
          <a:lstStyle/>
          <a:p>
            <a:pPr indent="0" marL="0">
              <a:buNone/>
            </a:pPr>
            <a:r>
              <a:rPr lang="en-US" sz="1900" b="1" dirty="0">
                <a:solidFill>
                  <a:schemeClr val="tx1"/>
                </a:solidFill>
              </a:rPr>
              <a:t>Chosen thresholds</a:t>
            </a:r>
            <a:endParaRPr lang="en-US" sz="1900" dirty="0"/>
          </a:p>
        </p:txBody>
      </p:sp>
      <p:sp>
        <p:nvSpPr>
          <p:cNvPr id="18" name="text312"/>
          <p:cNvSpPr txBox="1"/>
          <p:nvPr/>
        </p:nvSpPr>
        <p:spPr>
          <a:xfrm>
            <a:off x="1828800" y="4544568"/>
            <a:ext cx="3886200" cy="1097280"/>
          </a:xfrm>
          <a:prstGeom prst="rect">
            <a:avLst/>
          </a:prstGeom>
          <a:noFill/>
          <a:ln/>
        </p:spPr>
        <p:txBody>
          <a:bodyPr wrap="square" lIns="0" tIns="0" rIns="0" bIns="0" rtlCol="0" anchor="t"/>
          <a:lstStyle/>
          <a:p>
            <a:pPr indent="0" marL="0">
              <a:buNone/>
            </a:pPr>
            <a:r>
              <a:rPr lang="en-US" sz="1700" dirty="0">
                <a:solidFill>
                  <a:schemeClr val="tx2"/>
                </a:solidFill>
              </a:rPr>
              <a:t>0.60 and 0.85 are design choices and can be tuned for a fleet.</a:t>
            </a:r>
            <a:endParaRPr lang="en-US" sz="1700" dirty="0"/>
          </a:p>
        </p:txBody>
      </p:sp>
      <p:sp>
        <p:nvSpPr>
          <p:cNvPr id="19" name="card313"/>
          <p:cNvSpPr/>
          <p:nvPr/>
        </p:nvSpPr>
        <p:spPr>
          <a:xfrm>
            <a:off x="6217920" y="3794760"/>
            <a:ext cx="5394960" cy="2057400"/>
          </a:xfrm>
          <a:prstGeom prst="roundRect">
            <a:avLst>
              <a:gd name="adj" fmla="val 5333"/>
            </a:avLst>
          </a:prstGeom>
          <a:solidFill>
            <a:schemeClr val="bg2"/>
          </a:solidFill>
          <a:ln w="12700">
            <a:solidFill>
              <a:schemeClr val="bg2"/>
            </a:solidFill>
            <a:prstDash val="solid"/>
          </a:ln>
          <a:effectLst>
            <a:outerShdw sx="100000" sy="100000" kx="0" ky="0" algn="bl" rotWithShape="0" blurRad="101600" dist="25400" dir="5400000">
              <a:srgbClr val="0B1F3A">
                <a:alpha val="12000"/>
              </a:srgbClr>
            </a:outerShdw>
          </a:effectLst>
        </p:spPr>
      </p:sp>
      <p:sp>
        <p:nvSpPr>
          <p:cNvPr id="20" name="dot314"/>
          <p:cNvSpPr/>
          <p:nvPr/>
        </p:nvSpPr>
        <p:spPr>
          <a:xfrm>
            <a:off x="6492240" y="4114800"/>
            <a:ext cx="777240" cy="777240"/>
          </a:xfrm>
          <a:prstGeom prst="ellipse">
            <a:avLst/>
          </a:prstGeom>
          <a:solidFill>
            <a:schemeClr val="accent5"/>
          </a:solidFill>
          <a:ln w="12700">
            <a:solidFill>
              <a:schemeClr val="accent5"/>
            </a:solidFill>
            <a:prstDash val="solid"/>
          </a:ln>
        </p:spPr>
      </p:sp>
      <p:pic>
        <p:nvPicPr>
          <p:cNvPr id="21" name="icon315" descr="preencoded.png">    </p:cNvPr>
          <p:cNvPicPr>
            <a:picLocks noChangeAspect="1"/>
          </p:cNvPicPr>
          <p:nvPr/>
        </p:nvPicPr>
        <p:blipFill>
          <a:blip r:embed="rId4"/>
          <a:stretch>
            <a:fillRect/>
          </a:stretch>
        </p:blipFill>
        <p:spPr>
          <a:xfrm>
            <a:off x="6686550" y="4309110"/>
            <a:ext cx="388620" cy="388620"/>
          </a:xfrm>
          <a:prstGeom prst="rect">
            <a:avLst/>
          </a:prstGeom>
        </p:spPr>
      </p:pic>
      <p:sp>
        <p:nvSpPr>
          <p:cNvPr id="22" name="text316"/>
          <p:cNvSpPr txBox="1"/>
          <p:nvPr/>
        </p:nvSpPr>
        <p:spPr>
          <a:xfrm>
            <a:off x="7498080" y="4069080"/>
            <a:ext cx="3886200" cy="411480"/>
          </a:xfrm>
          <a:prstGeom prst="rect">
            <a:avLst/>
          </a:prstGeom>
          <a:noFill/>
          <a:ln/>
        </p:spPr>
        <p:txBody>
          <a:bodyPr wrap="square" lIns="0" tIns="0" rIns="0" bIns="0" rtlCol="0" anchor="t"/>
          <a:lstStyle/>
          <a:p>
            <a:pPr indent="0" marL="0">
              <a:buNone/>
            </a:pPr>
            <a:r>
              <a:rPr lang="en-US" sz="1900" b="1" dirty="0">
                <a:solidFill>
                  <a:schemeClr val="tx1"/>
                </a:solidFill>
              </a:rPr>
              <a:t>Single operating regime</a:t>
            </a:r>
            <a:endParaRPr lang="en-US" sz="1900" dirty="0"/>
          </a:p>
        </p:txBody>
      </p:sp>
      <p:sp>
        <p:nvSpPr>
          <p:cNvPr id="23" name="text317"/>
          <p:cNvSpPr txBox="1"/>
          <p:nvPr/>
        </p:nvSpPr>
        <p:spPr>
          <a:xfrm>
            <a:off x="7498080" y="4544568"/>
            <a:ext cx="3886200" cy="1097280"/>
          </a:xfrm>
          <a:prstGeom prst="rect">
            <a:avLst/>
          </a:prstGeom>
          <a:noFill/>
          <a:ln/>
        </p:spPr>
        <p:txBody>
          <a:bodyPr wrap="square" lIns="0" tIns="0" rIns="0" bIns="0" rtlCol="0" anchor="t"/>
          <a:lstStyle/>
          <a:p>
            <a:pPr indent="0" marL="0">
              <a:buNone/>
            </a:pPr>
            <a:r>
              <a:rPr lang="en-US" sz="1700" dirty="0">
                <a:solidFill>
                  <a:schemeClr val="tx2"/>
                </a:solidFill>
              </a:rPr>
              <a:t>FD001 and FD003 only. FD002 and FD004 need per-regime normalisation.</a:t>
            </a:r>
            <a:endParaRPr lang="en-US" sz="17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640080" y="1371600"/>
            <a:ext cx="7498080" cy="2468880"/>
          </a:xfrm>
          <a:prstGeom prst="rect">
            <a:avLst/>
          </a:prstGeom>
          <a:noFill/>
          <a:ln/>
        </p:spPr>
        <p:txBody>
          <a:bodyPr wrap="square" lIns="0" tIns="0" rIns="0" bIns="0" rtlCol="0" anchor="b"/>
          <a:lstStyle/>
          <a:p>
            <a:pPr algn="l" indent="0" marL="0">
              <a:buNone/>
            </a:pPr>
            <a:r>
              <a:rPr lang="en-US" sz="4000" b="1" dirty="0">
                <a:solidFill>
                  <a:schemeClr val="bg1"/>
                </a:solidFill>
              </a:rPr>
              <a:t>Many sensors in, one health signal out</a:t>
            </a:r>
            <a:endParaRPr lang="en-US" sz="4000" dirty="0"/>
          </a:p>
        </p:txBody>
      </p:sp>
      <p:sp>
        <p:nvSpPr>
          <p:cNvPr id="3" name="Text 0"/>
          <p:cNvSpPr/>
          <p:nvPr>
            <p:ph idx="101" type="body" hasCustomPrompt="1"/>
          </p:nvPr>
        </p:nvSpPr>
        <p:spPr>
          <a:xfrm>
            <a:off x="640080" y="4023360"/>
            <a:ext cx="7498080" cy="1463040"/>
          </a:xfrm>
          <a:prstGeom prst="rect">
            <a:avLst/>
          </a:prstGeom>
          <a:noFill/>
          <a:ln/>
        </p:spPr>
        <p:txBody>
          <a:bodyPr wrap="square" lIns="0" tIns="0" rIns="0" bIns="0" rtlCol="0" anchor="t"/>
          <a:lstStyle/>
          <a:p>
            <a:pPr algn="l" indent="0" marL="0">
              <a:buNone/>
            </a:pPr>
            <a:r>
              <a:rPr lang="en-US" sz="1800" dirty="0">
                <a:solidFill>
                  <a:schemeClr val="accent6"/>
                </a:solidFill>
              </a:rPr>
              <a:t>qPCA finds the dominant patterns, the reduced space exposes drift from healthy behaviour, and the app turns that into an early warning.</a:t>
            </a:r>
            <a:endParaRPr lang="en-US" sz="1800" dirty="0"/>
          </a:p>
        </p:txBody>
      </p:sp>
      <p:sp>
        <p:nvSpPr>
          <p:cNvPr id="4" name="nextCard"/>
          <p:cNvSpPr/>
          <p:nvPr/>
        </p:nvSpPr>
        <p:spPr>
          <a:xfrm>
            <a:off x="8503920" y="1371600"/>
            <a:ext cx="3108960" cy="4206240"/>
          </a:xfrm>
          <a:prstGeom prst="roundRect">
            <a:avLst>
              <a:gd name="adj" fmla="val 3529"/>
            </a:avLst>
          </a:prstGeom>
          <a:solidFill>
            <a:schemeClr val="accent5"/>
          </a:solidFill>
          <a:ln w="12700">
            <a:solidFill>
              <a:schemeClr val="accent5"/>
            </a:solidFill>
            <a:prstDash val="solid"/>
          </a:ln>
        </p:spPr>
      </p:sp>
      <p:sp>
        <p:nvSpPr>
          <p:cNvPr id="5" name="nextTitle"/>
          <p:cNvSpPr txBox="1"/>
          <p:nvPr/>
        </p:nvSpPr>
        <p:spPr>
          <a:xfrm>
            <a:off x="8778240" y="1600200"/>
            <a:ext cx="2560320" cy="411480"/>
          </a:xfrm>
          <a:prstGeom prst="rect">
            <a:avLst/>
          </a:prstGeom>
          <a:noFill/>
          <a:ln/>
        </p:spPr>
        <p:txBody>
          <a:bodyPr wrap="square" lIns="0" tIns="0" rIns="0" bIns="0" rtlCol="0" anchor="ctr"/>
          <a:lstStyle/>
          <a:p>
            <a:pPr indent="0" marL="0">
              <a:buNone/>
            </a:pPr>
            <a:r>
              <a:rPr lang="en-US" sz="2000" b="1" dirty="0">
                <a:solidFill>
                  <a:schemeClr val="bg1"/>
                </a:solidFill>
              </a:rPr>
              <a:t>Next steps</a:t>
            </a:r>
            <a:endParaRPr lang="en-US" sz="2000" dirty="0"/>
          </a:p>
        </p:txBody>
      </p:sp>
      <p:sp>
        <p:nvSpPr>
          <p:cNvPr id="6" name="nextList"/>
          <p:cNvSpPr txBox="1"/>
          <p:nvPr/>
        </p:nvSpPr>
        <p:spPr>
          <a:xfrm>
            <a:off x="8778240" y="2148840"/>
            <a:ext cx="2560320" cy="320040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accent6"/>
                </a:solidFill>
              </a:rPr>
              <a:t>Run on FD001 and record the comparison table</a:t>
            </a:r>
            <a:endParaRPr lang="en-US" sz="1500" dirty="0"/>
          </a:p>
          <a:p>
            <a:pPr marL="342900" indent="-342900">
              <a:spcAft>
                <a:spcPts val="1000"/>
              </a:spcAft>
              <a:buSzPct val="100000"/>
              <a:buChar char="•"/>
            </a:pPr>
            <a:r>
              <a:rPr lang="en-US" sz="1500" dirty="0">
                <a:solidFill>
                  <a:schemeClr val="accent6"/>
                </a:solidFill>
              </a:rPr>
              <a:t>Repeat on FD003 (two fault modes)</a:t>
            </a:r>
            <a:endParaRPr lang="en-US" sz="1500" dirty="0"/>
          </a:p>
          <a:p>
            <a:pPr marL="342900" indent="-342900">
              <a:spcAft>
                <a:spcPts val="1000"/>
              </a:spcAft>
              <a:buSzPct val="100000"/>
              <a:buChar char="•"/>
            </a:pPr>
            <a:r>
              <a:rPr lang="en-US" sz="1500" dirty="0">
                <a:solidFill>
                  <a:schemeClr val="accent6"/>
                </a:solidFill>
              </a:rPr>
              <a:t>Report noise and component sweeps</a:t>
            </a:r>
            <a:endParaRPr lang="en-US" sz="1500" dirty="0"/>
          </a:p>
          <a:p>
            <a:pPr marL="342900" indent="-342900">
              <a:spcAft>
                <a:spcPts val="1000"/>
              </a:spcAft>
              <a:buSzPct val="100000"/>
              <a:buChar char="•"/>
            </a:pPr>
            <a:r>
              <a:rPr lang="en-US" sz="1500" dirty="0">
                <a:solidFill>
                  <a:schemeClr val="accent6"/>
                </a:solidFill>
              </a:rPr>
              <a:t>Try a gate-level circuit with noise</a:t>
            </a:r>
            <a:endParaRPr lang="en-US" sz="1500" dirty="0"/>
          </a:p>
        </p:txBody>
      </p:sp>
    </p:spTree>
  </p:cSld>
  <p:clrMapOvr>
    <a:masterClrMapping/>
  </p:clrMapOvr>
</p:sld>
</file>

<file path=ppt/theme/theme1.xml><?xml version="1.0" encoding="utf-8"?>
<a:theme xmlns:a="http://schemas.openxmlformats.org/drawingml/2006/main" name="Q-Engine">
  <a:themeElements>
    <a:clrScheme name="Q-Engine">
      <a:dk1>
        <a:srgbClr val="0B1F3A"/>
      </a:dk1>
      <a:lt1>
        <a:srgbClr val="FFFFFF"/>
      </a:lt1>
      <a:dk2>
        <a:srgbClr val="4A5A70"/>
      </a:dk2>
      <a:lt2>
        <a:srgbClr val="EEF3F8"/>
      </a:lt2>
      <a:accent1>
        <a:srgbClr val="0FA3B1"/>
      </a:accent1>
      <a:accent2>
        <a:srgbClr val="F2A900"/>
      </a:accent2>
      <a:accent3>
        <a:srgbClr val="2E9E5B"/>
      </a:accent3>
      <a:accent4>
        <a:srgbClr val="D64545"/>
      </a:accent4>
      <a:accent5>
        <a:srgbClr val="1B3A63"/>
      </a:accent5>
      <a:accent6>
        <a:srgbClr val="BFE6EA"/>
      </a:accent6>
      <a:hlink>
        <a:srgbClr val="0FA3B1"/>
      </a:hlink>
      <a:folHlink>
        <a:srgbClr val="4A5A70"/>
      </a:folHlink>
    </a:clrScheme>
    <a:fontScheme name="Q-Engin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Q-ENGINE: Quantum PCA for Intelligent Engine Health Monitoring</dc:title>
  <dc:subject>PptxGenJS Presentation</dc:subject>
  <dc:creator>PptxGenJS</dc:creator>
  <cp:lastModifiedBy>PptxGenJS</cp:lastModifiedBy>
  <cp:revision>1</cp:revision>
  <dcterms:created xsi:type="dcterms:W3CDTF">2026-10-07T05:40:34Z</dcterms:created>
  <dcterms:modified xsi:type="dcterms:W3CDTF">2026-10-07T05:40:34Z</dcterms:modified>
</cp:coreProperties>
</file>